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a363c51d224603" /><Relationship Type="http://schemas.openxmlformats.org/officeDocument/2006/relationships/extended-properties" Target="/docProps/app.xml" Id="R64c2fc2752c94608" /><Relationship Type="http://schemas.openxmlformats.org/officeDocument/2006/relationships/officeDocument" Target="/ppt/presentation.xml" Id="R2cd2724878404d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5f40b5c9c48c7"/>
  </p:sldMasterIdLst>
  <p:notesMasterIdLst>
    <p:notesMasterId xmlns:r="http://schemas.openxmlformats.org/officeDocument/2006/relationships" r:id="R6aed0ac988cc4738"/>
  </p:notesMasterIdLst>
  <p:sldIdLst>
    <p:sldId xmlns:r="http://schemas.openxmlformats.org/officeDocument/2006/relationships" id="256" r:id="R08f1e3d1f6ed48b8"/>
    <p:sldId xmlns:r="http://schemas.openxmlformats.org/officeDocument/2006/relationships" id="257" r:id="Rad1408fe9b8b4f69"/>
    <p:sldId xmlns:r="http://schemas.openxmlformats.org/officeDocument/2006/relationships" id="258" r:id="R619aa8b099484220"/>
    <p:sldId xmlns:r="http://schemas.openxmlformats.org/officeDocument/2006/relationships" id="259" r:id="R65d8a104f48448f6"/>
    <p:sldId xmlns:r="http://schemas.openxmlformats.org/officeDocument/2006/relationships" id="260" r:id="R34191b64c22c4fda"/>
    <p:sldId xmlns:r="http://schemas.openxmlformats.org/officeDocument/2006/relationships" id="261" r:id="Rcdd2fe2980734484"/>
    <p:sldId xmlns:r="http://schemas.openxmlformats.org/officeDocument/2006/relationships" id="262" r:id="R80005b6ea37d4e65"/>
    <p:sldId xmlns:r="http://schemas.openxmlformats.org/officeDocument/2006/relationships" id="263" r:id="R4c7f8aa3c865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b630520b2480d" /><Relationship Type="http://schemas.openxmlformats.org/officeDocument/2006/relationships/slideMaster" Target="/ppt/slideMasters/slideMaster1.xml" Id="R5f15f40b5c9c48c7" /><Relationship Type="http://schemas.openxmlformats.org/officeDocument/2006/relationships/notesMaster" Target="/ppt/notesMasters/notesMaster1.xml" Id="R6aed0ac988cc4738" /><Relationship Type="http://schemas.openxmlformats.org/officeDocument/2006/relationships/presProps" Target="/ppt/presProps.xml" Id="R358c6ca93f154dbf" /><Relationship Type="http://schemas.openxmlformats.org/officeDocument/2006/relationships/tableStyles" Target="/ppt/tableStyles.xml" Id="Rb132b0fefb56490a" /><Relationship Type="http://schemas.openxmlformats.org/officeDocument/2006/relationships/slide" Target="/ppt/slides/slide1.xml" Id="R08f1e3d1f6ed48b8" /><Relationship Type="http://schemas.openxmlformats.org/officeDocument/2006/relationships/slide" Target="/ppt/slides/slide2.xml" Id="Rad1408fe9b8b4f69" /><Relationship Type="http://schemas.openxmlformats.org/officeDocument/2006/relationships/slide" Target="/ppt/slides/slide3.xml" Id="R619aa8b099484220" /><Relationship Type="http://schemas.openxmlformats.org/officeDocument/2006/relationships/slide" Target="/ppt/slides/slide4.xml" Id="R65d8a104f48448f6" /><Relationship Type="http://schemas.openxmlformats.org/officeDocument/2006/relationships/slide" Target="/ppt/slides/slide5.xml" Id="R34191b64c22c4fda" /><Relationship Type="http://schemas.openxmlformats.org/officeDocument/2006/relationships/slide" Target="/ppt/slides/slide6.xml" Id="Rcdd2fe2980734484" /><Relationship Type="http://schemas.openxmlformats.org/officeDocument/2006/relationships/slide" Target="/ppt/slides/slide7.xml" Id="R80005b6ea37d4e65" /><Relationship Type="http://schemas.openxmlformats.org/officeDocument/2006/relationships/slide" Target="/ppt/slides/slide8.xml" Id="R4c7f8aa3c865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430a740a7d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0083808d84c33" /><Relationship Type="http://schemas.openxmlformats.org/officeDocument/2006/relationships/notesMaster" Target="/ppt/notesMasters/notesMaster1.xml" Id="Rf6012523ccd1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6455300254cd8" /><Relationship Type="http://schemas.openxmlformats.org/officeDocument/2006/relationships/notesMaster" Target="/ppt/notesMasters/notesMaster1.xml" Id="Rf06cfde123d74f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7232ee98314700" /><Relationship Type="http://schemas.openxmlformats.org/officeDocument/2006/relationships/notesMaster" Target="/ppt/notesMasters/notesMaster1.xml" Id="R1033e97c177047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1dd6c098e14487" /><Relationship Type="http://schemas.openxmlformats.org/officeDocument/2006/relationships/notesMaster" Target="/ppt/notesMasters/notesMaster1.xml" Id="R90b4d07f7013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a63d116aa24f58" /><Relationship Type="http://schemas.openxmlformats.org/officeDocument/2006/relationships/notesMaster" Target="/ppt/notesMasters/notesMaster1.xml" Id="R85c8f2da5ea1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a55b7621dd4fb8" /><Relationship Type="http://schemas.openxmlformats.org/officeDocument/2006/relationships/notesMaster" Target="/ppt/notesMasters/notesMaster1.xml" Id="R0330f4c0c92043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15cb853624c07" /><Relationship Type="http://schemas.openxmlformats.org/officeDocument/2006/relationships/notesMaster" Target="/ppt/notesMasters/notesMaster1.xml" Id="R6c93ab85f447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9fb94a5f6d4e88" /><Relationship Type="http://schemas.openxmlformats.org/officeDocument/2006/relationships/notesMaster" Target="/ppt/notesMasters/notesMaster1.xml" Id="R6b7bf2798598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Uniswap에서는 자신의 지갑에서 디지털 자산을 직접 교환할 수 있습니다. 공식 수치에 따르면 누적 거래량은 4조 달러를 넘었고 수백만 명이 이용했습니다.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 is a Decentralized Exchange (DEX)?: https://blog.uniswap.org/what-is-a-decentralized-exchange</a:t>
            </a:r>
          </a:p>
          <a:p xmlns:a="http://schemas.openxmlformats.org/drawingml/2006/main">
            <a:r>
              <a:t>- UNIfication: https://blog.uniswap.org/unification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거래는 공개된 온체인 규칙에 따라 실행됩니다. 시작하기 전에 중앙화 거래소에 자산을 맡길 필요가 없습니다.</a:t>
            </a:r>
          </a:p>
          <a:p xmlns:a="http://schemas.openxmlformats.org/drawingml/2006/main">
            <a:r>
              <a:t>Duration: 6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 is a Decentralized Exchange (DEX)?: https://blog.uniswap.org/what-is-a-decentralized-exchange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누군가 Uniswap에서 자산을 교환하면 해당 거래는 유동성 풀의 공개 규칙에 따라 수수료를 지불합니다.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누군가 교환에 필요한 디지털 자산을 제공하면 거래가 가능해지고, 그 사람은 풀 규칙에 따라 수수료 일부를 받을 기회를 얻습니다.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직접 참여하려면 자산 배분과 가격 범위를 이해하고 계속 모니터링하며 시장 변화에 맞춰 조정해야 합니다.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UniEddy는 복잡한 작업을 하나의 더 간단한 흐름으로 모읍니다. 시스템이 계속 모니터링하고, 인공지능이 분석하며, 고정 규칙이 행동 여부를 결정합니다.</a:t>
            </a:r>
          </a:p>
          <a:p xmlns:a="http://schemas.openxmlformats.org/drawingml/2006/main">
            <a:r>
              <a:t>Duration: 10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수수료는 실제 거래에서 발생하고 정산과 수령 기록은 온체인에서 확인할 수 있습니다. 수수료 수익은 보장되지 않으며 참여 자산의 가치는 오르거나 내릴 수 있습니다.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DApp을 열어 참여 방법을 알아보세요. 도움이 필요하면 공식 안내도 받을 수 있습니다.</a:t>
            </a:r>
          </a:p>
          <a:p xmlns:a="http://schemas.openxmlformats.org/drawingml/2006/main">
            <a:r>
              <a:t>Duration: 4 seconds</a:t>
            </a:r>
          </a:p>
          <a:p xmlns:a="http://schemas.openxmlformats.org/drawingml/2006/main">
            <a:r>
              <a:t>Language: ko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ae726c60943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4be9cb3f964b56" /><Relationship Type="http://schemas.openxmlformats.org/officeDocument/2006/relationships/slideLayout" Target="/ppt/slideLayouts/slideLayout1.xml" Id="R0af86b37903647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86b37903647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f9cb6aab142e1" /><Relationship Type="http://schemas.openxmlformats.org/officeDocument/2006/relationships/notesSlide" Target="/ppt/notesSlides/notesSlide1.xml" Id="Rd4a8114707f740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c95038ce04ea7" /><Relationship Type="http://schemas.openxmlformats.org/officeDocument/2006/relationships/notesSlide" Target="/ppt/notesSlides/notesSlide2.xml" Id="R2eb3fbd8dd1f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c436f1a944962" /><Relationship Type="http://schemas.openxmlformats.org/officeDocument/2006/relationships/notesSlide" Target="/ppt/notesSlides/notesSlide3.xml" Id="Rb34354eba62f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f1443e09541b5" /><Relationship Type="http://schemas.openxmlformats.org/officeDocument/2006/relationships/notesSlide" Target="/ppt/notesSlides/notesSlide4.xml" Id="R8d456c16de6344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ddf644f054345" /><Relationship Type="http://schemas.openxmlformats.org/officeDocument/2006/relationships/notesSlide" Target="/ppt/notesSlides/notesSlide5.xml" Id="R85f25cadeced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1dd8022dd41ed" /><Relationship Type="http://schemas.openxmlformats.org/officeDocument/2006/relationships/image" Target="/ppt/media/image.png" Id="Race56e1ebfba4599" /><Relationship Type="http://schemas.openxmlformats.org/officeDocument/2006/relationships/image" Target="/ppt/media/image2.png" Id="R9ab4a6c7357d4d8c" /><Relationship Type="http://schemas.openxmlformats.org/officeDocument/2006/relationships/image" Target="/ppt/media/image3.png" Id="R18253cd9479a4282" /><Relationship Type="http://schemas.openxmlformats.org/officeDocument/2006/relationships/notesSlide" Target="/ppt/notesSlides/notesSlide6.xml" Id="Rb14034d889a549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be874c11644ce" /><Relationship Type="http://schemas.openxmlformats.org/officeDocument/2006/relationships/notesSlide" Target="/ppt/notesSlides/notesSlide7.xml" Id="Rc6a248f812c84f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6e7f52b849fe" /><Relationship Type="http://schemas.openxmlformats.org/officeDocument/2006/relationships/image" Target="/ppt/media/image4.png" Id="Ra27e8e0c60c54eea" /><Relationship Type="http://schemas.openxmlformats.org/officeDocument/2006/relationships/notesSlide" Target="/ppt/notesSlides/notesSlide8.xml" Id="R678d6fbff8604e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uthority-orb">
            <a:extLst xmlns:a="http://schemas.openxmlformats.org/drawingml/2006/main">
              <a:ext uri="{FF2B5EF4-FFF2-40B4-BE49-F238E27FC236}">
                <a16:creationId xmlns:a16="http://schemas.microsoft.com/office/drawing/2014/main" id="{89448FA8-B092-4A67-B4B3-4334E825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uthority-orb-cutout">
            <a:extLst xmlns:a="http://schemas.openxmlformats.org/drawingml/2006/main">
              <a:ext uri="{FF2B5EF4-FFF2-40B4-BE49-F238E27FC236}">
                <a16:creationId xmlns:a16="http://schemas.microsoft.com/office/drawing/2014/main" id="{1F75E0D9-D723-45B2-B1FA-8B48D275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uthority-dot">
            <a:extLst xmlns:a="http://schemas.openxmlformats.org/drawingml/2006/main">
              <a:ext uri="{FF2B5EF4-FFF2-40B4-BE49-F238E27FC236}">
                <a16:creationId xmlns:a16="http://schemas.microsoft.com/office/drawing/2014/main" id="{FA8B704C-C06E-41B0-9955-0F60E23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482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niswap-wordmark">
            <a:extLst xmlns:a="http://schemas.openxmlformats.org/drawingml/2006/main">
              <a:ext uri="{FF2B5EF4-FFF2-40B4-BE49-F238E27FC236}">
                <a16:creationId xmlns:a16="http://schemas.microsoft.com/office/drawing/2014/main" id="{B4B32C46-596F-405F-A74D-90F0C08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Uniswap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47BD830-B69F-4D70-A8E6-770F345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5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세계적인 탈중앙화 거래 프로토콜</a:t>
            </a:r>
          </a:p>
        </p:txBody>
      </p:sp>
      <p:sp>
        <p:nvSpPr>
          <p:cNvPr id="6" name="authority-number">
            <a:extLst xmlns:a="http://schemas.openxmlformats.org/drawingml/2006/main">
              <a:ext uri="{FF2B5EF4-FFF2-40B4-BE49-F238E27FC236}">
                <a16:creationId xmlns:a16="http://schemas.microsoft.com/office/drawing/2014/main" id="{1F722235-F834-46CE-B727-058BB28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6800" b="1">
                <a:solidFill>
                  <a:srgbClr val="FF007A"/>
                </a:solidFill>
                <a:latin typeface="Apple SD Gothic Neo"/>
                <a:ea typeface="Apple SD Gothic Neo"/>
                <a:cs typeface="Apple SD Gothic Neo"/>
              </a:rPr>
              <a:t>4조 달러 이상</a:t>
            </a:r>
          </a:p>
        </p:txBody>
      </p:sp>
      <p:sp>
        <p:nvSpPr>
          <p:cNvPr id="7" name="authority-proof">
            <a:extLst xmlns:a="http://schemas.openxmlformats.org/drawingml/2006/main">
              <a:ext uri="{FF2B5EF4-FFF2-40B4-BE49-F238E27FC236}">
                <a16:creationId xmlns:a16="http://schemas.microsoft.com/office/drawing/2014/main" id="{5070B4CD-AB65-4D4A-9AFC-67281B1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누적 거래량 4조 달러 이상 · 수백만 사용자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D53EC-F277-46B4-BE84-78FFD73E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4E5A"/>
            </a:solidFill>
            <a:prstDash val="solid"/>
          </a:ln>
        </p:spPr>
      </p:sp>
      <p:sp>
        <p:nvSpPr>
          <p:cNvPr id="9" name="proof-wallet">
            <a:extLst xmlns:a="http://schemas.openxmlformats.org/drawingml/2006/main">
              <a:ext uri="{FF2B5EF4-FFF2-40B4-BE49-F238E27FC236}">
                <a16:creationId xmlns:a16="http://schemas.microsoft.com/office/drawing/2014/main" id="{301AC497-C2CE-433F-B595-1B787D5A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D9CED5"/>
                </a:solidFill>
                <a:latin typeface="Apple SD Gothic Neo"/>
                <a:ea typeface="Apple SD Gothic Neo"/>
                <a:cs typeface="Apple SD Gothic Neo"/>
              </a:rPr>
              <a:t>내 지갑</a:t>
            </a:r>
          </a:p>
        </p:txBody>
      </p:sp>
      <p:sp>
        <p:nvSpPr>
          <p:cNvPr id="10" name="proof-onchain">
            <a:extLst xmlns:a="http://schemas.openxmlformats.org/drawingml/2006/main">
              <a:ext uri="{FF2B5EF4-FFF2-40B4-BE49-F238E27FC236}">
                <a16:creationId xmlns:a16="http://schemas.microsoft.com/office/drawing/2014/main" id="{E3BB43A3-1ADC-4965-BCC5-F2524CF7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D9CED5"/>
                </a:solidFill>
                <a:latin typeface="Apple SD Gothic Neo"/>
                <a:ea typeface="Apple SD Gothic Neo"/>
                <a:cs typeface="Apple SD Gothic Neo"/>
              </a:rPr>
              <a:t>온체인 검증 완료</a:t>
            </a:r>
          </a:p>
        </p:txBody>
      </p:sp>
      <p:sp>
        <p:nvSpPr>
          <p:cNvPr id="11" name="page-1">
            <a:extLst xmlns:a="http://schemas.openxmlformats.org/drawingml/2006/main">
              <a:ext uri="{FF2B5EF4-FFF2-40B4-BE49-F238E27FC236}">
                <a16:creationId xmlns:a16="http://schemas.microsoft.com/office/drawing/2014/main" id="{BBBA5DA1-44EB-437D-91B2-3F0EFC4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CDBFC8"/>
                </a:solidFill>
                <a:latin typeface="SF Mono"/>
                <a:ea typeface="SF Mono"/>
                <a:cs typeface="SF Mono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618046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87B34CDD-848A-4A90-ACD2-42ED7B36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02 / 08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E54C42F-CA33-4FBB-9199-1E0599DD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내 지갑에서 직접 거래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975ED90-2036-49CC-807A-E78FC3E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먼저 중앙화 거래소에 자산을 맡길 필요가 없습니다</a:t>
            </a:r>
          </a:p>
        </p:txBody>
      </p:sp>
      <p:sp>
        <p:nvSpPr>
          <p:cNvPr id="4" name="wallet-rules-path">
            <a:extLst xmlns:a="http://schemas.openxmlformats.org/drawingml/2006/main">
              <a:ext uri="{FF2B5EF4-FFF2-40B4-BE49-F238E27FC236}">
                <a16:creationId xmlns:a16="http://schemas.microsoft.com/office/drawing/2014/main" id="{8057995B-D75C-4C72-8E75-B221109B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007A"/>
            </a:solidFill>
            <a:prstDash val="solid"/>
          </a:ln>
        </p:spPr>
      </p:sp>
      <p:sp>
        <p:nvSpPr>
          <p:cNvPr id="5" name="wallet-node">
            <a:extLst xmlns:a="http://schemas.openxmlformats.org/drawingml/2006/main">
              <a:ext uri="{FF2B5EF4-FFF2-40B4-BE49-F238E27FC236}">
                <a16:creationId xmlns:a16="http://schemas.microsoft.com/office/drawing/2014/main" id="{6EFB60F1-4B12-431B-9348-ED389E71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28575">
            <a:solidFill>
              <a:srgbClr val="FF007A"/>
            </a:solidFill>
            <a:prstDash val="solid"/>
          </a:ln>
        </p:spPr>
      </p:sp>
      <p:sp>
        <p:nvSpPr>
          <p:cNvPr id="6" name="rules-node">
            <a:extLst xmlns:a="http://schemas.openxmlformats.org/drawingml/2006/main">
              <a:ext uri="{FF2B5EF4-FFF2-40B4-BE49-F238E27FC236}">
                <a16:creationId xmlns:a16="http://schemas.microsoft.com/office/drawing/2014/main" id="{84027F72-3810-48EE-B363-E2E54AE1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2686050" cy="19812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7" name="wallet-label">
            <a:extLst xmlns:a="http://schemas.openxmlformats.org/drawingml/2006/main">
              <a:ext uri="{FF2B5EF4-FFF2-40B4-BE49-F238E27FC236}">
                <a16:creationId xmlns:a16="http://schemas.microsoft.com/office/drawing/2014/main" id="{C3FCCCE0-8C84-4A53-9C6F-D138238D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76625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내 지갑</a:t>
            </a:r>
          </a:p>
        </p:txBody>
      </p:sp>
      <p:sp>
        <p:nvSpPr>
          <p:cNvPr id="8" name="rules-label">
            <a:extLst xmlns:a="http://schemas.openxmlformats.org/drawingml/2006/main">
              <a:ext uri="{FF2B5EF4-FFF2-40B4-BE49-F238E27FC236}">
                <a16:creationId xmlns:a16="http://schemas.microsoft.com/office/drawing/2014/main" id="{4DA5E70F-AE85-463A-A5AF-862610AC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온체인 검증 완료</a:t>
            </a:r>
          </a:p>
        </p:txBody>
      </p:sp>
      <p:sp>
        <p:nvSpPr>
          <p:cNvPr id="9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3C3D9614-A096-450C-81B5-97D989A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Uniswap v4 풀 연동 · 독립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166509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2E5F2DF5-9587-412B-ABFB-5DDF54D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03 / 08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95E30D7-30B2-4875-B49D-346D039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교환이 일어날 때마다 수수료가 발생합니다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394F868-E80D-467E-A19E-3C9E9642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거래자는 풀 규칙에 따라 수수료를 지불합니다</a:t>
            </a:r>
          </a:p>
        </p:txBody>
      </p:sp>
      <p:sp>
        <p:nvSpPr>
          <p:cNvPr id="4" name="swap-track">
            <a:extLst xmlns:a="http://schemas.openxmlformats.org/drawingml/2006/main">
              <a:ext uri="{FF2B5EF4-FFF2-40B4-BE49-F238E27FC236}">
                <a16:creationId xmlns:a16="http://schemas.microsoft.com/office/drawing/2014/main" id="{F6619355-38AA-4B24-8DC5-80336291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E8C9D8"/>
            </a:solidFill>
            <a:prstDash val="solid"/>
          </a:ln>
        </p:spPr>
      </p:sp>
      <p:sp>
        <p:nvSpPr>
          <p:cNvPr id="5" name="swap-active">
            <a:extLst xmlns:a="http://schemas.openxmlformats.org/drawingml/2006/main">
              <a:ext uri="{FF2B5EF4-FFF2-40B4-BE49-F238E27FC236}">
                <a16:creationId xmlns:a16="http://schemas.microsoft.com/office/drawing/2014/main" id="{B7BDD548-5AD4-4DAD-8DE1-B472310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957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007A"/>
            </a:solidFill>
            <a:prstDash val="solid"/>
          </a:ln>
        </p:spPr>
      </p:sp>
      <p:sp>
        <p:nvSpPr>
          <p:cNvPr id="6" name="asset-a">
            <a:extLst xmlns:a="http://schemas.openxmlformats.org/drawingml/2006/main">
              <a:ext uri="{FF2B5EF4-FFF2-40B4-BE49-F238E27FC236}">
                <a16:creationId xmlns:a16="http://schemas.microsoft.com/office/drawing/2014/main" id="{EDD2AC3D-763B-4BE8-8DD8-9CDE0EF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set-b">
            <a:extLst xmlns:a="http://schemas.openxmlformats.org/drawingml/2006/main">
              <a:ext uri="{FF2B5EF4-FFF2-40B4-BE49-F238E27FC236}">
                <a16:creationId xmlns:a16="http://schemas.microsoft.com/office/drawing/2014/main" id="{1C707E47-2DC4-44E7-B709-C7D40C04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9151A"/>
            </a:solidFill>
            <a:prstDash val="solid"/>
          </a:ln>
        </p:spPr>
      </p:sp>
      <p:sp>
        <p:nvSpPr>
          <p:cNvPr id="8" name="fee-pulse">
            <a:extLst xmlns:a="http://schemas.openxmlformats.org/drawingml/2006/main">
              <a:ext uri="{FF2B5EF4-FFF2-40B4-BE49-F238E27FC236}">
                <a16:creationId xmlns:a16="http://schemas.microsoft.com/office/drawing/2014/main" id="{58344EEA-07D3-4429-BF29-FD6187BA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9" name="fee-core">
            <a:extLst xmlns:a="http://schemas.openxmlformats.org/drawingml/2006/main">
              <a:ext uri="{FF2B5EF4-FFF2-40B4-BE49-F238E27FC236}">
                <a16:creationId xmlns:a16="http://schemas.microsoft.com/office/drawing/2014/main" id="{979D0ECE-6D6E-48BA-A944-8FFFA6E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7537C-FECC-4CCC-B8D8-059D7B9C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9C03D-CE79-4F83-A604-1F675F84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SF Mono"/>
                <a:ea typeface="SF Mono"/>
                <a:cs typeface="SF Mono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3C56D-3C7B-4632-A8E1-C7C55848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FEE</a:t>
            </a:r>
          </a:p>
        </p:txBody>
      </p:sp>
      <p:sp>
        <p:nvSpPr>
          <p:cNvPr id="13" name="swap-label">
            <a:extLst xmlns:a="http://schemas.openxmlformats.org/drawingml/2006/main">
              <a:ext uri="{FF2B5EF4-FFF2-40B4-BE49-F238E27FC236}">
                <a16:creationId xmlns:a16="http://schemas.microsoft.com/office/drawing/2014/main" id="{60C8C654-85B8-40E4-B511-594111E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Uniswap에서 거래가 발생</a:t>
            </a:r>
          </a:p>
        </p:txBody>
      </p:sp>
      <p:sp>
        <p:nvSpPr>
          <p:cNvPr id="14" name="fee-explanation">
            <a:extLst xmlns:a="http://schemas.openxmlformats.org/drawingml/2006/main">
              <a:ext uri="{FF2B5EF4-FFF2-40B4-BE49-F238E27FC236}">
                <a16:creationId xmlns:a16="http://schemas.microsoft.com/office/drawing/2014/main" id="{3B1FEA1B-B1E9-4DC1-96AE-983C7A5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교환할 때마다 풀 규칙에 따라 수수료 지불</a:t>
            </a:r>
          </a:p>
        </p:txBody>
      </p:sp>
    </p:spTree>
    <p:extLst>
      <p:ext uri="{BB962C8B-B14F-4D97-AF65-F5344CB8AC3E}">
        <p14:creationId xmlns:p14="http://schemas.microsoft.com/office/powerpoint/2010/main" val="1408149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4">
            <a:extLst xmlns:a="http://schemas.openxmlformats.org/drawingml/2006/main">
              <a:ext uri="{FF2B5EF4-FFF2-40B4-BE49-F238E27FC236}">
                <a16:creationId xmlns:a16="http://schemas.microsoft.com/office/drawing/2014/main" id="{EE64B4D9-E1EA-4C99-ABCC-71709B1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04 / 08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B237B6B-6C6E-46A8-83FD-EFF2869E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거래 자산을 제공하면 수수료를 나눌 수 있습니다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1855FD-506D-4A26-AACD-35F571CB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참여자는 풀 규칙에 따른 권리를 얻습니다</a:t>
            </a:r>
          </a:p>
        </p:txBody>
      </p:sp>
      <p:sp>
        <p:nvSpPr>
          <p:cNvPr id="4" name="trade-assets-connector">
            <a:extLst xmlns:a="http://schemas.openxmlformats.org/drawingml/2006/main">
              <a:ext uri="{FF2B5EF4-FFF2-40B4-BE49-F238E27FC236}">
                <a16:creationId xmlns:a16="http://schemas.microsoft.com/office/drawing/2014/main" id="{F157207E-2E0E-48E9-ABEB-50B5BB55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5" name="assets-fee-connector">
            <a:extLst xmlns:a="http://schemas.openxmlformats.org/drawingml/2006/main">
              <a:ext uri="{FF2B5EF4-FFF2-40B4-BE49-F238E27FC236}">
                <a16:creationId xmlns:a16="http://schemas.microsoft.com/office/drawing/2014/main" id="{7380DE2F-8E42-4B39-ACF4-FEA0EEF9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6" name="trade-node">
            <a:extLst xmlns:a="http://schemas.openxmlformats.org/drawingml/2006/main">
              <a:ext uri="{FF2B5EF4-FFF2-40B4-BE49-F238E27FC236}">
                <a16:creationId xmlns:a16="http://schemas.microsoft.com/office/drawing/2014/main" id="{0E9CF4F4-11E6-41C6-BD6C-40406A1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de-node-label">
            <a:extLst xmlns:a="http://schemas.openxmlformats.org/drawingml/2006/main">
              <a:ext uri="{FF2B5EF4-FFF2-40B4-BE49-F238E27FC236}">
                <a16:creationId xmlns:a16="http://schemas.microsoft.com/office/drawing/2014/main" id="{89785FBD-1370-45CA-9159-E52C74AF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거래 발생</a:t>
            </a:r>
          </a:p>
        </p:txBody>
      </p:sp>
      <p:sp>
        <p:nvSpPr>
          <p:cNvPr id="8" name="assets-node">
            <a:extLst xmlns:a="http://schemas.openxmlformats.org/drawingml/2006/main">
              <a:ext uri="{FF2B5EF4-FFF2-40B4-BE49-F238E27FC236}">
                <a16:creationId xmlns:a16="http://schemas.microsoft.com/office/drawing/2014/main" id="{7249052C-E70B-44FD-86FC-471EC39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9" name="assets-node-label">
            <a:extLst xmlns:a="http://schemas.openxmlformats.org/drawingml/2006/main">
              <a:ext uri="{FF2B5EF4-FFF2-40B4-BE49-F238E27FC236}">
                <a16:creationId xmlns:a16="http://schemas.microsoft.com/office/drawing/2014/main" id="{6934064E-96C5-4F7F-81EB-E458CB7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내 자산이 거래를 지원</a:t>
            </a:r>
          </a:p>
        </p:txBody>
      </p:sp>
      <p:sp>
        <p:nvSpPr>
          <p:cNvPr id="10" name="fee-share-node">
            <a:extLst xmlns:a="http://schemas.openxmlformats.org/drawingml/2006/main">
              <a:ext uri="{FF2B5EF4-FFF2-40B4-BE49-F238E27FC236}">
                <a16:creationId xmlns:a16="http://schemas.microsoft.com/office/drawing/2014/main" id="{1B892A3F-2657-4CA3-A6EF-3F06079E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e-share-node-label">
            <a:extLst xmlns:a="http://schemas.openxmlformats.org/drawingml/2006/main">
              <a:ext uri="{FF2B5EF4-FFF2-40B4-BE49-F238E27FC236}">
                <a16:creationId xmlns:a16="http://schemas.microsoft.com/office/drawing/2014/main" id="{35618840-1EDB-4E99-9020-833D20B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수수료 공유</a:t>
            </a:r>
          </a:p>
        </p:txBody>
      </p:sp>
    </p:spTree>
    <p:extLst>
      <p:ext uri="{BB962C8B-B14F-4D97-AF65-F5344CB8AC3E}">
        <p14:creationId xmlns:p14="http://schemas.microsoft.com/office/powerpoint/2010/main" val="2035563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E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1E440F08-C100-49CC-8AD4-09FE41AA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05 / 08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3C08C9E-6FB1-4741-B10F-9D11E54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직접 관리하는 일은 간단하지 않습니다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00392C3-5330-43D4-AA59-95003B73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배분, 가격 범위, 모니터링과 조정이 필요합니다</a:t>
            </a:r>
          </a:p>
        </p:txBody>
      </p:sp>
      <p:sp>
        <p:nvSpPr>
          <p:cNvPr id="4" name="difficulty-question">
            <a:extLst xmlns:a="http://schemas.openxmlformats.org/drawingml/2006/main">
              <a:ext uri="{FF2B5EF4-FFF2-40B4-BE49-F238E27FC236}">
                <a16:creationId xmlns:a16="http://schemas.microsoft.com/office/drawing/2014/main" id="{726A40A9-DF42-419C-90CD-D6CF5CD5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124200" cy="3124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5" name="question-mark">
            <a:extLst xmlns:a="http://schemas.openxmlformats.org/drawingml/2006/main">
              <a:ext uri="{FF2B5EF4-FFF2-40B4-BE49-F238E27FC236}">
                <a16:creationId xmlns:a16="http://schemas.microsoft.com/office/drawing/2014/main" id="{49532D25-28F2-400F-B93D-EDC484F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14700"/>
            <a:ext cx="1409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12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?</a:t>
            </a:r>
          </a:p>
        </p:txBody>
      </p:sp>
      <p:sp>
        <p:nvSpPr>
          <p:cNvPr id="6" name="task-01-index">
            <a:extLst xmlns:a="http://schemas.openxmlformats.org/drawingml/2006/main">
              <a:ext uri="{FF2B5EF4-FFF2-40B4-BE49-F238E27FC236}">
                <a16:creationId xmlns:a16="http://schemas.microsoft.com/office/drawing/2014/main" id="{79D45F76-EA0B-4946-B066-EB02FA6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7" name="task-01-label">
            <a:extLst xmlns:a="http://schemas.openxmlformats.org/drawingml/2006/main">
              <a:ext uri="{FF2B5EF4-FFF2-40B4-BE49-F238E27FC236}">
                <a16:creationId xmlns:a16="http://schemas.microsoft.com/office/drawing/2014/main" id="{16D8BD02-0178-4BC7-B224-80AC1C29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지원 자산</a:t>
            </a:r>
          </a:p>
        </p:txBody>
      </p:sp>
      <p:sp>
        <p:nvSpPr>
          <p:cNvPr id="8" name="task-02-index">
            <a:extLst xmlns:a="http://schemas.openxmlformats.org/drawingml/2006/main">
              <a:ext uri="{FF2B5EF4-FFF2-40B4-BE49-F238E27FC236}">
                <a16:creationId xmlns:a16="http://schemas.microsoft.com/office/drawing/2014/main" id="{7F15E2B5-D5F8-4772-92FE-0D90A687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9" name="task-02-label">
            <a:extLst xmlns:a="http://schemas.openxmlformats.org/drawingml/2006/main">
              <a:ext uri="{FF2B5EF4-FFF2-40B4-BE49-F238E27FC236}">
                <a16:creationId xmlns:a16="http://schemas.microsoft.com/office/drawing/2014/main" id="{685FA266-E5C3-406A-9DC8-A09EBF03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먼저 풀 규칙 학습</a:t>
            </a:r>
          </a:p>
        </p:txBody>
      </p:sp>
      <p:sp>
        <p:nvSpPr>
          <p:cNvPr id="10" name="task-03-index">
            <a:extLst xmlns:a="http://schemas.openxmlformats.org/drawingml/2006/main">
              <a:ext uri="{FF2B5EF4-FFF2-40B4-BE49-F238E27FC236}">
                <a16:creationId xmlns:a16="http://schemas.microsoft.com/office/drawing/2014/main" id="{A35B2969-7A46-4F4B-9C56-220D9549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1" name="task-03-label">
            <a:extLst xmlns:a="http://schemas.openxmlformats.org/drawingml/2006/main">
              <a:ext uri="{FF2B5EF4-FFF2-40B4-BE49-F238E27FC236}">
                <a16:creationId xmlns:a16="http://schemas.microsoft.com/office/drawing/2014/main" id="{4BA11A8E-0D2A-45C8-8ACE-5472D117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자금 위치를 직접 판단</a:t>
            </a:r>
          </a:p>
        </p:txBody>
      </p:sp>
      <p:sp>
        <p:nvSpPr>
          <p:cNvPr id="12" name="task-04-index">
            <a:extLst xmlns:a="http://schemas.openxmlformats.org/drawingml/2006/main">
              <a:ext uri="{FF2B5EF4-FFF2-40B4-BE49-F238E27FC236}">
                <a16:creationId xmlns:a16="http://schemas.microsoft.com/office/drawing/2014/main" id="{3CCCE3AF-A468-4064-8F60-F73A5099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04</a:t>
            </a:r>
          </a:p>
        </p:txBody>
      </p:sp>
      <p:sp>
        <p:nvSpPr>
          <p:cNvPr id="13" name="task-04-label">
            <a:extLst xmlns:a="http://schemas.openxmlformats.org/drawingml/2006/main">
              <a:ext uri="{FF2B5EF4-FFF2-40B4-BE49-F238E27FC236}">
                <a16:creationId xmlns:a16="http://schemas.microsoft.com/office/drawing/2014/main" id="{D4F09D9D-73EC-43CF-905E-2FF34533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가격 변화에 맞춰 조정</a:t>
            </a:r>
          </a:p>
        </p:txBody>
      </p:sp>
    </p:spTree>
    <p:extLst>
      <p:ext uri="{BB962C8B-B14F-4D97-AF65-F5344CB8AC3E}">
        <p14:creationId xmlns:p14="http://schemas.microsoft.com/office/powerpoint/2010/main" val="745025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56e1ebfba4599"/>
          <a:srcRect xmlns:a="http://schemas.openxmlformats.org/drawingml/2006/main" l="18519" t="0" r="18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4a6c7357d4d8c"/>
          <a:srcRect xmlns:a="http://schemas.openxmlformats.org/drawingml/2006/main" l="21854" t="0" r="2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flow-edge-mask">
            <a:extLst xmlns:a="http://schemas.openxmlformats.org/drawingml/2006/main">
              <a:ext uri="{FF2B5EF4-FFF2-40B4-BE49-F238E27FC236}">
                <a16:creationId xmlns:a16="http://schemas.microsoft.com/office/drawing/2014/main" id="{A09D15A6-9BFD-4629-B4FD-4AFCC15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nieddy-title">
            <a:extLst xmlns:a="http://schemas.openxmlformats.org/drawingml/2006/main">
              <a:ext uri="{FF2B5EF4-FFF2-40B4-BE49-F238E27FC236}">
                <a16:creationId xmlns:a16="http://schemas.microsoft.com/office/drawing/2014/main" id="{5E5F1D23-AF4F-494D-A37C-B4DD27C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61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UniEddy는 복잡한 관리를 더 간단한 참여로 바꿉니다</a:t>
            </a:r>
          </a:p>
        </p:txBody>
      </p:sp>
      <p:sp>
        <p:nvSpPr>
          <p:cNvPr id="5" name="unieddy-callout">
            <a:extLst xmlns:a="http://schemas.openxmlformats.org/drawingml/2006/main">
              <a:ext uri="{FF2B5EF4-FFF2-40B4-BE49-F238E27FC236}">
                <a16:creationId xmlns:a16="http://schemas.microsoft.com/office/drawing/2014/main" id="{C388D3E9-80D6-4053-97DF-3A4D8A6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FF007A"/>
                </a:solidFill>
                <a:latin typeface="Apple SD Gothic Neo"/>
                <a:ea typeface="Apple SD Gothic Neo"/>
                <a:cs typeface="Apple SD Gothic Neo"/>
              </a:rPr>
              <a:t>시스템이 모니터링하고 고정 규칙이 행동을 결정합니다</a:t>
            </a:r>
          </a:p>
        </p:txBody>
      </p:sp>
      <p:sp>
        <p:nvSpPr>
          <p:cNvPr id="6" name="unieddy-explanation">
            <a:extLst xmlns:a="http://schemas.openxmlformats.org/drawingml/2006/main">
              <a:ext uri="{FF2B5EF4-FFF2-40B4-BE49-F238E27FC236}">
                <a16:creationId xmlns:a16="http://schemas.microsoft.com/office/drawing/2014/main" id="{89A6DFDD-082A-469E-B784-65BA3D3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AI는 분석만 하고, 실행 여부는 고정 규칙이 결정합니다.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53cd9479a4282"/>
          <a:stretch xmlns:a="http://schemas.openxmlformats.org/drawingml/2006/main"/>
        </p:blipFill>
        <p:spPr>
          <a:xfrm xmlns:a="http://schemas.openxmlformats.org/drawingml/2006/main">
            <a:off x="7983141" y="2514600"/>
            <a:ext cx="2378869" cy="2114550"/>
          </a:xfrm>
          <a:prstGeom xmlns:a="http://schemas.openxmlformats.org/drawingml/2006/main" prst="rect">
            <a:avLst/>
          </a:prstGeom>
        </p:spPr>
      </p:pic>
      <p:sp>
        <p:nvSpPr>
          <p:cNvPr id="8" name="unieddy-wordmark">
            <a:extLst xmlns:a="http://schemas.openxmlformats.org/drawingml/2006/main">
              <a:ext uri="{FF2B5EF4-FFF2-40B4-BE49-F238E27FC236}">
                <a16:creationId xmlns:a16="http://schemas.microsoft.com/office/drawing/2014/main" id="{9CBC03D0-C418-41D7-9312-FCB056F6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UniEddy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26E22F50-4636-4C04-BBCE-A82A5975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658890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7">
            <a:extLst xmlns:a="http://schemas.openxmlformats.org/drawingml/2006/main">
              <a:ext uri="{FF2B5EF4-FFF2-40B4-BE49-F238E27FC236}">
                <a16:creationId xmlns:a16="http://schemas.microsoft.com/office/drawing/2014/main" id="{214B4751-7E40-4B82-8E4F-304173A1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07 / 08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91CBC56-856D-4B25-A88D-3C3C21E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실제 거래. 실제 수수료. 온체인 확인.</a:t>
            </a:r>
          </a:p>
        </p:txBody>
      </p:sp>
      <p:sp>
        <p:nvSpPr>
          <p:cNvPr id="3" name="proof-01-index">
            <a:extLst xmlns:a="http://schemas.openxmlformats.org/drawingml/2006/main">
              <a:ext uri="{FF2B5EF4-FFF2-40B4-BE49-F238E27FC236}">
                <a16:creationId xmlns:a16="http://schemas.microsoft.com/office/drawing/2014/main" id="{E0503925-D192-4792-BEC6-09AA42D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4" name="proof-01-label">
            <a:extLst xmlns:a="http://schemas.openxmlformats.org/drawingml/2006/main">
              <a:ext uri="{FF2B5EF4-FFF2-40B4-BE49-F238E27FC236}">
                <a16:creationId xmlns:a16="http://schemas.microsoft.com/office/drawing/2014/main" id="{32818211-05F7-4D77-8649-15646B34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실제 거래 발생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ABC54-7F9A-4C07-BF93-E98BC3FD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6" name="proof-02-index">
            <a:extLst xmlns:a="http://schemas.openxmlformats.org/drawingml/2006/main">
              <a:ext uri="{FF2B5EF4-FFF2-40B4-BE49-F238E27FC236}">
                <a16:creationId xmlns:a16="http://schemas.microsoft.com/office/drawing/2014/main" id="{9038B4B9-1313-4167-A9A0-C0D0A7A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7" name="proof-02-label">
            <a:extLst xmlns:a="http://schemas.openxmlformats.org/drawingml/2006/main">
              <a:ext uri="{FF2B5EF4-FFF2-40B4-BE49-F238E27FC236}">
                <a16:creationId xmlns:a16="http://schemas.microsoft.com/office/drawing/2014/main" id="{3A67118F-5493-4383-9E29-970C45A0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수수료 정산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D1F8D-03B0-412E-86C4-9102BAF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9" name="proof-03-index">
            <a:extLst xmlns:a="http://schemas.openxmlformats.org/drawingml/2006/main">
              <a:ext uri="{FF2B5EF4-FFF2-40B4-BE49-F238E27FC236}">
                <a16:creationId xmlns:a16="http://schemas.microsoft.com/office/drawing/2014/main" id="{7B01173F-C178-462D-8EEA-279041E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0" name="proof-03-label">
            <a:extLst xmlns:a="http://schemas.openxmlformats.org/drawingml/2006/main">
              <a:ext uri="{FF2B5EF4-FFF2-40B4-BE49-F238E27FC236}">
                <a16:creationId xmlns:a16="http://schemas.microsoft.com/office/drawing/2014/main" id="{A86D7D48-54C9-4658-8F44-F74D48A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내 지갑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FFEA6-70BF-4CB4-813F-42F16FCA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12" name="risk-statement">
            <a:extLst xmlns:a="http://schemas.openxmlformats.org/drawingml/2006/main">
              <a:ext uri="{FF2B5EF4-FFF2-40B4-BE49-F238E27FC236}">
                <a16:creationId xmlns:a16="http://schemas.microsoft.com/office/drawing/2014/main" id="{1D1F8357-533D-4E1F-917D-AB2BBE31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13" name="risk-copy">
            <a:extLst xmlns:a="http://schemas.openxmlformats.org/drawingml/2006/main">
              <a:ext uri="{FF2B5EF4-FFF2-40B4-BE49-F238E27FC236}">
                <a16:creationId xmlns:a16="http://schemas.microsoft.com/office/drawing/2014/main" id="{DA12B602-C306-473D-B487-9DB3D59E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1011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수수료는 보장되지 않으며 자산 가치는 변동합니다</a:t>
            </a:r>
          </a:p>
        </p:txBody>
      </p:sp>
      <p:sp>
        <p:nvSpPr>
          <p:cNvPr id="14" name="independent-footer">
            <a:extLst xmlns:a="http://schemas.openxmlformats.org/drawingml/2006/main">
              <a:ext uri="{FF2B5EF4-FFF2-40B4-BE49-F238E27FC236}">
                <a16:creationId xmlns:a16="http://schemas.microsoft.com/office/drawing/2014/main" id="{B1089B12-B499-4343-A6A5-A4C777D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2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Uniswap v4 기반 · 독립적인 제3자 서비스 · Uniswap Labs와 제휴하지 않음</a:t>
            </a:r>
          </a:p>
        </p:txBody>
      </p:sp>
    </p:spTree>
    <p:extLst>
      <p:ext uri="{BB962C8B-B14F-4D97-AF65-F5344CB8AC3E}">
        <p14:creationId xmlns:p14="http://schemas.microsoft.com/office/powerpoint/2010/main" val="1870652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8">
            <a:extLst xmlns:a="http://schemas.openxmlformats.org/drawingml/2006/main">
              <a:ext uri="{FF2B5EF4-FFF2-40B4-BE49-F238E27FC236}">
                <a16:creationId xmlns:a16="http://schemas.microsoft.com/office/drawing/2014/main" id="{A89EBA8B-4F86-4640-8FED-EF65F04D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08 / 08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e8e0c60c54eea"/>
          <a:stretch xmlns:a="http://schemas.openxmlformats.org/drawingml/2006/main"/>
        </p:blipFill>
        <p:spPr>
          <a:xfrm xmlns:a="http://schemas.openxmlformats.org/drawingml/2006/main">
            <a:off x="5131594" y="495300"/>
            <a:ext cx="1928813" cy="1714500"/>
          </a:xfrm>
          <a:prstGeom xmlns:a="http://schemas.openxmlformats.org/drawingml/2006/main" prst="rect">
            <a:avLst/>
          </a:prstGeom>
        </p:spPr>
      </p:pic>
      <p:sp>
        <p:nvSpPr>
          <p:cNvPr id="3" name="cta-wordmark">
            <a:extLst xmlns:a="http://schemas.openxmlformats.org/drawingml/2006/main">
              <a:ext uri="{FF2B5EF4-FFF2-40B4-BE49-F238E27FC236}">
                <a16:creationId xmlns:a16="http://schemas.microsoft.com/office/drawing/2014/main" id="{CFE92E9A-6473-4728-AA9D-DB2E396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UniEddy</a:t>
            </a:r>
          </a:p>
        </p:txBody>
      </p:sp>
      <p:sp>
        <p:nvSpPr>
          <p:cNvPr id="4" name="cta-title">
            <a:extLst xmlns:a="http://schemas.openxmlformats.org/drawingml/2006/main">
              <a:ext uri="{FF2B5EF4-FFF2-40B4-BE49-F238E27FC236}">
                <a16:creationId xmlns:a16="http://schemas.microsoft.com/office/drawing/2014/main" id="{5999AF03-5189-4693-B5BC-E40EEDA9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5000" b="1">
                <a:solidFill>
                  <a:srgbClr val="19151A"/>
                </a:solidFill>
                <a:latin typeface="Apple SD Gothic Neo"/>
                <a:ea typeface="Apple SD Gothic Neo"/>
                <a:cs typeface="Apple SD Gothic Neo"/>
              </a:rPr>
              <a:t>DApp 시작하기</a:t>
            </a:r>
          </a:p>
        </p:txBody>
      </p:sp>
      <p:sp>
        <p:nvSpPr>
          <p:cNvPr id="5" name="cta-subtitle">
            <a:extLst xmlns:a="http://schemas.openxmlformats.org/drawingml/2006/main">
              <a:ext uri="{FF2B5EF4-FFF2-40B4-BE49-F238E27FC236}">
                <a16:creationId xmlns:a16="http://schemas.microsoft.com/office/drawing/2014/main" id="{0B92FF1B-984A-480F-9BE9-AC325DEC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8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참여 방법 알아보기</a:t>
            </a:r>
          </a:p>
        </p:txBody>
      </p:sp>
      <p:sp>
        <p:nvSpPr>
          <p:cNvPr id="6" name="cta-button">
            <a:extLst xmlns:a="http://schemas.openxmlformats.org/drawingml/2006/main">
              <a:ext uri="{FF2B5EF4-FFF2-40B4-BE49-F238E27FC236}">
                <a16:creationId xmlns:a16="http://schemas.microsoft.com/office/drawing/2014/main" id="{CDBD3B18-60AA-4390-AA99-30120B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45339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ta-button-label">
            <a:extLst xmlns:a="http://schemas.openxmlformats.org/drawingml/2006/main">
              <a:ext uri="{FF2B5EF4-FFF2-40B4-BE49-F238E27FC236}">
                <a16:creationId xmlns:a16="http://schemas.microsoft.com/office/drawing/2014/main" id="{69615B91-72F3-414D-9935-47F2179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DApp 시작하기</a:t>
            </a:r>
          </a:p>
        </p:txBody>
      </p:sp>
      <p:sp>
        <p:nvSpPr>
          <p:cNvPr id="8" name="cta-help">
            <a:extLst xmlns:a="http://schemas.openxmlformats.org/drawingml/2006/main">
              <a:ext uri="{FF2B5EF4-FFF2-40B4-BE49-F238E27FC236}">
                <a16:creationId xmlns:a16="http://schemas.microsoft.com/office/drawing/2014/main" id="{F12BA2E5-4A37-43DF-9A11-1DE550CC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769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solidFill>
                  <a:srgbClr val="FF007A"/>
                </a:solidFill>
                <a:latin typeface="Apple SD Gothic Neo"/>
                <a:ea typeface="Apple SD Gothic Neo"/>
                <a:cs typeface="Apple SD Gothic Neo"/>
              </a:rPr>
              <a:t>도움이 필요하신가요? 공식 안내 받기</a:t>
            </a:r>
          </a:p>
        </p:txBody>
      </p:sp>
      <p:sp>
        <p:nvSpPr>
          <p:cNvPr id="9" name="cta-independent-footer">
            <a:extLst xmlns:a="http://schemas.openxmlformats.org/drawingml/2006/main">
              <a:ext uri="{FF2B5EF4-FFF2-40B4-BE49-F238E27FC236}">
                <a16:creationId xmlns:a16="http://schemas.microsoft.com/office/drawing/2014/main" id="{624C6C8D-8D84-48A7-8233-8A33BE7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436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200" b="0">
                <a:solidFill>
                  <a:srgbClr val="726A74"/>
                </a:solidFill>
                <a:latin typeface="Apple SD Gothic Neo"/>
                <a:ea typeface="Apple SD Gothic Neo"/>
                <a:cs typeface="Apple SD Gothic Neo"/>
              </a:rPr>
              <a:t>Uniswap v4 기반 · 독립적인 제3자 서비스 · Uniswap Labs와 제휴하지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00813101"/>
      </p:ext>
    </p:extLst>
  </p:cSld>
</p:sld>
</file>

<file path=ppt/theme/theme1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2026-08-02T06:44:47.1770000Z</dcterms:created>
  <dcterms:modified xsi:type="dcterms:W3CDTF">2026-08-02T06:44:47.1770000Z</dcterms:modified>
</coreProperties>
</file>