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57f0de46a640ce" /><Relationship Type="http://schemas.openxmlformats.org/officeDocument/2006/relationships/extended-properties" Target="/docProps/app.xml" Id="Rb5e8eb1d23b04c35" /><Relationship Type="http://schemas.openxmlformats.org/officeDocument/2006/relationships/officeDocument" Target="/ppt/presentation.xml" Id="R4bd49d891ecb4bbd" /></Relationships>
</file>

<file path=ppt/presentation.xml><?xml version="1.0" encoding="utf-8"?>
<p:presentation xmlns:p="http://schemas.openxmlformats.org/presentationml/2006/main">
  <p:sldMasterIdLst>
    <p:sldMasterId xmlns:r="http://schemas.openxmlformats.org/officeDocument/2006/relationships" id="2147483648" r:id="Rf6403ea729b24448"/>
  </p:sldMasterIdLst>
  <p:notesMasterIdLst>
    <p:notesMasterId xmlns:r="http://schemas.openxmlformats.org/officeDocument/2006/relationships" r:id="R7a7a288b01cc4363"/>
  </p:notesMasterIdLst>
  <p:sldIdLst>
    <p:sldId xmlns:r="http://schemas.openxmlformats.org/officeDocument/2006/relationships" id="256" r:id="R3e98157180a14269"/>
    <p:sldId xmlns:r="http://schemas.openxmlformats.org/officeDocument/2006/relationships" id="257" r:id="Rf1f6d523ef664611"/>
    <p:sldId xmlns:r="http://schemas.openxmlformats.org/officeDocument/2006/relationships" id="258" r:id="Rc7639f43e0644f2a"/>
    <p:sldId xmlns:r="http://schemas.openxmlformats.org/officeDocument/2006/relationships" id="259" r:id="R6f739c420f8a4c10"/>
    <p:sldId xmlns:r="http://schemas.openxmlformats.org/officeDocument/2006/relationships" id="260" r:id="Rcf25749f2dbe46e2"/>
    <p:sldId xmlns:r="http://schemas.openxmlformats.org/officeDocument/2006/relationships" id="261" r:id="Rb79ac3b1e5924b58"/>
    <p:sldId xmlns:r="http://schemas.openxmlformats.org/officeDocument/2006/relationships" id="262" r:id="R8592d205dc8b4474"/>
    <p:sldId xmlns:r="http://schemas.openxmlformats.org/officeDocument/2006/relationships" id="263" r:id="R319b0abf4f264a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6ec02f2fa543e9" /><Relationship Type="http://schemas.openxmlformats.org/officeDocument/2006/relationships/slideMaster" Target="/ppt/slideMasters/slideMaster1.xml" Id="Rf6403ea729b24448" /><Relationship Type="http://schemas.openxmlformats.org/officeDocument/2006/relationships/notesMaster" Target="/ppt/notesMasters/notesMaster1.xml" Id="R7a7a288b01cc4363" /><Relationship Type="http://schemas.openxmlformats.org/officeDocument/2006/relationships/presProps" Target="/ppt/presProps.xml" Id="Rb20e3ebb40434d93" /><Relationship Type="http://schemas.openxmlformats.org/officeDocument/2006/relationships/tableStyles" Target="/ppt/tableStyles.xml" Id="R223da7216e644a42" /><Relationship Type="http://schemas.openxmlformats.org/officeDocument/2006/relationships/slide" Target="/ppt/slides/slide1.xml" Id="R3e98157180a14269" /><Relationship Type="http://schemas.openxmlformats.org/officeDocument/2006/relationships/slide" Target="/ppt/slides/slide2.xml" Id="Rf1f6d523ef664611" /><Relationship Type="http://schemas.openxmlformats.org/officeDocument/2006/relationships/slide" Target="/ppt/slides/slide3.xml" Id="Rc7639f43e0644f2a" /><Relationship Type="http://schemas.openxmlformats.org/officeDocument/2006/relationships/slide" Target="/ppt/slides/slide4.xml" Id="R6f739c420f8a4c10" /><Relationship Type="http://schemas.openxmlformats.org/officeDocument/2006/relationships/slide" Target="/ppt/slides/slide5.xml" Id="Rcf25749f2dbe46e2" /><Relationship Type="http://schemas.openxmlformats.org/officeDocument/2006/relationships/slide" Target="/ppt/slides/slide6.xml" Id="Rb79ac3b1e5924b58" /><Relationship Type="http://schemas.openxmlformats.org/officeDocument/2006/relationships/slide" Target="/ppt/slides/slide7.xml" Id="R8592d205dc8b4474" /><Relationship Type="http://schemas.openxmlformats.org/officeDocument/2006/relationships/slide" Target="/ppt/slides/slide8.xml" Id="R319b0abf4f264a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77e30605c945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UniEddy Intro">
      <a:dk1>
        <a:srgbClr val="000000"/>
      </a:dk1>
      <a:lt1>
        <a:srgbClr val="FFFFFF"/>
      </a:lt1>
      <a:dk2>
        <a:srgbClr val="19151A"/>
      </a:dk2>
      <a:lt2>
        <a:srgbClr val="F8E7F0"/>
      </a:lt2>
      <a:accent1>
        <a:srgbClr val="FF007A"/>
      </a:accent1>
      <a:accent2>
        <a:srgbClr val="F50DB4"/>
      </a:accent2>
      <a:accent3>
        <a:srgbClr val="FC72FF"/>
      </a:accent3>
      <a:accent4>
        <a:srgbClr val="F8E7F0"/>
      </a:accent4>
      <a:accent5>
        <a:srgbClr val="8F59FF"/>
      </a:accent5>
      <a:accent6>
        <a:srgbClr val="4263EB"/>
      </a:accent6>
      <a:hlink>
        <a:srgbClr val="FF007A"/>
      </a:hlink>
      <a:folHlink>
        <a:srgbClr val="F50DB4"/>
      </a:folHlink>
    </a:clrScheme>
    <a:fontScheme name="Office">
      <a:majorFont>
        <a:latin typeface="Calibri Light"/>
        <a:ea typeface="Calibri Light"/>
        <a:cs typeface="Calibri Light"/>
      </a:majorFont>
      <a:minorFont>
        <a:latin typeface="Calibri"/>
        <a:ea typeface="Calibri"/>
        <a:cs typeface="Calibri"/>
      </a:minorFont>
    </a:fontScheme>
    <a:fmtScheme name="UniEddy Intr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12d268e33444c5" /><Relationship Type="http://schemas.openxmlformats.org/officeDocument/2006/relationships/notesMaster" Target="/ppt/notesMasters/notesMaster1.xml" Id="R57a4fb70108b42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2ca103db5f4be4" /><Relationship Type="http://schemas.openxmlformats.org/officeDocument/2006/relationships/notesMaster" Target="/ppt/notesMasters/notesMaster1.xml" Id="R45051a6c5dc542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b6cc8b627c4904" /><Relationship Type="http://schemas.openxmlformats.org/officeDocument/2006/relationships/notesMaster" Target="/ppt/notesMasters/notesMaster1.xml" Id="R7f9737e58c8146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b2ef1d0a65438d" /><Relationship Type="http://schemas.openxmlformats.org/officeDocument/2006/relationships/notesMaster" Target="/ppt/notesMasters/notesMaster1.xml" Id="Rdb20026368a647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e6459caa1e4d59" /><Relationship Type="http://schemas.openxmlformats.org/officeDocument/2006/relationships/notesMaster" Target="/ppt/notesMasters/notesMaster1.xml" Id="R760c1dfbe76749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46a5121a794dd8" /><Relationship Type="http://schemas.openxmlformats.org/officeDocument/2006/relationships/notesMaster" Target="/ppt/notesMasters/notesMaster1.xml" Id="Re098f0bdda8a4c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b517a82ef34a3d" /><Relationship Type="http://schemas.openxmlformats.org/officeDocument/2006/relationships/notesMaster" Target="/ppt/notesMasters/notesMaster1.xml" Id="R3d5a70d823344d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c4337d6750407f" /><Relationship Type="http://schemas.openxmlformats.org/officeDocument/2006/relationships/notesMaster" Target="/ppt/notesMasters/notesMaster1.xml" Id="R86fc7baafa3a4a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 Uniswap cho phép người dùng hoán đổi tài sản số trực tiếp từ ví của mình. Số liệu chính thức ghi nhận hơn bốn nghìn tỷ đô la Mỹ khối lượng tích lũy và hàng triệu người giao dịch.</a:t>
            </a:r>
          </a:p>
          <a:p xmlns:a="http://schemas.openxmlformats.org/drawingml/2006/main">
            <a:r>
              <a:t>Duration: 8 seconds</a:t>
            </a:r>
          </a:p>
          <a:p xmlns:a="http://schemas.openxmlformats.org/drawingml/2006/main">
            <a:r>
              <a:t>Language: vi</a:t>
            </a:r>
          </a:p>
          <a:p xmlns:a="http://schemas.openxmlformats.org/drawingml/2006/main">
            <a:r>
              <a:t>As of: 2026-07-31</a:t>
            </a:r>
          </a:p>
          <a:p xmlns:a="http://schemas.openxmlformats.org/drawingml/2006/main">
            <a:r>
              <a:t>[Sources]</a:t>
            </a:r>
          </a:p>
          <a:p xmlns:a="http://schemas.openxmlformats.org/drawingml/2006/main">
            <a:r>
              <a:t>- What is a Decentralized Exchange (DEX)?: https://blog.uniswap.org/what-is-a-decentralized-exchange</a:t>
            </a:r>
          </a:p>
          <a:p xmlns:a="http://schemas.openxmlformats.org/drawingml/2006/main">
            <a:r>
              <a:t>- UNIfication: https://blog.uniswap.org/unification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 Giao dịch được thực hiện theo các quy tắc công khai trên chuỗi. Bạn không cần giao tài sản cho một sàn tập trung lưu giữ trước khi bắt đầu.</a:t>
            </a:r>
          </a:p>
          <a:p xmlns:a="http://schemas.openxmlformats.org/drawingml/2006/main">
            <a:r>
              <a:t>Duration: 6 seconds</a:t>
            </a:r>
          </a:p>
          <a:p xmlns:a="http://schemas.openxmlformats.org/drawingml/2006/main">
            <a:r>
              <a:t>Language: vi</a:t>
            </a:r>
          </a:p>
          <a:p xmlns:a="http://schemas.openxmlformats.org/drawingml/2006/main">
            <a:r>
              <a:t>As of: 2026-07-31</a:t>
            </a:r>
          </a:p>
          <a:p xmlns:a="http://schemas.openxmlformats.org/drawingml/2006/main">
            <a:r>
              <a:t>[Sources]</a:t>
            </a:r>
          </a:p>
          <a:p xmlns:a="http://schemas.openxmlformats.org/drawingml/2006/main">
            <a:r>
              <a:t>- What is a Decentralized Exchange (DEX)?: https://blog.uniswap.org/what-is-a-decentralized-exchange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 Khi có người hoán đổi tài sản trên Uniswap, giao dịch sẽ trả một khoản phí theo quy tắc công khai của pool thanh khoản.</a:t>
            </a:r>
          </a:p>
          <a:p xmlns:a="http://schemas.openxmlformats.org/drawingml/2006/main">
            <a:r>
              <a:t>Duration: 8 seconds</a:t>
            </a:r>
          </a:p>
          <a:p xmlns:a="http://schemas.openxmlformats.org/drawingml/2006/main">
            <a:r>
              <a:t>Language: vi</a:t>
            </a:r>
          </a:p>
          <a:p xmlns:a="http://schemas.openxmlformats.org/drawingml/2006/main">
            <a:r>
              <a:t>As of: 2026-07-31</a:t>
            </a:r>
          </a:p>
          <a:p xmlns:a="http://schemas.openxmlformats.org/drawingml/2006/main">
            <a:r>
              <a:t>[Sources]</a:t>
            </a:r>
          </a:p>
          <a:p xmlns:a="http://schemas.openxmlformats.org/drawingml/2006/main">
            <a:r>
              <a:t>- Uniswap v4 is Here: https://blog.uniswap.org/uniswap-v4-is-here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 Có người cung cấp tài sản số để giao dịch có thể diễn ra và họ có thể nhận một phần phí theo quy tắc của pool.</a:t>
            </a:r>
          </a:p>
          <a:p xmlns:a="http://schemas.openxmlformats.org/drawingml/2006/main">
            <a:r>
              <a:t>Duration: 8 seconds</a:t>
            </a:r>
          </a:p>
          <a:p xmlns:a="http://schemas.openxmlformats.org/drawingml/2006/main">
            <a:r>
              <a:t>Language: vi</a:t>
            </a:r>
          </a:p>
          <a:p xmlns:a="http://schemas.openxmlformats.org/drawingml/2006/main">
            <a:r>
              <a:t>As of: 2026-07-31</a:t>
            </a:r>
          </a:p>
          <a:p xmlns:a="http://schemas.openxmlformats.org/drawingml/2006/main">
            <a:r>
              <a:t>[Sources]</a:t>
            </a:r>
          </a:p>
          <a:p xmlns:a="http://schemas.openxmlformats.org/drawingml/2006/main">
            <a:r>
              <a:t>- Uniswap v4 is Here: https://blog.uniswap.org/uniswap-v4-is-here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 Tự tham gia đòi hỏi hiểu cách phân bổ tài sản và vùng giá, theo dõi liên tục và điều chỉnh khi thị trường thay đổi.</a:t>
            </a:r>
          </a:p>
          <a:p xmlns:a="http://schemas.openxmlformats.org/drawingml/2006/main">
            <a:r>
              <a:t>Duration: 8 seconds</a:t>
            </a:r>
          </a:p>
          <a:p xmlns:a="http://schemas.openxmlformats.org/drawingml/2006/main">
            <a:r>
              <a:t>Language: vi</a:t>
            </a:r>
          </a:p>
          <a:p xmlns:a="http://schemas.openxmlformats.org/drawingml/2006/main">
            <a:r>
              <a:t>As of: 2026-07-31</a:t>
            </a:r>
          </a:p>
          <a:p xmlns:a="http://schemas.openxmlformats.org/drawingml/2006/main">
            <a:r>
              <a:t>[Sources]</a:t>
            </a:r>
          </a:p>
          <a:p xmlns:a="http://schemas.openxmlformats.org/drawingml/2006/main">
            <a:r>
              <a:t>- Uniswap v4 is Here: https://blog.uniswap.org/uniswap-v4-is-here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 UniEddy tập trung các công việc phức tạp vào một quy trình đơn giản hơn. Hệ thống theo dõi liên tục, AI phân tích và các quy tắc cố định quyết định có hành động hay không.</a:t>
            </a:r>
          </a:p>
          <a:p xmlns:a="http://schemas.openxmlformats.org/drawingml/2006/main">
            <a:r>
              <a:t>Duration: 10 seconds</a:t>
            </a:r>
          </a:p>
          <a:p xmlns:a="http://schemas.openxmlformats.org/drawingml/2006/main">
            <a:r>
              <a:t>Language: vi</a:t>
            </a:r>
          </a:p>
          <a:p xmlns:a="http://schemas.openxmlformats.org/drawingml/2006/main">
            <a:r>
              <a:t>[Sources]</a:t>
            </a:r>
          </a:p>
          <a:p xmlns:a="http://schemas.openxmlformats.org/drawingml/2006/main">
            <a:r>
              <a:t>- Internal UniEddy product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 Phí đến từ giao dịch thật và hồ sơ quyết toán, nhận phí có thể được kiểm tra trên chuỗi. Thu nhập từ phí không được bảo đảm và giá trị tài sản có thể tăng hoặc giảm.</a:t>
            </a:r>
          </a:p>
          <a:p xmlns:a="http://schemas.openxmlformats.org/drawingml/2006/main">
            <a:r>
              <a:t>Duration: 8 seconds</a:t>
            </a:r>
          </a:p>
          <a:p xmlns:a="http://schemas.openxmlformats.org/drawingml/2006/main">
            <a:r>
              <a:t>Language: vi</a:t>
            </a:r>
          </a:p>
          <a:p xmlns:a="http://schemas.openxmlformats.org/drawingml/2006/main">
            <a:r>
              <a:t>[Sources]</a:t>
            </a:r>
          </a:p>
          <a:p xmlns:a="http://schemas.openxmlformats.org/drawingml/2006/main">
            <a:r>
              <a:t>- Internal UniEddy product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 Vào DApp để tìm hiểu cách bạn có thể tham gia. Nếu cần trợ giúp, bạn cũng có thể nhận hướng dẫn chính thức.</a:t>
            </a:r>
          </a:p>
          <a:p xmlns:a="http://schemas.openxmlformats.org/drawingml/2006/main">
            <a:r>
              <a:t>Duration: 4 seconds</a:t>
            </a:r>
          </a:p>
          <a:p xmlns:a="http://schemas.openxmlformats.org/drawingml/2006/main">
            <a:r>
              <a:t>Language: vi</a:t>
            </a:r>
          </a:p>
          <a:p xmlns:a="http://schemas.openxmlformats.org/drawingml/2006/main">
            <a:r>
              <a:t>[Sources]</a:t>
            </a:r>
          </a:p>
          <a:p xmlns:a="http://schemas.openxmlformats.org/drawingml/2006/main">
            <a:r>
              <a:t>- Internal UniEddy product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1cc5f7ab154a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b64a4d489c4f6c" /><Relationship Type="http://schemas.openxmlformats.org/officeDocument/2006/relationships/slideLayout" Target="/ppt/slideLayouts/slideLayout1.xml" Id="Rb2edde7f37024d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edde7f37024d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UniEddy Intro">
      <a:dk1>
        <a:srgbClr val="000000"/>
      </a:dk1>
      <a:lt1>
        <a:srgbClr val="FFFFFF"/>
      </a:lt1>
      <a:dk2>
        <a:srgbClr val="19151A"/>
      </a:dk2>
      <a:lt2>
        <a:srgbClr val="F8E7F0"/>
      </a:lt2>
      <a:accent1>
        <a:srgbClr val="FF007A"/>
      </a:accent1>
      <a:accent2>
        <a:srgbClr val="F50DB4"/>
      </a:accent2>
      <a:accent3>
        <a:srgbClr val="FC72FF"/>
      </a:accent3>
      <a:accent4>
        <a:srgbClr val="F8E7F0"/>
      </a:accent4>
      <a:accent5>
        <a:srgbClr val="8F59FF"/>
      </a:accent5>
      <a:accent6>
        <a:srgbClr val="4263EB"/>
      </a:accent6>
      <a:hlink>
        <a:srgbClr val="FF007A"/>
      </a:hlink>
      <a:folHlink>
        <a:srgbClr val="F50DB4"/>
      </a:folHlink>
    </a:clrScheme>
    <a:fontScheme name="Office">
      <a:majorFont>
        <a:latin typeface="Calibri Light"/>
        <a:ea typeface="Calibri Light"/>
        <a:cs typeface="Calibri Light"/>
      </a:majorFont>
      <a:minorFont>
        <a:latin typeface="Calibri"/>
        <a:ea typeface="Calibri"/>
        <a:cs typeface="Calibri"/>
      </a:minorFont>
    </a:fontScheme>
    <a:fmtScheme name="UniEddy Intr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6f93df68984a4e" /><Relationship Type="http://schemas.openxmlformats.org/officeDocument/2006/relationships/notesSlide" Target="/ppt/notesSlides/notesSlide1.xml" Id="R67ecb7f6533c4c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0a6c1a076543c9" /><Relationship Type="http://schemas.openxmlformats.org/officeDocument/2006/relationships/notesSlide" Target="/ppt/notesSlides/notesSlide2.xml" Id="Rd210afef2a284c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5cdda5e1744c44" /><Relationship Type="http://schemas.openxmlformats.org/officeDocument/2006/relationships/notesSlide" Target="/ppt/notesSlides/notesSlide3.xml" Id="Rbb4fef793e8d45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7e29ed77ca3418d" /><Relationship Type="http://schemas.openxmlformats.org/officeDocument/2006/relationships/notesSlide" Target="/ppt/notesSlides/notesSlide4.xml" Id="R9f2615954ffb41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8c8c7edac54176" /><Relationship Type="http://schemas.openxmlformats.org/officeDocument/2006/relationships/notesSlide" Target="/ppt/notesSlides/notesSlide5.xml" Id="R90c7bd23583e4b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86a9d728ec44c0" /><Relationship Type="http://schemas.openxmlformats.org/officeDocument/2006/relationships/image" Target="/ppt/media/image.png" Id="R0b7c969253174160" /><Relationship Type="http://schemas.openxmlformats.org/officeDocument/2006/relationships/image" Target="/ppt/media/image2.png" Id="Rc1c7d6fe6fbc4a9a" /><Relationship Type="http://schemas.openxmlformats.org/officeDocument/2006/relationships/image" Target="/ppt/media/image3.png" Id="Reca7d7367a5744a8" /><Relationship Type="http://schemas.openxmlformats.org/officeDocument/2006/relationships/notesSlide" Target="/ppt/notesSlides/notesSlide6.xml" Id="R9e5d0f705ff744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46462afbc9e41cf" /><Relationship Type="http://schemas.openxmlformats.org/officeDocument/2006/relationships/notesSlide" Target="/ppt/notesSlides/notesSlide7.xml" Id="R2e1272705aff48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660c247890a4a60" /><Relationship Type="http://schemas.openxmlformats.org/officeDocument/2006/relationships/image" Target="/ppt/media/image4.png" Id="R7991653e8ea8476f" /><Relationship Type="http://schemas.openxmlformats.org/officeDocument/2006/relationships/notesSlide" Target="/ppt/notesSlides/notesSlide8.xml" Id="Rd0b9ae4a11d644ee" /></Relationships>
</file>

<file path=ppt/slides/slide1.xml><?xml version="1.0" encoding="utf-8"?>
<p:sld xmlns:p="http://schemas.openxmlformats.org/presentationml/2006/main">
  <p:cSld>
    <p:bg>
      <p:bgPr>
        <a:solidFill xmlns:a="http://schemas.openxmlformats.org/drawingml/2006/main">
          <a:srgbClr val="19151A"/>
        </a:solidFill>
      </p:bgPr>
    </p:bg>
    <p:spTree>
      <p:nvGrpSpPr>
        <p:cNvPr id="1" name=""/>
        <p:cNvGrpSpPr/>
        <p:nvPr/>
      </p:nvGrpSpPr>
      <p:grpSpPr>
        <a:xfrm xmlns:a="http://schemas.openxmlformats.org/drawingml/2006/main"/>
      </p:grpSpPr>
      <p:sp>
        <p:nvSpPr>
          <p:cNvPr id="12" name="authority-orb">
            <a:extLst xmlns:a="http://schemas.openxmlformats.org/drawingml/2006/main">
              <a:ext uri="{FF2B5EF4-FFF2-40B4-BE49-F238E27FC236}">
                <a16:creationId xmlns:a16="http://schemas.microsoft.com/office/drawing/2014/main" id="{3AA26585-4064-45FD-9F50-525D8212362F}"/>
              </a:ext>
            </a:extLst>
          </p:cNvPr>
          <p:cNvSpPr>
            <a:spLocks xmlns:a="http://schemas.openxmlformats.org/drawingml/2006/main" noGrp="1"/>
          </p:cNvSpPr>
          <p:nvPr/>
        </p:nvSpPr>
        <p:spPr>
          <a:xfrm xmlns:a="http://schemas.openxmlformats.org/drawingml/2006/main">
            <a:off x="9620250" y="0"/>
            <a:ext cx="2571750" cy="2571750"/>
          </a:xfrm>
          <a:prstGeom xmlns:a="http://schemas.openxmlformats.org/drawingml/2006/main" prst="roundRect">
            <a:avLst>
              <a:gd name="adj" fmla="val 50000"/>
            </a:avLst>
          </a:prstGeom>
          <a:solidFill xmlns:a="http://schemas.openxmlformats.org/drawingml/2006/main">
            <a:srgbClr val="F50DB4"/>
          </a:solidFill>
          <a:ln xmlns:a="http://schemas.openxmlformats.org/drawingml/2006/main" w="0">
            <a:noFill/>
            <a:prstDash val="solid"/>
          </a:ln>
        </p:spPr>
      </p:sp>
      <p:sp>
        <p:nvSpPr>
          <p:cNvPr id="2" name="authority-orb-cutout">
            <a:extLst xmlns:a="http://schemas.openxmlformats.org/drawingml/2006/main">
              <a:ext uri="{FF2B5EF4-FFF2-40B4-BE49-F238E27FC236}">
                <a16:creationId xmlns:a16="http://schemas.microsoft.com/office/drawing/2014/main" id="{04CE8286-09F2-4928-89F7-A37C40823B97}"/>
              </a:ext>
            </a:extLst>
          </p:cNvPr>
          <p:cNvSpPr>
            <a:spLocks xmlns:a="http://schemas.openxmlformats.org/drawingml/2006/main" noGrp="1"/>
          </p:cNvSpPr>
          <p:nvPr/>
        </p:nvSpPr>
        <p:spPr>
          <a:xfrm xmlns:a="http://schemas.openxmlformats.org/drawingml/2006/main">
            <a:off x="9810750" y="190500"/>
            <a:ext cx="2190750" cy="2190750"/>
          </a:xfrm>
          <a:prstGeom xmlns:a="http://schemas.openxmlformats.org/drawingml/2006/main" prst="roundRect">
            <a:avLst>
              <a:gd name="adj" fmla="val 50000"/>
            </a:avLst>
          </a:prstGeom>
          <a:solidFill xmlns:a="http://schemas.openxmlformats.org/drawingml/2006/main">
            <a:srgbClr val="19151A"/>
          </a:solidFill>
          <a:ln xmlns:a="http://schemas.openxmlformats.org/drawingml/2006/main" w="0">
            <a:noFill/>
            <a:prstDash val="solid"/>
          </a:ln>
        </p:spPr>
      </p:sp>
      <p:sp>
        <p:nvSpPr>
          <p:cNvPr id="3" name="authority-dot">
            <a:extLst xmlns:a="http://schemas.openxmlformats.org/drawingml/2006/main">
              <a:ext uri="{FF2B5EF4-FFF2-40B4-BE49-F238E27FC236}">
                <a16:creationId xmlns:a16="http://schemas.microsoft.com/office/drawing/2014/main" id="{0F7F2B56-1903-45BA-9D28-D0EEE8E20A49}"/>
              </a:ext>
            </a:extLst>
          </p:cNvPr>
          <p:cNvSpPr>
            <a:spLocks xmlns:a="http://schemas.openxmlformats.org/drawingml/2006/main" noGrp="1"/>
          </p:cNvSpPr>
          <p:nvPr/>
        </p:nvSpPr>
        <p:spPr>
          <a:xfrm xmlns:a="http://schemas.openxmlformats.org/drawingml/2006/main">
            <a:off x="9963150" y="4648200"/>
            <a:ext cx="1162050" cy="1162050"/>
          </a:xfrm>
          <a:prstGeom xmlns:a="http://schemas.openxmlformats.org/drawingml/2006/main" prst="ellipse">
            <a:avLst/>
          </a:prstGeom>
          <a:solidFill xmlns:a="http://schemas.openxmlformats.org/drawingml/2006/main">
            <a:srgbClr val="FC72FF"/>
          </a:solidFill>
          <a:ln xmlns:a="http://schemas.openxmlformats.org/drawingml/2006/main" w="0">
            <a:noFill/>
            <a:prstDash val="solid"/>
          </a:ln>
        </p:spPr>
      </p:sp>
      <p:sp>
        <p:nvSpPr>
          <p:cNvPr id="4" name="uniswap-wordmark">
            <a:extLst xmlns:a="http://schemas.openxmlformats.org/drawingml/2006/main">
              <a:ext uri="{FF2B5EF4-FFF2-40B4-BE49-F238E27FC236}">
                <a16:creationId xmlns:a16="http://schemas.microsoft.com/office/drawing/2014/main" id="{96395DDC-0423-4352-9A73-9100E9DAC930}"/>
              </a:ext>
            </a:extLst>
          </p:cNvPr>
          <p:cNvSpPr>
            <a:spLocks xmlns:a="http://schemas.openxmlformats.org/drawingml/2006/main" noGrp="1"/>
          </p:cNvSpPr>
          <p:nvPr/>
        </p:nvSpPr>
        <p:spPr>
          <a:xfrm xmlns:a="http://schemas.openxmlformats.org/drawingml/2006/main">
            <a:off x="609600" y="4762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200" b="1">
                <a:solidFill>
                  <a:srgbClr val="FFFFFF"/>
                </a:solidFill>
                <a:latin typeface="Helvetica Neue"/>
                <a:ea typeface="Helvetica Neue"/>
                <a:cs typeface="Helvetica Neue"/>
              </a:rPr>
              <a:t>Uniswap</a:t>
            </a:r>
          </a:p>
        </p:txBody>
      </p:sp>
      <p:sp>
        <p:nvSpPr>
          <p:cNvPr id="5" name="cover-title">
            <a:extLst xmlns:a="http://schemas.openxmlformats.org/drawingml/2006/main">
              <a:ext uri="{FF2B5EF4-FFF2-40B4-BE49-F238E27FC236}">
                <a16:creationId xmlns:a16="http://schemas.microsoft.com/office/drawing/2014/main" id="{6A3130DC-ABDC-49D5-8C46-BC2B88B37AFD}"/>
              </a:ext>
            </a:extLst>
          </p:cNvPr>
          <p:cNvSpPr>
            <a:spLocks xmlns:a="http://schemas.openxmlformats.org/drawingml/2006/main" noGrp="1"/>
          </p:cNvSpPr>
          <p:nvPr/>
        </p:nvSpPr>
        <p:spPr>
          <a:xfrm xmlns:a="http://schemas.openxmlformats.org/drawingml/2006/main">
            <a:off x="609600" y="1104900"/>
            <a:ext cx="85725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5000" b="1">
                <a:solidFill>
                  <a:srgbClr val="FFFFFF"/>
                </a:solidFill>
                <a:latin typeface="Helvetica Neue"/>
                <a:ea typeface="Helvetica Neue"/>
                <a:cs typeface="Helvetica Neue"/>
              </a:rPr>
              <a:t>Một giao thức giao dịch phi tập trung hàng đầu</a:t>
            </a:r>
          </a:p>
        </p:txBody>
      </p:sp>
      <p:sp>
        <p:nvSpPr>
          <p:cNvPr id="6" name="authority-number">
            <a:extLst xmlns:a="http://schemas.openxmlformats.org/drawingml/2006/main">
              <a:ext uri="{FF2B5EF4-FFF2-40B4-BE49-F238E27FC236}">
                <a16:creationId xmlns:a16="http://schemas.microsoft.com/office/drawing/2014/main" id="{8FFB216F-D0E3-45DF-8D03-4F0FB2D7AAC2}"/>
              </a:ext>
            </a:extLst>
          </p:cNvPr>
          <p:cNvSpPr>
            <a:spLocks xmlns:a="http://schemas.openxmlformats.org/drawingml/2006/main" noGrp="1"/>
          </p:cNvSpPr>
          <p:nvPr/>
        </p:nvSpPr>
        <p:spPr>
          <a:xfrm xmlns:a="http://schemas.openxmlformats.org/drawingml/2006/main">
            <a:off x="609600" y="3143250"/>
            <a:ext cx="8572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5400" b="1">
                <a:solidFill>
                  <a:srgbClr val="FF007A"/>
                </a:solidFill>
                <a:latin typeface="Helvetica Neue"/>
                <a:ea typeface="Helvetica Neue"/>
                <a:cs typeface="Helvetica Neue"/>
              </a:rPr>
              <a:t>Hơn 4 nghìn tỷ USD</a:t>
            </a:r>
          </a:p>
        </p:txBody>
      </p:sp>
      <p:sp>
        <p:nvSpPr>
          <p:cNvPr id="7" name="authority-proof">
            <a:extLst xmlns:a="http://schemas.openxmlformats.org/drawingml/2006/main">
              <a:ext uri="{FF2B5EF4-FFF2-40B4-BE49-F238E27FC236}">
                <a16:creationId xmlns:a16="http://schemas.microsoft.com/office/drawing/2014/main" id="{A69F8EAC-19F3-45EB-BBD7-8B720C9B713F}"/>
              </a:ext>
            </a:extLst>
          </p:cNvPr>
          <p:cNvSpPr>
            <a:spLocks xmlns:a="http://schemas.openxmlformats.org/drawingml/2006/main" noGrp="1"/>
          </p:cNvSpPr>
          <p:nvPr/>
        </p:nvSpPr>
        <p:spPr>
          <a:xfrm xmlns:a="http://schemas.openxmlformats.org/drawingml/2006/main">
            <a:off x="647700" y="4514850"/>
            <a:ext cx="7429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FFFFFF"/>
                </a:solidFill>
                <a:latin typeface="Helvetica Neue"/>
                <a:ea typeface="Helvetica Neue"/>
                <a:cs typeface="Helvetica Neue"/>
              </a:rPr>
              <a:t>Hơn 4 nghìn tỷ USD khối lượng · hàng triệu người giao dịch</a:t>
            </a:r>
          </a:p>
        </p:txBody>
      </p:sp>
      <p:sp>
        <p:nvSpPr>
          <p:cNvPr id="8" name="">
            <a:extLst xmlns:a="http://schemas.openxmlformats.org/drawingml/2006/main">
              <a:ext uri="{FF2B5EF4-FFF2-40B4-BE49-F238E27FC236}">
                <a16:creationId xmlns:a16="http://schemas.microsoft.com/office/drawing/2014/main" id="{0DA42B90-8E38-489A-9BAB-DD85404F0E6D}"/>
              </a:ext>
            </a:extLst>
          </p:cNvPr>
          <p:cNvSpPr>
            <a:spLocks xmlns:a="http://schemas.openxmlformats.org/drawingml/2006/main" noGrp="1"/>
          </p:cNvSpPr>
          <p:nvPr/>
        </p:nvSpPr>
        <p:spPr>
          <a:xfrm xmlns:a="http://schemas.openxmlformats.org/drawingml/2006/main">
            <a:off x="647700" y="5391150"/>
            <a:ext cx="6477000" cy="0"/>
          </a:xfrm>
          <a:prstGeom xmlns:a="http://schemas.openxmlformats.org/drawingml/2006/main" prst="line">
            <a:avLst/>
          </a:prstGeom>
          <a:noFill xmlns:a="http://schemas.openxmlformats.org/drawingml/2006/main"/>
          <a:ln xmlns:a="http://schemas.openxmlformats.org/drawingml/2006/main" w="9525">
            <a:solidFill>
              <a:srgbClr val="5D4E5A"/>
            </a:solidFill>
            <a:prstDash val="solid"/>
          </a:ln>
        </p:spPr>
      </p:sp>
      <p:sp>
        <p:nvSpPr>
          <p:cNvPr id="9" name="proof-wallet">
            <a:extLst xmlns:a="http://schemas.openxmlformats.org/drawingml/2006/main">
              <a:ext uri="{FF2B5EF4-FFF2-40B4-BE49-F238E27FC236}">
                <a16:creationId xmlns:a16="http://schemas.microsoft.com/office/drawing/2014/main" id="{0CD029E1-C0D1-4637-996A-558D2D644EE6}"/>
              </a:ext>
            </a:extLst>
          </p:cNvPr>
          <p:cNvSpPr>
            <a:spLocks xmlns:a="http://schemas.openxmlformats.org/drawingml/2006/main" noGrp="1"/>
          </p:cNvSpPr>
          <p:nvPr/>
        </p:nvSpPr>
        <p:spPr>
          <a:xfrm xmlns:a="http://schemas.openxmlformats.org/drawingml/2006/main">
            <a:off x="647700" y="5581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0">
                <a:solidFill>
                  <a:srgbClr val="D9CED5"/>
                </a:solidFill>
                <a:latin typeface="Helvetica Neue"/>
                <a:ea typeface="Helvetica Neue"/>
                <a:cs typeface="Helvetica Neue"/>
              </a:rPr>
              <a:t>Ví của bạn</a:t>
            </a:r>
          </a:p>
        </p:txBody>
      </p:sp>
      <p:sp>
        <p:nvSpPr>
          <p:cNvPr id="10" name="proof-onchain">
            <a:extLst xmlns:a="http://schemas.openxmlformats.org/drawingml/2006/main">
              <a:ext uri="{FF2B5EF4-FFF2-40B4-BE49-F238E27FC236}">
                <a16:creationId xmlns:a16="http://schemas.microsoft.com/office/drawing/2014/main" id="{EF646959-E4B9-41CE-B2DC-CDC9641CB463}"/>
              </a:ext>
            </a:extLst>
          </p:cNvPr>
          <p:cNvSpPr>
            <a:spLocks xmlns:a="http://schemas.openxmlformats.org/drawingml/2006/main" noGrp="1"/>
          </p:cNvSpPr>
          <p:nvPr/>
        </p:nvSpPr>
        <p:spPr>
          <a:xfrm xmlns:a="http://schemas.openxmlformats.org/drawingml/2006/main">
            <a:off x="3371850" y="55816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0">
                <a:solidFill>
                  <a:srgbClr val="D9CED5"/>
                </a:solidFill>
                <a:latin typeface="Helvetica Neue"/>
                <a:ea typeface="Helvetica Neue"/>
                <a:cs typeface="Helvetica Neue"/>
              </a:rPr>
              <a:t>Đã xác minh onchain</a:t>
            </a:r>
          </a:p>
        </p:txBody>
      </p:sp>
      <p:sp>
        <p:nvSpPr>
          <p:cNvPr id="11" name="page-1">
            <a:extLst xmlns:a="http://schemas.openxmlformats.org/drawingml/2006/main">
              <a:ext uri="{FF2B5EF4-FFF2-40B4-BE49-F238E27FC236}">
                <a16:creationId xmlns:a16="http://schemas.microsoft.com/office/drawing/2014/main" id="{C6E28EFE-9055-447B-8C16-D85CCA67E407}"/>
              </a:ext>
            </a:extLst>
          </p:cNvPr>
          <p:cNvSpPr>
            <a:spLocks xmlns:a="http://schemas.openxmlformats.org/drawingml/2006/main" noGrp="1"/>
          </p:cNvSpPr>
          <p:nvPr/>
        </p:nvSpPr>
        <p:spPr>
          <a:xfrm xmlns:a="http://schemas.openxmlformats.org/drawingml/2006/main">
            <a:off x="10668000" y="4191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r>
              <a:rPr sz="1200" b="0">
                <a:solidFill>
                  <a:srgbClr val="CDBFC8"/>
                </a:solidFill>
                <a:latin typeface="SF Mono"/>
                <a:ea typeface="SF Mono"/>
                <a:cs typeface="SF Mono"/>
              </a:rPr>
              <a:t>01 / 08</a:t>
            </a:r>
          </a:p>
        </p:txBody>
      </p:sp>
    </p:spTree>
    <p:extLst>
      <p:ext uri="{BB962C8B-B14F-4D97-AF65-F5344CB8AC3E}">
        <p14:creationId xmlns:p14="http://schemas.microsoft.com/office/powerpoint/2010/main" val="11738174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age-2">
            <a:extLst xmlns:a="http://schemas.openxmlformats.org/drawingml/2006/main">
              <a:ext uri="{FF2B5EF4-FFF2-40B4-BE49-F238E27FC236}">
                <a16:creationId xmlns:a16="http://schemas.microsoft.com/office/drawing/2014/main" id="{944FDFE9-B613-4D72-B3B8-7658E42F81EF}"/>
              </a:ext>
            </a:extLst>
          </p:cNvPr>
          <p:cNvSpPr>
            <a:spLocks xmlns:a="http://schemas.openxmlformats.org/drawingml/2006/main" noGrp="1"/>
          </p:cNvSpPr>
          <p:nvPr/>
        </p:nvSpPr>
        <p:spPr>
          <a:xfrm xmlns:a="http://schemas.openxmlformats.org/drawingml/2006/main">
            <a:off x="10668000" y="4191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r>
              <a:rPr sz="1200" b="0">
                <a:solidFill>
                  <a:srgbClr val="726A74"/>
                </a:solidFill>
                <a:latin typeface="SF Mono"/>
                <a:ea typeface="SF Mono"/>
                <a:cs typeface="SF Mono"/>
              </a:rPr>
              <a:t>02 / 08</a:t>
            </a:r>
          </a:p>
        </p:txBody>
      </p:sp>
      <p:sp>
        <p:nvSpPr>
          <p:cNvPr id="2" name="slide-2-title">
            <a:extLst xmlns:a="http://schemas.openxmlformats.org/drawingml/2006/main">
              <a:ext uri="{FF2B5EF4-FFF2-40B4-BE49-F238E27FC236}">
                <a16:creationId xmlns:a16="http://schemas.microsoft.com/office/drawing/2014/main" id="{61F339D3-D2F9-42CC-8122-E61CA8DD3D15}"/>
              </a:ext>
            </a:extLst>
          </p:cNvPr>
          <p:cNvSpPr>
            <a:spLocks xmlns:a="http://schemas.openxmlformats.org/drawingml/2006/main" noGrp="1"/>
          </p:cNvSpPr>
          <p:nvPr/>
        </p:nvSpPr>
        <p:spPr>
          <a:xfrm xmlns:a="http://schemas.openxmlformats.org/drawingml/2006/main">
            <a:off x="609600" y="685800"/>
            <a:ext cx="10001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3500" b="1">
                <a:solidFill>
                  <a:srgbClr val="19151A"/>
                </a:solidFill>
                <a:latin typeface="Helvetica Neue"/>
                <a:ea typeface="Helvetica Neue"/>
                <a:cs typeface="Helvetica Neue"/>
              </a:rPr>
              <a:t>Giao dịch trực tiếp từ ví của bạn</a:t>
            </a:r>
          </a:p>
        </p:txBody>
      </p:sp>
      <p:sp>
        <p:nvSpPr>
          <p:cNvPr id="3" name="subtitle">
            <a:extLst xmlns:a="http://schemas.openxmlformats.org/drawingml/2006/main">
              <a:ext uri="{FF2B5EF4-FFF2-40B4-BE49-F238E27FC236}">
                <a16:creationId xmlns:a16="http://schemas.microsoft.com/office/drawing/2014/main" id="{C04BB4D9-863A-4EB4-8EEF-5528F7C28882}"/>
              </a:ext>
            </a:extLst>
          </p:cNvPr>
          <p:cNvSpPr>
            <a:spLocks xmlns:a="http://schemas.openxmlformats.org/drawingml/2006/main" noGrp="1"/>
          </p:cNvSpPr>
          <p:nvPr/>
        </p:nvSpPr>
        <p:spPr>
          <a:xfrm xmlns:a="http://schemas.openxmlformats.org/drawingml/2006/main">
            <a:off x="609600" y="158115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800" b="0">
                <a:solidFill>
                  <a:srgbClr val="726A74"/>
                </a:solidFill>
                <a:latin typeface="Helvetica Neue"/>
                <a:ea typeface="Helvetica Neue"/>
                <a:cs typeface="Helvetica Neue"/>
              </a:rPr>
              <a:t>Không cần giao tài sản cho sàn tập trung trước</a:t>
            </a:r>
          </a:p>
        </p:txBody>
      </p:sp>
      <p:sp>
        <p:nvSpPr>
          <p:cNvPr id="4" name="wallet-rules-path">
            <a:extLst xmlns:a="http://schemas.openxmlformats.org/drawingml/2006/main">
              <a:ext uri="{FF2B5EF4-FFF2-40B4-BE49-F238E27FC236}">
                <a16:creationId xmlns:a16="http://schemas.microsoft.com/office/drawing/2014/main" id="{CDFBBAD8-4BBB-4BF2-8A26-BF0158B18567}"/>
              </a:ext>
            </a:extLst>
          </p:cNvPr>
          <p:cNvSpPr>
            <a:spLocks xmlns:a="http://schemas.openxmlformats.org/drawingml/2006/main" noGrp="1"/>
          </p:cNvSpPr>
          <p:nvPr/>
        </p:nvSpPr>
        <p:spPr>
          <a:xfrm xmlns:a="http://schemas.openxmlformats.org/drawingml/2006/main">
            <a:off x="2857500" y="3848100"/>
            <a:ext cx="6000750" cy="0"/>
          </a:xfrm>
          <a:prstGeom xmlns:a="http://schemas.openxmlformats.org/drawingml/2006/main" prst="line">
            <a:avLst/>
          </a:prstGeom>
          <a:noFill xmlns:a="http://schemas.openxmlformats.org/drawingml/2006/main"/>
          <a:ln xmlns:a="http://schemas.openxmlformats.org/drawingml/2006/main" w="47625">
            <a:solidFill>
              <a:srgbClr val="FF007A"/>
            </a:solidFill>
            <a:prstDash val="solid"/>
          </a:ln>
        </p:spPr>
      </p:sp>
      <p:sp>
        <p:nvSpPr>
          <p:cNvPr id="5" name="wallet-node">
            <a:extLst xmlns:a="http://schemas.openxmlformats.org/drawingml/2006/main">
              <a:ext uri="{FF2B5EF4-FFF2-40B4-BE49-F238E27FC236}">
                <a16:creationId xmlns:a16="http://schemas.microsoft.com/office/drawing/2014/main" id="{87A3BF15-F0BA-46B6-84C5-A31EB88201B2}"/>
              </a:ext>
            </a:extLst>
          </p:cNvPr>
          <p:cNvSpPr>
            <a:spLocks xmlns:a="http://schemas.openxmlformats.org/drawingml/2006/main" noGrp="1"/>
          </p:cNvSpPr>
          <p:nvPr/>
        </p:nvSpPr>
        <p:spPr>
          <a:xfrm xmlns:a="http://schemas.openxmlformats.org/drawingml/2006/main">
            <a:off x="1809750" y="2781300"/>
            <a:ext cx="2133600" cy="2133600"/>
          </a:xfrm>
          <a:prstGeom xmlns:a="http://schemas.openxmlformats.org/drawingml/2006/main" prst="ellipse">
            <a:avLst/>
          </a:prstGeom>
          <a:solidFill xmlns:a="http://schemas.openxmlformats.org/drawingml/2006/main">
            <a:srgbClr val="F8E7F0"/>
          </a:solidFill>
          <a:ln xmlns:a="http://schemas.openxmlformats.org/drawingml/2006/main" w="28575">
            <a:solidFill>
              <a:srgbClr val="FF007A"/>
            </a:solidFill>
            <a:prstDash val="solid"/>
          </a:ln>
        </p:spPr>
      </p:sp>
      <p:sp>
        <p:nvSpPr>
          <p:cNvPr id="6" name="rules-node">
            <a:extLst xmlns:a="http://schemas.openxmlformats.org/drawingml/2006/main">
              <a:ext uri="{FF2B5EF4-FFF2-40B4-BE49-F238E27FC236}">
                <a16:creationId xmlns:a16="http://schemas.microsoft.com/office/drawing/2014/main" id="{8866127D-C6CA-462A-9BED-458E2868A5DD}"/>
              </a:ext>
            </a:extLst>
          </p:cNvPr>
          <p:cNvSpPr>
            <a:spLocks xmlns:a="http://schemas.openxmlformats.org/drawingml/2006/main" noGrp="1"/>
          </p:cNvSpPr>
          <p:nvPr/>
        </p:nvSpPr>
        <p:spPr>
          <a:xfrm xmlns:a="http://schemas.openxmlformats.org/drawingml/2006/main">
            <a:off x="7829550" y="2857500"/>
            <a:ext cx="2686050" cy="1981200"/>
          </a:xfrm>
          <a:prstGeom xmlns:a="http://schemas.openxmlformats.org/drawingml/2006/main" prst="roundRect">
            <a:avLst>
              <a:gd name="adj" fmla="val 13462"/>
            </a:avLst>
          </a:prstGeom>
          <a:solidFill xmlns:a="http://schemas.openxmlformats.org/drawingml/2006/main">
            <a:srgbClr val="FFF7FB"/>
          </a:solidFill>
          <a:ln xmlns:a="http://schemas.openxmlformats.org/drawingml/2006/main" w="19050">
            <a:solidFill>
              <a:srgbClr val="FF007A"/>
            </a:solidFill>
            <a:prstDash val="solid"/>
          </a:ln>
        </p:spPr>
      </p:sp>
      <p:sp>
        <p:nvSpPr>
          <p:cNvPr id="7" name="wallet-label">
            <a:extLst xmlns:a="http://schemas.openxmlformats.org/drawingml/2006/main">
              <a:ext uri="{FF2B5EF4-FFF2-40B4-BE49-F238E27FC236}">
                <a16:creationId xmlns:a16="http://schemas.microsoft.com/office/drawing/2014/main" id="{51CC5BA3-A6E1-4223-ACA1-C5ADA1862133}"/>
              </a:ext>
            </a:extLst>
          </p:cNvPr>
          <p:cNvSpPr>
            <a:spLocks xmlns:a="http://schemas.openxmlformats.org/drawingml/2006/main" noGrp="1"/>
          </p:cNvSpPr>
          <p:nvPr/>
        </p:nvSpPr>
        <p:spPr>
          <a:xfrm xmlns:a="http://schemas.openxmlformats.org/drawingml/2006/main">
            <a:off x="2076450" y="3476625"/>
            <a:ext cx="1600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2400" b="1">
                <a:solidFill>
                  <a:srgbClr val="19151A"/>
                </a:solidFill>
                <a:latin typeface="Helvetica Neue"/>
                <a:ea typeface="Helvetica Neue"/>
                <a:cs typeface="Helvetica Neue"/>
              </a:rPr>
              <a:t>Ví của bạn</a:t>
            </a:r>
          </a:p>
        </p:txBody>
      </p:sp>
      <p:sp>
        <p:nvSpPr>
          <p:cNvPr id="8" name="rules-label">
            <a:extLst xmlns:a="http://schemas.openxmlformats.org/drawingml/2006/main">
              <a:ext uri="{FF2B5EF4-FFF2-40B4-BE49-F238E27FC236}">
                <a16:creationId xmlns:a16="http://schemas.microsoft.com/office/drawing/2014/main" id="{CC808553-B50B-4914-82F2-6E3AFD6AED6A}"/>
              </a:ext>
            </a:extLst>
          </p:cNvPr>
          <p:cNvSpPr>
            <a:spLocks xmlns:a="http://schemas.openxmlformats.org/drawingml/2006/main" noGrp="1"/>
          </p:cNvSpPr>
          <p:nvPr/>
        </p:nvSpPr>
        <p:spPr>
          <a:xfrm xmlns:a="http://schemas.openxmlformats.org/drawingml/2006/main">
            <a:off x="8096250" y="3286125"/>
            <a:ext cx="2152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2400" b="1">
                <a:solidFill>
                  <a:srgbClr val="19151A"/>
                </a:solidFill>
                <a:latin typeface="Helvetica Neue"/>
                <a:ea typeface="Helvetica Neue"/>
                <a:cs typeface="Helvetica Neue"/>
              </a:rPr>
              <a:t>Đã xác minh onchain</a:t>
            </a:r>
          </a:p>
        </p:txBody>
      </p:sp>
      <p:sp>
        <p:nvSpPr>
          <p:cNvPr id="9" name="rules-detail">
            <a:extLst xmlns:a="http://schemas.openxmlformats.org/drawingml/2006/main">
              <a:ext uri="{FF2B5EF4-FFF2-40B4-BE49-F238E27FC236}">
                <a16:creationId xmlns:a16="http://schemas.microsoft.com/office/drawing/2014/main" id="{5013C1DF-F6A7-4B22-8249-60E08AEC74C6}"/>
              </a:ext>
            </a:extLst>
          </p:cNvPr>
          <p:cNvSpPr>
            <a:spLocks xmlns:a="http://schemas.openxmlformats.org/drawingml/2006/main" noGrp="1"/>
          </p:cNvSpPr>
          <p:nvPr/>
        </p:nvSpPr>
        <p:spPr>
          <a:xfrm xmlns:a="http://schemas.openxmlformats.org/drawingml/2006/main">
            <a:off x="8096250" y="3981450"/>
            <a:ext cx="2152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1600" b="0">
                <a:solidFill>
                  <a:srgbClr val="726A74"/>
                </a:solidFill>
                <a:latin typeface="Helvetica Neue"/>
                <a:ea typeface="Helvetica Neue"/>
                <a:cs typeface="Helvetica Neue"/>
              </a:rPr>
              <a:t>Kết nối các pool Uniswap v4 · Giao diện độc lập</a:t>
            </a:r>
          </a:p>
        </p:txBody>
      </p:sp>
    </p:spTree>
    <p:extLst>
      <p:ext uri="{BB962C8B-B14F-4D97-AF65-F5344CB8AC3E}">
        <p14:creationId xmlns:p14="http://schemas.microsoft.com/office/powerpoint/2010/main" val="280464751"/>
      </p:ext>
    </p:extLst>
  </p:cSld>
</p:sld>
</file>

<file path=ppt/slides/slide3.xml><?xml version="1.0" encoding="utf-8"?>
<p:sld xmlns:p="http://schemas.openxmlformats.org/presentationml/2006/main">
  <p:cSld>
    <p:bg>
      <p:bgPr>
        <a:solidFill xmlns:a="http://schemas.openxmlformats.org/drawingml/2006/main">
          <a:srgbClr val="FFF7FB"/>
        </a:solidFill>
      </p:bgPr>
    </p:bg>
    <p:spTree>
      <p:nvGrpSpPr>
        <p:cNvPr id="1" name=""/>
        <p:cNvGrpSpPr/>
        <p:nvPr/>
      </p:nvGrpSpPr>
      <p:grpSpPr>
        <a:xfrm xmlns:a="http://schemas.openxmlformats.org/drawingml/2006/main"/>
      </p:grpSpPr>
      <p:sp>
        <p:nvSpPr>
          <p:cNvPr id="15" name="page-3">
            <a:extLst xmlns:a="http://schemas.openxmlformats.org/drawingml/2006/main">
              <a:ext uri="{FF2B5EF4-FFF2-40B4-BE49-F238E27FC236}">
                <a16:creationId xmlns:a16="http://schemas.microsoft.com/office/drawing/2014/main" id="{8B2F4980-F4BC-49B1-ACE7-F39ECF1C8716}"/>
              </a:ext>
            </a:extLst>
          </p:cNvPr>
          <p:cNvSpPr>
            <a:spLocks xmlns:a="http://schemas.openxmlformats.org/drawingml/2006/main" noGrp="1"/>
          </p:cNvSpPr>
          <p:nvPr/>
        </p:nvSpPr>
        <p:spPr>
          <a:xfrm xmlns:a="http://schemas.openxmlformats.org/drawingml/2006/main">
            <a:off x="10668000" y="4191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r>
              <a:rPr sz="1200" b="0">
                <a:solidFill>
                  <a:srgbClr val="726A74"/>
                </a:solidFill>
                <a:latin typeface="SF Mono"/>
                <a:ea typeface="SF Mono"/>
                <a:cs typeface="SF Mono"/>
              </a:rPr>
              <a:t>03 / 08</a:t>
            </a:r>
          </a:p>
        </p:txBody>
      </p:sp>
      <p:sp>
        <p:nvSpPr>
          <p:cNvPr id="2" name="slide-3-title">
            <a:extLst xmlns:a="http://schemas.openxmlformats.org/drawingml/2006/main">
              <a:ext uri="{FF2B5EF4-FFF2-40B4-BE49-F238E27FC236}">
                <a16:creationId xmlns:a16="http://schemas.microsoft.com/office/drawing/2014/main" id="{DE1ABB79-C4C1-4C83-B5BD-B0B4AB23A70A}"/>
              </a:ext>
            </a:extLst>
          </p:cNvPr>
          <p:cNvSpPr>
            <a:spLocks xmlns:a="http://schemas.openxmlformats.org/drawingml/2006/main" noGrp="1"/>
          </p:cNvSpPr>
          <p:nvPr/>
        </p:nvSpPr>
        <p:spPr>
          <a:xfrm xmlns:a="http://schemas.openxmlformats.org/drawingml/2006/main">
            <a:off x="609600" y="685800"/>
            <a:ext cx="1028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3500" b="1">
                <a:solidFill>
                  <a:srgbClr val="19151A"/>
                </a:solidFill>
                <a:latin typeface="Helvetica Neue"/>
                <a:ea typeface="Helvetica Neue"/>
                <a:cs typeface="Helvetica Neue"/>
              </a:rPr>
              <a:t>Mỗi giao dịch hoán đổi đều tạo ra phí</a:t>
            </a:r>
          </a:p>
        </p:txBody>
      </p:sp>
      <p:sp>
        <p:nvSpPr>
          <p:cNvPr id="3" name="subtitle">
            <a:extLst xmlns:a="http://schemas.openxmlformats.org/drawingml/2006/main">
              <a:ext uri="{FF2B5EF4-FFF2-40B4-BE49-F238E27FC236}">
                <a16:creationId xmlns:a16="http://schemas.microsoft.com/office/drawing/2014/main" id="{63320492-C3B6-45F5-B128-F3F337057E1B}"/>
              </a:ext>
            </a:extLst>
          </p:cNvPr>
          <p:cNvSpPr>
            <a:spLocks xmlns:a="http://schemas.openxmlformats.org/drawingml/2006/main" noGrp="1"/>
          </p:cNvSpPr>
          <p:nvPr/>
        </p:nvSpPr>
        <p:spPr>
          <a:xfrm xmlns:a="http://schemas.openxmlformats.org/drawingml/2006/main">
            <a:off x="609600" y="158115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800" b="0">
                <a:solidFill>
                  <a:srgbClr val="726A74"/>
                </a:solidFill>
                <a:latin typeface="Helvetica Neue"/>
                <a:ea typeface="Helvetica Neue"/>
                <a:cs typeface="Helvetica Neue"/>
              </a:rPr>
              <a:t>Người giao dịch trả phí theo quy tắc của pool</a:t>
            </a:r>
          </a:p>
        </p:txBody>
      </p:sp>
      <p:sp>
        <p:nvSpPr>
          <p:cNvPr id="4" name="swap-track">
            <a:extLst xmlns:a="http://schemas.openxmlformats.org/drawingml/2006/main">
              <a:ext uri="{FF2B5EF4-FFF2-40B4-BE49-F238E27FC236}">
                <a16:creationId xmlns:a16="http://schemas.microsoft.com/office/drawing/2014/main" id="{560C0AC2-6043-49CC-9EE2-66914F7A20F2}"/>
              </a:ext>
            </a:extLst>
          </p:cNvPr>
          <p:cNvSpPr>
            <a:spLocks xmlns:a="http://schemas.openxmlformats.org/drawingml/2006/main" noGrp="1"/>
          </p:cNvSpPr>
          <p:nvPr/>
        </p:nvSpPr>
        <p:spPr>
          <a:xfrm xmlns:a="http://schemas.openxmlformats.org/drawingml/2006/main">
            <a:off x="1447800" y="4095750"/>
            <a:ext cx="8382000" cy="0"/>
          </a:xfrm>
          <a:prstGeom xmlns:a="http://schemas.openxmlformats.org/drawingml/2006/main" prst="line">
            <a:avLst/>
          </a:prstGeom>
          <a:noFill xmlns:a="http://schemas.openxmlformats.org/drawingml/2006/main"/>
          <a:ln xmlns:a="http://schemas.openxmlformats.org/drawingml/2006/main" w="114300">
            <a:solidFill>
              <a:srgbClr val="E8C9D8"/>
            </a:solidFill>
            <a:prstDash val="solid"/>
          </a:ln>
        </p:spPr>
      </p:sp>
      <p:sp>
        <p:nvSpPr>
          <p:cNvPr id="5" name="swap-active">
            <a:extLst xmlns:a="http://schemas.openxmlformats.org/drawingml/2006/main">
              <a:ext uri="{FF2B5EF4-FFF2-40B4-BE49-F238E27FC236}">
                <a16:creationId xmlns:a16="http://schemas.microsoft.com/office/drawing/2014/main" id="{BF057610-1573-49BF-9DF7-85B00E410CD5}"/>
              </a:ext>
            </a:extLst>
          </p:cNvPr>
          <p:cNvSpPr>
            <a:spLocks xmlns:a="http://schemas.openxmlformats.org/drawingml/2006/main" noGrp="1"/>
          </p:cNvSpPr>
          <p:nvPr/>
        </p:nvSpPr>
        <p:spPr>
          <a:xfrm xmlns:a="http://schemas.openxmlformats.org/drawingml/2006/main">
            <a:off x="1981200" y="4095750"/>
            <a:ext cx="6172200" cy="0"/>
          </a:xfrm>
          <a:prstGeom xmlns:a="http://schemas.openxmlformats.org/drawingml/2006/main" prst="line">
            <a:avLst/>
          </a:prstGeom>
          <a:noFill xmlns:a="http://schemas.openxmlformats.org/drawingml/2006/main"/>
          <a:ln xmlns:a="http://schemas.openxmlformats.org/drawingml/2006/main" w="47625">
            <a:solidFill>
              <a:srgbClr val="FF007A"/>
            </a:solidFill>
            <a:prstDash val="solid"/>
          </a:ln>
        </p:spPr>
      </p:sp>
      <p:sp>
        <p:nvSpPr>
          <p:cNvPr id="6" name="asset-a">
            <a:extLst xmlns:a="http://schemas.openxmlformats.org/drawingml/2006/main">
              <a:ext uri="{FF2B5EF4-FFF2-40B4-BE49-F238E27FC236}">
                <a16:creationId xmlns:a16="http://schemas.microsoft.com/office/drawing/2014/main" id="{AD7E087B-0CD2-49FA-B272-8922EBD4AC8E}"/>
              </a:ext>
            </a:extLst>
          </p:cNvPr>
          <p:cNvSpPr>
            <a:spLocks xmlns:a="http://schemas.openxmlformats.org/drawingml/2006/main" noGrp="1"/>
          </p:cNvSpPr>
          <p:nvPr/>
        </p:nvSpPr>
        <p:spPr>
          <a:xfrm xmlns:a="http://schemas.openxmlformats.org/drawingml/2006/main">
            <a:off x="1238250" y="3562350"/>
            <a:ext cx="1066800" cy="1066800"/>
          </a:xfrm>
          <a:prstGeom xmlns:a="http://schemas.openxmlformats.org/drawingml/2006/main" prst="ellipse">
            <a:avLst/>
          </a:prstGeom>
          <a:solidFill xmlns:a="http://schemas.openxmlformats.org/drawingml/2006/main">
            <a:srgbClr val="19151A"/>
          </a:solidFill>
          <a:ln xmlns:a="http://schemas.openxmlformats.org/drawingml/2006/main" w="0">
            <a:noFill/>
            <a:prstDash val="solid"/>
          </a:ln>
        </p:spPr>
      </p:sp>
      <p:sp>
        <p:nvSpPr>
          <p:cNvPr id="7" name="asset-b">
            <a:extLst xmlns:a="http://schemas.openxmlformats.org/drawingml/2006/main">
              <a:ext uri="{FF2B5EF4-FFF2-40B4-BE49-F238E27FC236}">
                <a16:creationId xmlns:a16="http://schemas.microsoft.com/office/drawing/2014/main" id="{CA59CE5C-9F03-4FD0-9C53-BEACCF2B16A2}"/>
              </a:ext>
            </a:extLst>
          </p:cNvPr>
          <p:cNvSpPr>
            <a:spLocks xmlns:a="http://schemas.openxmlformats.org/drawingml/2006/main" noGrp="1"/>
          </p:cNvSpPr>
          <p:nvPr/>
        </p:nvSpPr>
        <p:spPr>
          <a:xfrm xmlns:a="http://schemas.openxmlformats.org/drawingml/2006/main">
            <a:off x="8953500" y="3562350"/>
            <a:ext cx="1066800" cy="10668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9151A"/>
            </a:solidFill>
            <a:prstDash val="solid"/>
          </a:ln>
        </p:spPr>
      </p:sp>
      <p:sp>
        <p:nvSpPr>
          <p:cNvPr id="8" name="fee-pulse">
            <a:extLst xmlns:a="http://schemas.openxmlformats.org/drawingml/2006/main">
              <a:ext uri="{FF2B5EF4-FFF2-40B4-BE49-F238E27FC236}">
                <a16:creationId xmlns:a16="http://schemas.microsoft.com/office/drawing/2014/main" id="{57EB437A-D92B-4FCB-BC1D-A579CC427CA1}"/>
              </a:ext>
            </a:extLst>
          </p:cNvPr>
          <p:cNvSpPr>
            <a:spLocks xmlns:a="http://schemas.openxmlformats.org/drawingml/2006/main" noGrp="1"/>
          </p:cNvSpPr>
          <p:nvPr/>
        </p:nvSpPr>
        <p:spPr>
          <a:xfrm xmlns:a="http://schemas.openxmlformats.org/drawingml/2006/main">
            <a:off x="6762750" y="3238500"/>
            <a:ext cx="1714500" cy="1714500"/>
          </a:xfrm>
          <a:prstGeom xmlns:a="http://schemas.openxmlformats.org/drawingml/2006/main" prst="ellipse">
            <a:avLst/>
          </a:prstGeom>
          <a:solidFill xmlns:a="http://schemas.openxmlformats.org/drawingml/2006/main">
            <a:srgbClr val="F8E7F0"/>
          </a:solidFill>
          <a:ln xmlns:a="http://schemas.openxmlformats.org/drawingml/2006/main" w="38100">
            <a:solidFill>
              <a:srgbClr val="FF007A"/>
            </a:solidFill>
            <a:prstDash val="solid"/>
          </a:ln>
        </p:spPr>
      </p:sp>
      <p:sp>
        <p:nvSpPr>
          <p:cNvPr id="9" name="fee-core">
            <a:extLst xmlns:a="http://schemas.openxmlformats.org/drawingml/2006/main">
              <a:ext uri="{FF2B5EF4-FFF2-40B4-BE49-F238E27FC236}">
                <a16:creationId xmlns:a16="http://schemas.microsoft.com/office/drawing/2014/main" id="{97C4F58D-9D02-45CD-8321-104509945D77}"/>
              </a:ext>
            </a:extLst>
          </p:cNvPr>
          <p:cNvSpPr>
            <a:spLocks xmlns:a="http://schemas.openxmlformats.org/drawingml/2006/main" noGrp="1"/>
          </p:cNvSpPr>
          <p:nvPr/>
        </p:nvSpPr>
        <p:spPr>
          <a:xfrm xmlns:a="http://schemas.openxmlformats.org/drawingml/2006/main">
            <a:off x="7191375" y="3667125"/>
            <a:ext cx="857250" cy="857250"/>
          </a:xfrm>
          <a:prstGeom xmlns:a="http://schemas.openxmlformats.org/drawingml/2006/main" prst="ellipse">
            <a:avLst/>
          </a:prstGeom>
          <a:solidFill xmlns:a="http://schemas.openxmlformats.org/drawingml/2006/main">
            <a:srgbClr val="FF007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D7A57F7-AAC2-4835-91ED-AE6855E345F6}"/>
              </a:ext>
            </a:extLst>
          </p:cNvPr>
          <p:cNvSpPr>
            <a:spLocks xmlns:a="http://schemas.openxmlformats.org/drawingml/2006/main" noGrp="1"/>
          </p:cNvSpPr>
          <p:nvPr/>
        </p:nvSpPr>
        <p:spPr>
          <a:xfrm xmlns:a="http://schemas.openxmlformats.org/drawingml/2006/main">
            <a:off x="1238250" y="3848100"/>
            <a:ext cx="1066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3000" b="1">
                <a:solidFill>
                  <a:srgbClr val="FFFFFF"/>
                </a:solidFill>
                <a:latin typeface="SF Mono"/>
                <a:ea typeface="SF Mono"/>
                <a:cs typeface="SF Mono"/>
              </a:rPr>
              <a:t>A</a:t>
            </a:r>
          </a:p>
        </p:txBody>
      </p:sp>
      <p:sp>
        <p:nvSpPr>
          <p:cNvPr id="11" name="">
            <a:extLst xmlns:a="http://schemas.openxmlformats.org/drawingml/2006/main">
              <a:ext uri="{FF2B5EF4-FFF2-40B4-BE49-F238E27FC236}">
                <a16:creationId xmlns:a16="http://schemas.microsoft.com/office/drawing/2014/main" id="{35A03CEB-3E2C-40A9-B60A-C882D72FF00A}"/>
              </a:ext>
            </a:extLst>
          </p:cNvPr>
          <p:cNvSpPr>
            <a:spLocks xmlns:a="http://schemas.openxmlformats.org/drawingml/2006/main" noGrp="1"/>
          </p:cNvSpPr>
          <p:nvPr/>
        </p:nvSpPr>
        <p:spPr>
          <a:xfrm xmlns:a="http://schemas.openxmlformats.org/drawingml/2006/main">
            <a:off x="8953500" y="3848100"/>
            <a:ext cx="1066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3000" b="1">
                <a:solidFill>
                  <a:srgbClr val="19151A"/>
                </a:solidFill>
                <a:latin typeface="SF Mono"/>
                <a:ea typeface="SF Mono"/>
                <a:cs typeface="SF Mono"/>
              </a:rPr>
              <a:t>B</a:t>
            </a:r>
          </a:p>
        </p:txBody>
      </p:sp>
      <p:sp>
        <p:nvSpPr>
          <p:cNvPr id="12" name="">
            <a:extLst xmlns:a="http://schemas.openxmlformats.org/drawingml/2006/main">
              <a:ext uri="{FF2B5EF4-FFF2-40B4-BE49-F238E27FC236}">
                <a16:creationId xmlns:a16="http://schemas.microsoft.com/office/drawing/2014/main" id="{47E99AF8-FDC1-47C2-A76E-A7F4BC7176B3}"/>
              </a:ext>
            </a:extLst>
          </p:cNvPr>
          <p:cNvSpPr>
            <a:spLocks xmlns:a="http://schemas.openxmlformats.org/drawingml/2006/main" noGrp="1"/>
          </p:cNvSpPr>
          <p:nvPr/>
        </p:nvSpPr>
        <p:spPr>
          <a:xfrm xmlns:a="http://schemas.openxmlformats.org/drawingml/2006/main">
            <a:off x="7191375" y="3914775"/>
            <a:ext cx="85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1600" b="1">
                <a:solidFill>
                  <a:srgbClr val="FFFFFF"/>
                </a:solidFill>
                <a:latin typeface="SF Mono"/>
                <a:ea typeface="SF Mono"/>
                <a:cs typeface="SF Mono"/>
              </a:rPr>
              <a:t>FEE</a:t>
            </a:r>
          </a:p>
        </p:txBody>
      </p:sp>
      <p:sp>
        <p:nvSpPr>
          <p:cNvPr id="13" name="swap-label">
            <a:extLst xmlns:a="http://schemas.openxmlformats.org/drawingml/2006/main">
              <a:ext uri="{FF2B5EF4-FFF2-40B4-BE49-F238E27FC236}">
                <a16:creationId xmlns:a16="http://schemas.microsoft.com/office/drawing/2014/main" id="{09189E98-601F-4D08-AA35-0D3D6A1AAAB5}"/>
              </a:ext>
            </a:extLst>
          </p:cNvPr>
          <p:cNvSpPr>
            <a:spLocks xmlns:a="http://schemas.openxmlformats.org/drawingml/2006/main" noGrp="1"/>
          </p:cNvSpPr>
          <p:nvPr/>
        </p:nvSpPr>
        <p:spPr>
          <a:xfrm xmlns:a="http://schemas.openxmlformats.org/drawingml/2006/main">
            <a:off x="1428750" y="5029200"/>
            <a:ext cx="533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19151A"/>
                </a:solidFill>
                <a:latin typeface="Helvetica Neue"/>
                <a:ea typeface="Helvetica Neue"/>
                <a:cs typeface="Helvetica Neue"/>
              </a:rPr>
              <a:t>Có người giao dịch trên Uniswap</a:t>
            </a:r>
          </a:p>
        </p:txBody>
      </p:sp>
      <p:sp>
        <p:nvSpPr>
          <p:cNvPr id="14" name="fee-explanation">
            <a:extLst xmlns:a="http://schemas.openxmlformats.org/drawingml/2006/main">
              <a:ext uri="{FF2B5EF4-FFF2-40B4-BE49-F238E27FC236}">
                <a16:creationId xmlns:a16="http://schemas.microsoft.com/office/drawing/2014/main" id="{B4D698D6-DC4F-4186-9A75-F7A857611060}"/>
              </a:ext>
            </a:extLst>
          </p:cNvPr>
          <p:cNvSpPr>
            <a:spLocks xmlns:a="http://schemas.openxmlformats.org/drawingml/2006/main" noGrp="1"/>
          </p:cNvSpPr>
          <p:nvPr/>
        </p:nvSpPr>
        <p:spPr>
          <a:xfrm xmlns:a="http://schemas.openxmlformats.org/drawingml/2006/main">
            <a:off x="1428750" y="57912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0">
                <a:solidFill>
                  <a:srgbClr val="726A74"/>
                </a:solidFill>
                <a:latin typeface="Helvetica Neue"/>
                <a:ea typeface="Helvetica Neue"/>
                <a:cs typeface="Helvetica Neue"/>
              </a:rPr>
              <a:t>Mỗi lần đổi token đều trả phí theo quy tắc của pool</a:t>
            </a:r>
          </a:p>
        </p:txBody>
      </p:sp>
    </p:spTree>
    <p:extLst>
      <p:ext uri="{BB962C8B-B14F-4D97-AF65-F5344CB8AC3E}">
        <p14:creationId xmlns:p14="http://schemas.microsoft.com/office/powerpoint/2010/main" val="14897029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age-4">
            <a:extLst xmlns:a="http://schemas.openxmlformats.org/drawingml/2006/main">
              <a:ext uri="{FF2B5EF4-FFF2-40B4-BE49-F238E27FC236}">
                <a16:creationId xmlns:a16="http://schemas.microsoft.com/office/drawing/2014/main" id="{56797ED0-DD54-4B72-B22D-9DA1BB18CE1F}"/>
              </a:ext>
            </a:extLst>
          </p:cNvPr>
          <p:cNvSpPr>
            <a:spLocks xmlns:a="http://schemas.openxmlformats.org/drawingml/2006/main" noGrp="1"/>
          </p:cNvSpPr>
          <p:nvPr/>
        </p:nvSpPr>
        <p:spPr>
          <a:xfrm xmlns:a="http://schemas.openxmlformats.org/drawingml/2006/main">
            <a:off x="10668000" y="4191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r>
              <a:rPr sz="1200" b="0">
                <a:solidFill>
                  <a:srgbClr val="726A74"/>
                </a:solidFill>
                <a:latin typeface="SF Mono"/>
                <a:ea typeface="SF Mono"/>
                <a:cs typeface="SF Mono"/>
              </a:rPr>
              <a:t>04 / 08</a:t>
            </a:r>
          </a:p>
        </p:txBody>
      </p:sp>
      <p:sp>
        <p:nvSpPr>
          <p:cNvPr id="2" name="slide-4-title">
            <a:extLst xmlns:a="http://schemas.openxmlformats.org/drawingml/2006/main">
              <a:ext uri="{FF2B5EF4-FFF2-40B4-BE49-F238E27FC236}">
                <a16:creationId xmlns:a16="http://schemas.microsoft.com/office/drawing/2014/main" id="{40100F1F-9D61-4B7B-8283-FE461625E39E}"/>
              </a:ext>
            </a:extLst>
          </p:cNvPr>
          <p:cNvSpPr>
            <a:spLocks xmlns:a="http://schemas.openxmlformats.org/drawingml/2006/main" noGrp="1"/>
          </p:cNvSpPr>
          <p:nvPr/>
        </p:nvSpPr>
        <p:spPr>
          <a:xfrm xmlns:a="http://schemas.openxmlformats.org/drawingml/2006/main">
            <a:off x="609600" y="6858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3500" b="1">
                <a:solidFill>
                  <a:srgbClr val="19151A"/>
                </a:solidFill>
                <a:latin typeface="Helvetica Neue"/>
                <a:ea typeface="Helvetica Neue"/>
                <a:cs typeface="Helvetica Neue"/>
              </a:rPr>
              <a:t>Cung cấp tài sản giao dịch có thể được chia phí</a:t>
            </a:r>
          </a:p>
        </p:txBody>
      </p:sp>
      <p:sp>
        <p:nvSpPr>
          <p:cNvPr id="3" name="subtitle">
            <a:extLst xmlns:a="http://schemas.openxmlformats.org/drawingml/2006/main">
              <a:ext uri="{FF2B5EF4-FFF2-40B4-BE49-F238E27FC236}">
                <a16:creationId xmlns:a16="http://schemas.microsoft.com/office/drawing/2014/main" id="{3F58B54B-ED9C-43D0-AC4F-47C235E4949F}"/>
              </a:ext>
            </a:extLst>
          </p:cNvPr>
          <p:cNvSpPr>
            <a:spLocks xmlns:a="http://schemas.openxmlformats.org/drawingml/2006/main" noGrp="1"/>
          </p:cNvSpPr>
          <p:nvPr/>
        </p:nvSpPr>
        <p:spPr>
          <a:xfrm xmlns:a="http://schemas.openxmlformats.org/drawingml/2006/main">
            <a:off x="609600" y="158115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800" b="0">
                <a:solidFill>
                  <a:srgbClr val="726A74"/>
                </a:solidFill>
                <a:latin typeface="Helvetica Neue"/>
                <a:ea typeface="Helvetica Neue"/>
                <a:cs typeface="Helvetica Neue"/>
              </a:rPr>
              <a:t>Người tham gia nhận quyền hưởng phí theo quy tắc</a:t>
            </a:r>
          </a:p>
        </p:txBody>
      </p:sp>
      <p:sp>
        <p:nvSpPr>
          <p:cNvPr id="4" name="trade-assets-connector">
            <a:extLst xmlns:a="http://schemas.openxmlformats.org/drawingml/2006/main">
              <a:ext uri="{FF2B5EF4-FFF2-40B4-BE49-F238E27FC236}">
                <a16:creationId xmlns:a16="http://schemas.microsoft.com/office/drawing/2014/main" id="{BF2A1F67-6342-4BD0-9F4B-6A56BF75EA00}"/>
              </a:ext>
            </a:extLst>
          </p:cNvPr>
          <p:cNvSpPr>
            <a:spLocks xmlns:a="http://schemas.openxmlformats.org/drawingml/2006/main" noGrp="1"/>
          </p:cNvSpPr>
          <p:nvPr/>
        </p:nvSpPr>
        <p:spPr>
          <a:xfrm xmlns:a="http://schemas.openxmlformats.org/drawingml/2006/main">
            <a:off x="2419350" y="4000500"/>
            <a:ext cx="3067050" cy="0"/>
          </a:xfrm>
          <a:prstGeom xmlns:a="http://schemas.openxmlformats.org/drawingml/2006/main" prst="line">
            <a:avLst/>
          </a:prstGeom>
          <a:noFill xmlns:a="http://schemas.openxmlformats.org/drawingml/2006/main"/>
          <a:ln xmlns:a="http://schemas.openxmlformats.org/drawingml/2006/main" w="38100">
            <a:solidFill>
              <a:srgbClr val="FF007A"/>
            </a:solidFill>
            <a:prstDash val="solid"/>
          </a:ln>
        </p:spPr>
      </p:sp>
      <p:sp>
        <p:nvSpPr>
          <p:cNvPr id="5" name="assets-fee-connector">
            <a:extLst xmlns:a="http://schemas.openxmlformats.org/drawingml/2006/main">
              <a:ext uri="{FF2B5EF4-FFF2-40B4-BE49-F238E27FC236}">
                <a16:creationId xmlns:a16="http://schemas.microsoft.com/office/drawing/2014/main" id="{90BE6F67-D835-46F7-9DE8-066A29E90A25}"/>
              </a:ext>
            </a:extLst>
          </p:cNvPr>
          <p:cNvSpPr>
            <a:spLocks xmlns:a="http://schemas.openxmlformats.org/drawingml/2006/main" noGrp="1"/>
          </p:cNvSpPr>
          <p:nvPr/>
        </p:nvSpPr>
        <p:spPr>
          <a:xfrm xmlns:a="http://schemas.openxmlformats.org/drawingml/2006/main">
            <a:off x="6553200" y="4000500"/>
            <a:ext cx="3067050" cy="0"/>
          </a:xfrm>
          <a:prstGeom xmlns:a="http://schemas.openxmlformats.org/drawingml/2006/main" prst="line">
            <a:avLst/>
          </a:prstGeom>
          <a:noFill xmlns:a="http://schemas.openxmlformats.org/drawingml/2006/main"/>
          <a:ln xmlns:a="http://schemas.openxmlformats.org/drawingml/2006/main" w="38100">
            <a:solidFill>
              <a:srgbClr val="FF007A"/>
            </a:solidFill>
            <a:prstDash val="solid"/>
          </a:ln>
        </p:spPr>
      </p:sp>
      <p:sp>
        <p:nvSpPr>
          <p:cNvPr id="6" name="trade-node">
            <a:extLst xmlns:a="http://schemas.openxmlformats.org/drawingml/2006/main">
              <a:ext uri="{FF2B5EF4-FFF2-40B4-BE49-F238E27FC236}">
                <a16:creationId xmlns:a16="http://schemas.microsoft.com/office/drawing/2014/main" id="{385E776B-839B-4727-8F15-C05B49EDED02}"/>
              </a:ext>
            </a:extLst>
          </p:cNvPr>
          <p:cNvSpPr>
            <a:spLocks xmlns:a="http://schemas.openxmlformats.org/drawingml/2006/main" noGrp="1"/>
          </p:cNvSpPr>
          <p:nvPr/>
        </p:nvSpPr>
        <p:spPr>
          <a:xfrm xmlns:a="http://schemas.openxmlformats.org/drawingml/2006/main">
            <a:off x="1181100" y="2914650"/>
            <a:ext cx="2190750" cy="2190750"/>
          </a:xfrm>
          <a:prstGeom xmlns:a="http://schemas.openxmlformats.org/drawingml/2006/main" prst="ellipse">
            <a:avLst/>
          </a:prstGeom>
          <a:solidFill xmlns:a="http://schemas.openxmlformats.org/drawingml/2006/main">
            <a:srgbClr val="19151A"/>
          </a:solidFill>
          <a:ln xmlns:a="http://schemas.openxmlformats.org/drawingml/2006/main" w="0">
            <a:noFill/>
            <a:prstDash val="solid"/>
          </a:ln>
        </p:spPr>
      </p:sp>
      <p:sp>
        <p:nvSpPr>
          <p:cNvPr id="7" name="trade-node-label">
            <a:extLst xmlns:a="http://schemas.openxmlformats.org/drawingml/2006/main">
              <a:ext uri="{FF2B5EF4-FFF2-40B4-BE49-F238E27FC236}">
                <a16:creationId xmlns:a16="http://schemas.microsoft.com/office/drawing/2014/main" id="{0868B88E-C9E4-4BAD-ABA2-5D76C9AAF513}"/>
              </a:ext>
            </a:extLst>
          </p:cNvPr>
          <p:cNvSpPr>
            <a:spLocks xmlns:a="http://schemas.openxmlformats.org/drawingml/2006/main" noGrp="1"/>
          </p:cNvSpPr>
          <p:nvPr/>
        </p:nvSpPr>
        <p:spPr>
          <a:xfrm xmlns:a="http://schemas.openxmlformats.org/drawingml/2006/main">
            <a:off x="1447800" y="3562350"/>
            <a:ext cx="16573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2400" b="1">
                <a:solidFill>
                  <a:srgbClr val="FFFFFF"/>
                </a:solidFill>
                <a:latin typeface="Helvetica Neue"/>
                <a:ea typeface="Helvetica Neue"/>
                <a:cs typeface="Helvetica Neue"/>
              </a:rPr>
              <a:t>Giao dịch diễn ra</a:t>
            </a:r>
          </a:p>
        </p:txBody>
      </p:sp>
      <p:sp>
        <p:nvSpPr>
          <p:cNvPr id="8" name="assets-node">
            <a:extLst xmlns:a="http://schemas.openxmlformats.org/drawingml/2006/main">
              <a:ext uri="{FF2B5EF4-FFF2-40B4-BE49-F238E27FC236}">
                <a16:creationId xmlns:a16="http://schemas.microsoft.com/office/drawing/2014/main" id="{2496F139-B27D-48BB-9015-99B09C149C08}"/>
              </a:ext>
            </a:extLst>
          </p:cNvPr>
          <p:cNvSpPr>
            <a:spLocks xmlns:a="http://schemas.openxmlformats.org/drawingml/2006/main" noGrp="1"/>
          </p:cNvSpPr>
          <p:nvPr/>
        </p:nvSpPr>
        <p:spPr>
          <a:xfrm xmlns:a="http://schemas.openxmlformats.org/drawingml/2006/main">
            <a:off x="5010150" y="2914650"/>
            <a:ext cx="2190750" cy="2190750"/>
          </a:xfrm>
          <a:prstGeom xmlns:a="http://schemas.openxmlformats.org/drawingml/2006/main" prst="ellipse">
            <a:avLst/>
          </a:prstGeom>
          <a:solidFill xmlns:a="http://schemas.openxmlformats.org/drawingml/2006/main">
            <a:srgbClr val="F8E7F0"/>
          </a:solidFill>
          <a:ln xmlns:a="http://schemas.openxmlformats.org/drawingml/2006/main" w="19050">
            <a:solidFill>
              <a:srgbClr val="FF007A"/>
            </a:solidFill>
            <a:prstDash val="solid"/>
          </a:ln>
        </p:spPr>
      </p:sp>
      <p:sp>
        <p:nvSpPr>
          <p:cNvPr id="9" name="assets-node-label">
            <a:extLst xmlns:a="http://schemas.openxmlformats.org/drawingml/2006/main">
              <a:ext uri="{FF2B5EF4-FFF2-40B4-BE49-F238E27FC236}">
                <a16:creationId xmlns:a16="http://schemas.microsoft.com/office/drawing/2014/main" id="{D937E572-9566-4067-8C0B-1F1E74EA0EAA}"/>
              </a:ext>
            </a:extLst>
          </p:cNvPr>
          <p:cNvSpPr>
            <a:spLocks xmlns:a="http://schemas.openxmlformats.org/drawingml/2006/main" noGrp="1"/>
          </p:cNvSpPr>
          <p:nvPr/>
        </p:nvSpPr>
        <p:spPr>
          <a:xfrm xmlns:a="http://schemas.openxmlformats.org/drawingml/2006/main">
            <a:off x="5276850" y="3562350"/>
            <a:ext cx="16573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2400" b="1">
                <a:solidFill>
                  <a:srgbClr val="19151A"/>
                </a:solidFill>
                <a:latin typeface="Helvetica Neue"/>
                <a:ea typeface="Helvetica Neue"/>
                <a:cs typeface="Helvetica Neue"/>
              </a:rPr>
              <a:t>Tài sản của bạn hỗ trợ giao dịch</a:t>
            </a:r>
          </a:p>
        </p:txBody>
      </p:sp>
      <p:sp>
        <p:nvSpPr>
          <p:cNvPr id="10" name="fee-share-node">
            <a:extLst xmlns:a="http://schemas.openxmlformats.org/drawingml/2006/main">
              <a:ext uri="{FF2B5EF4-FFF2-40B4-BE49-F238E27FC236}">
                <a16:creationId xmlns:a16="http://schemas.microsoft.com/office/drawing/2014/main" id="{11822E71-ABFF-4E46-8E9B-2C5B4EECC4C5}"/>
              </a:ext>
            </a:extLst>
          </p:cNvPr>
          <p:cNvSpPr>
            <a:spLocks xmlns:a="http://schemas.openxmlformats.org/drawingml/2006/main" noGrp="1"/>
          </p:cNvSpPr>
          <p:nvPr/>
        </p:nvSpPr>
        <p:spPr>
          <a:xfrm xmlns:a="http://schemas.openxmlformats.org/drawingml/2006/main">
            <a:off x="8839200" y="2914650"/>
            <a:ext cx="2190750" cy="2190750"/>
          </a:xfrm>
          <a:prstGeom xmlns:a="http://schemas.openxmlformats.org/drawingml/2006/main" prst="ellipse">
            <a:avLst/>
          </a:prstGeom>
          <a:solidFill xmlns:a="http://schemas.openxmlformats.org/drawingml/2006/main">
            <a:srgbClr val="FF007A"/>
          </a:solidFill>
          <a:ln xmlns:a="http://schemas.openxmlformats.org/drawingml/2006/main" w="0">
            <a:noFill/>
            <a:prstDash val="solid"/>
          </a:ln>
        </p:spPr>
      </p:sp>
      <p:sp>
        <p:nvSpPr>
          <p:cNvPr id="11" name="fee-share-node-label">
            <a:extLst xmlns:a="http://schemas.openxmlformats.org/drawingml/2006/main">
              <a:ext uri="{FF2B5EF4-FFF2-40B4-BE49-F238E27FC236}">
                <a16:creationId xmlns:a16="http://schemas.microsoft.com/office/drawing/2014/main" id="{C418281D-F5B7-4CCE-AC1A-3CEA92780BD7}"/>
              </a:ext>
            </a:extLst>
          </p:cNvPr>
          <p:cNvSpPr>
            <a:spLocks xmlns:a="http://schemas.openxmlformats.org/drawingml/2006/main" noGrp="1"/>
          </p:cNvSpPr>
          <p:nvPr/>
        </p:nvSpPr>
        <p:spPr>
          <a:xfrm xmlns:a="http://schemas.openxmlformats.org/drawingml/2006/main">
            <a:off x="8991600" y="3562350"/>
            <a:ext cx="18859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2400" b="1">
                <a:solidFill>
                  <a:srgbClr val="FFFFFF"/>
                </a:solidFill>
                <a:latin typeface="Helvetica Neue"/>
                <a:ea typeface="Helvetica Neue"/>
                <a:cs typeface="Helvetica Neue"/>
              </a:rPr>
              <a:t>Chia sẻ phí</a:t>
            </a:r>
          </a:p>
        </p:txBody>
      </p:sp>
    </p:spTree>
    <p:extLst>
      <p:ext uri="{BB962C8B-B14F-4D97-AF65-F5344CB8AC3E}">
        <p14:creationId xmlns:p14="http://schemas.microsoft.com/office/powerpoint/2010/main" val="1651789907"/>
      </p:ext>
    </p:extLst>
  </p:cSld>
</p:sld>
</file>

<file path=ppt/slides/slide5.xml><?xml version="1.0" encoding="utf-8"?>
<p:sld xmlns:p="http://schemas.openxmlformats.org/presentationml/2006/main">
  <p:cSld>
    <p:bg>
      <p:bgPr>
        <a:solidFill xmlns:a="http://schemas.openxmlformats.org/drawingml/2006/main">
          <a:srgbClr val="F8E7F0"/>
        </a:solidFill>
      </p:bgPr>
    </p:bg>
    <p:spTree>
      <p:nvGrpSpPr>
        <p:cNvPr id="1" name=""/>
        <p:cNvGrpSpPr/>
        <p:nvPr/>
      </p:nvGrpSpPr>
      <p:grpSpPr>
        <a:xfrm xmlns:a="http://schemas.openxmlformats.org/drawingml/2006/main"/>
      </p:grpSpPr>
      <p:sp>
        <p:nvSpPr>
          <p:cNvPr id="14" name="page-5">
            <a:extLst xmlns:a="http://schemas.openxmlformats.org/drawingml/2006/main">
              <a:ext uri="{FF2B5EF4-FFF2-40B4-BE49-F238E27FC236}">
                <a16:creationId xmlns:a16="http://schemas.microsoft.com/office/drawing/2014/main" id="{00777EA6-B0F2-4DA0-9322-4B8F7B1B9EE4}"/>
              </a:ext>
            </a:extLst>
          </p:cNvPr>
          <p:cNvSpPr>
            <a:spLocks xmlns:a="http://schemas.openxmlformats.org/drawingml/2006/main" noGrp="1"/>
          </p:cNvSpPr>
          <p:nvPr/>
        </p:nvSpPr>
        <p:spPr>
          <a:xfrm xmlns:a="http://schemas.openxmlformats.org/drawingml/2006/main">
            <a:off x="10668000" y="4191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r>
              <a:rPr sz="1200" b="0">
                <a:solidFill>
                  <a:srgbClr val="726A74"/>
                </a:solidFill>
                <a:latin typeface="SF Mono"/>
                <a:ea typeface="SF Mono"/>
                <a:cs typeface="SF Mono"/>
              </a:rPr>
              <a:t>05 / 08</a:t>
            </a:r>
          </a:p>
        </p:txBody>
      </p:sp>
      <p:sp>
        <p:nvSpPr>
          <p:cNvPr id="2" name="slide-5-title">
            <a:extLst xmlns:a="http://schemas.openxmlformats.org/drawingml/2006/main">
              <a:ext uri="{FF2B5EF4-FFF2-40B4-BE49-F238E27FC236}">
                <a16:creationId xmlns:a16="http://schemas.microsoft.com/office/drawing/2014/main" id="{0869212F-A3CA-4728-A3B2-86184BF12AFA}"/>
              </a:ext>
            </a:extLst>
          </p:cNvPr>
          <p:cNvSpPr>
            <a:spLocks xmlns:a="http://schemas.openxmlformats.org/drawingml/2006/main" noGrp="1"/>
          </p:cNvSpPr>
          <p:nvPr/>
        </p:nvSpPr>
        <p:spPr>
          <a:xfrm xmlns:a="http://schemas.openxmlformats.org/drawingml/2006/main">
            <a:off x="609600" y="685800"/>
            <a:ext cx="1028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3500" b="1">
                <a:solidFill>
                  <a:srgbClr val="19151A"/>
                </a:solidFill>
                <a:latin typeface="Helvetica Neue"/>
                <a:ea typeface="Helvetica Neue"/>
                <a:cs typeface="Helvetica Neue"/>
              </a:rPr>
              <a:t>Tự quản lý không hề đơn giản</a:t>
            </a:r>
          </a:p>
        </p:txBody>
      </p:sp>
      <p:sp>
        <p:nvSpPr>
          <p:cNvPr id="3" name="subtitle">
            <a:extLst xmlns:a="http://schemas.openxmlformats.org/drawingml/2006/main">
              <a:ext uri="{FF2B5EF4-FFF2-40B4-BE49-F238E27FC236}">
                <a16:creationId xmlns:a16="http://schemas.microsoft.com/office/drawing/2014/main" id="{2AAD9A1D-49B1-4842-AB6B-608DAF3678AF}"/>
              </a:ext>
            </a:extLst>
          </p:cNvPr>
          <p:cNvSpPr>
            <a:spLocks xmlns:a="http://schemas.openxmlformats.org/drawingml/2006/main" noGrp="1"/>
          </p:cNvSpPr>
          <p:nvPr/>
        </p:nvSpPr>
        <p:spPr>
          <a:xfrm xmlns:a="http://schemas.openxmlformats.org/drawingml/2006/main">
            <a:off x="609600" y="158115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800" b="0">
                <a:solidFill>
                  <a:srgbClr val="726A74"/>
                </a:solidFill>
                <a:latin typeface="Helvetica Neue"/>
                <a:ea typeface="Helvetica Neue"/>
                <a:cs typeface="Helvetica Neue"/>
              </a:rPr>
              <a:t>Phân bổ, vùng giá, theo dõi và điều chỉnh đều quan trọng</a:t>
            </a:r>
          </a:p>
        </p:txBody>
      </p:sp>
      <p:sp>
        <p:nvSpPr>
          <p:cNvPr id="4" name="difficulty-question">
            <a:extLst xmlns:a="http://schemas.openxmlformats.org/drawingml/2006/main">
              <a:ext uri="{FF2B5EF4-FFF2-40B4-BE49-F238E27FC236}">
                <a16:creationId xmlns:a16="http://schemas.microsoft.com/office/drawing/2014/main" id="{FFD12355-2BF6-49AA-B251-30506B892564}"/>
              </a:ext>
            </a:extLst>
          </p:cNvPr>
          <p:cNvSpPr>
            <a:spLocks xmlns:a="http://schemas.openxmlformats.org/drawingml/2006/main" noGrp="1"/>
          </p:cNvSpPr>
          <p:nvPr/>
        </p:nvSpPr>
        <p:spPr>
          <a:xfrm xmlns:a="http://schemas.openxmlformats.org/drawingml/2006/main">
            <a:off x="4533900" y="2590800"/>
            <a:ext cx="3124200" cy="3124200"/>
          </a:xfrm>
          <a:prstGeom xmlns:a="http://schemas.openxmlformats.org/drawingml/2006/main" prst="ellipse">
            <a:avLst/>
          </a:prstGeom>
          <a:solidFill xmlns:a="http://schemas.openxmlformats.org/drawingml/2006/main">
            <a:srgbClr val="FFFFFF"/>
          </a:solidFill>
          <a:ln xmlns:a="http://schemas.openxmlformats.org/drawingml/2006/main" w="38100">
            <a:solidFill>
              <a:srgbClr val="FF007A"/>
            </a:solidFill>
            <a:prstDash val="solid"/>
          </a:ln>
        </p:spPr>
      </p:sp>
      <p:sp>
        <p:nvSpPr>
          <p:cNvPr id="5" name="question-mark">
            <a:extLst xmlns:a="http://schemas.openxmlformats.org/drawingml/2006/main">
              <a:ext uri="{FF2B5EF4-FFF2-40B4-BE49-F238E27FC236}">
                <a16:creationId xmlns:a16="http://schemas.microsoft.com/office/drawing/2014/main" id="{F8695D27-B188-4930-A6AB-DC07DEF65B26}"/>
              </a:ext>
            </a:extLst>
          </p:cNvPr>
          <p:cNvSpPr>
            <a:spLocks xmlns:a="http://schemas.openxmlformats.org/drawingml/2006/main" noGrp="1"/>
          </p:cNvSpPr>
          <p:nvPr/>
        </p:nvSpPr>
        <p:spPr>
          <a:xfrm xmlns:a="http://schemas.openxmlformats.org/drawingml/2006/main">
            <a:off x="5391150" y="3314700"/>
            <a:ext cx="14097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11200" b="1">
                <a:solidFill>
                  <a:srgbClr val="FF007A"/>
                </a:solidFill>
                <a:latin typeface="SF Mono"/>
                <a:ea typeface="SF Mono"/>
                <a:cs typeface="SF Mono"/>
              </a:rPr>
              <a:t>?</a:t>
            </a:r>
          </a:p>
        </p:txBody>
      </p:sp>
      <p:sp>
        <p:nvSpPr>
          <p:cNvPr id="6" name="task-01-index">
            <a:extLst xmlns:a="http://schemas.openxmlformats.org/drawingml/2006/main">
              <a:ext uri="{FF2B5EF4-FFF2-40B4-BE49-F238E27FC236}">
                <a16:creationId xmlns:a16="http://schemas.microsoft.com/office/drawing/2014/main" id="{C4CF24F1-9326-4BAD-BA42-37CC84B3B5E4}"/>
              </a:ext>
            </a:extLst>
          </p:cNvPr>
          <p:cNvSpPr>
            <a:spLocks xmlns:a="http://schemas.openxmlformats.org/drawingml/2006/main" noGrp="1"/>
          </p:cNvSpPr>
          <p:nvPr/>
        </p:nvSpPr>
        <p:spPr>
          <a:xfrm xmlns:a="http://schemas.openxmlformats.org/drawingml/2006/main">
            <a:off x="952500" y="2647950"/>
            <a:ext cx="647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1">
                <a:solidFill>
                  <a:srgbClr val="FF007A"/>
                </a:solidFill>
                <a:latin typeface="SF Mono"/>
                <a:ea typeface="SF Mono"/>
                <a:cs typeface="SF Mono"/>
              </a:rPr>
              <a:t>01</a:t>
            </a:r>
          </a:p>
        </p:txBody>
      </p:sp>
      <p:sp>
        <p:nvSpPr>
          <p:cNvPr id="7" name="task-01-label">
            <a:extLst xmlns:a="http://schemas.openxmlformats.org/drawingml/2006/main">
              <a:ext uri="{FF2B5EF4-FFF2-40B4-BE49-F238E27FC236}">
                <a16:creationId xmlns:a16="http://schemas.microsoft.com/office/drawing/2014/main" id="{332576DE-97AB-4B74-9FCB-32A7D7ECC2EE}"/>
              </a:ext>
            </a:extLst>
          </p:cNvPr>
          <p:cNvSpPr>
            <a:spLocks xmlns:a="http://schemas.openxmlformats.org/drawingml/2006/main" noGrp="1"/>
          </p:cNvSpPr>
          <p:nvPr/>
        </p:nvSpPr>
        <p:spPr>
          <a:xfrm xmlns:a="http://schemas.openxmlformats.org/drawingml/2006/main">
            <a:off x="952500" y="3086100"/>
            <a:ext cx="266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19151A"/>
                </a:solidFill>
                <a:latin typeface="Helvetica Neue"/>
                <a:ea typeface="Helvetica Neue"/>
                <a:cs typeface="Helvetica Neue"/>
              </a:rPr>
              <a:t>Tài sản hỗ trợ</a:t>
            </a:r>
          </a:p>
        </p:txBody>
      </p:sp>
      <p:sp>
        <p:nvSpPr>
          <p:cNvPr id="8" name="task-02-index">
            <a:extLst xmlns:a="http://schemas.openxmlformats.org/drawingml/2006/main">
              <a:ext uri="{FF2B5EF4-FFF2-40B4-BE49-F238E27FC236}">
                <a16:creationId xmlns:a16="http://schemas.microsoft.com/office/drawing/2014/main" id="{2A6AD216-FD17-406E-8196-965464AC775C}"/>
              </a:ext>
            </a:extLst>
          </p:cNvPr>
          <p:cNvSpPr>
            <a:spLocks xmlns:a="http://schemas.openxmlformats.org/drawingml/2006/main" noGrp="1"/>
          </p:cNvSpPr>
          <p:nvPr/>
        </p:nvSpPr>
        <p:spPr>
          <a:xfrm xmlns:a="http://schemas.openxmlformats.org/drawingml/2006/main">
            <a:off x="8705850" y="2647950"/>
            <a:ext cx="647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1">
                <a:solidFill>
                  <a:srgbClr val="FF007A"/>
                </a:solidFill>
                <a:latin typeface="SF Mono"/>
                <a:ea typeface="SF Mono"/>
                <a:cs typeface="SF Mono"/>
              </a:rPr>
              <a:t>02</a:t>
            </a:r>
          </a:p>
        </p:txBody>
      </p:sp>
      <p:sp>
        <p:nvSpPr>
          <p:cNvPr id="9" name="task-02-label">
            <a:extLst xmlns:a="http://schemas.openxmlformats.org/drawingml/2006/main">
              <a:ext uri="{FF2B5EF4-FFF2-40B4-BE49-F238E27FC236}">
                <a16:creationId xmlns:a16="http://schemas.microsoft.com/office/drawing/2014/main" id="{79DA3C60-B43A-4030-9A77-FFFD9B479F41}"/>
              </a:ext>
            </a:extLst>
          </p:cNvPr>
          <p:cNvSpPr>
            <a:spLocks xmlns:a="http://schemas.openxmlformats.org/drawingml/2006/main" noGrp="1"/>
          </p:cNvSpPr>
          <p:nvPr/>
        </p:nvSpPr>
        <p:spPr>
          <a:xfrm xmlns:a="http://schemas.openxmlformats.org/drawingml/2006/main">
            <a:off x="8705850" y="3086100"/>
            <a:ext cx="266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19151A"/>
                </a:solidFill>
                <a:latin typeface="Helvetica Neue"/>
                <a:ea typeface="Helvetica Neue"/>
                <a:cs typeface="Helvetica Neue"/>
              </a:rPr>
              <a:t>Tìm hiểu quy tắc của pool trước</a:t>
            </a:r>
          </a:p>
        </p:txBody>
      </p:sp>
      <p:sp>
        <p:nvSpPr>
          <p:cNvPr id="10" name="task-03-index">
            <a:extLst xmlns:a="http://schemas.openxmlformats.org/drawingml/2006/main">
              <a:ext uri="{FF2B5EF4-FFF2-40B4-BE49-F238E27FC236}">
                <a16:creationId xmlns:a16="http://schemas.microsoft.com/office/drawing/2014/main" id="{D0AC1821-2D9D-4D68-AE7A-DFE575954F59}"/>
              </a:ext>
            </a:extLst>
          </p:cNvPr>
          <p:cNvSpPr>
            <a:spLocks xmlns:a="http://schemas.openxmlformats.org/drawingml/2006/main" noGrp="1"/>
          </p:cNvSpPr>
          <p:nvPr/>
        </p:nvSpPr>
        <p:spPr>
          <a:xfrm xmlns:a="http://schemas.openxmlformats.org/drawingml/2006/main">
            <a:off x="952500" y="4762500"/>
            <a:ext cx="647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1">
                <a:solidFill>
                  <a:srgbClr val="FF007A"/>
                </a:solidFill>
                <a:latin typeface="SF Mono"/>
                <a:ea typeface="SF Mono"/>
                <a:cs typeface="SF Mono"/>
              </a:rPr>
              <a:t>03</a:t>
            </a:r>
          </a:p>
        </p:txBody>
      </p:sp>
      <p:sp>
        <p:nvSpPr>
          <p:cNvPr id="11" name="task-03-label">
            <a:extLst xmlns:a="http://schemas.openxmlformats.org/drawingml/2006/main">
              <a:ext uri="{FF2B5EF4-FFF2-40B4-BE49-F238E27FC236}">
                <a16:creationId xmlns:a16="http://schemas.microsoft.com/office/drawing/2014/main" id="{A314DA4D-1E75-4290-8AEC-2BCE1693C891}"/>
              </a:ext>
            </a:extLst>
          </p:cNvPr>
          <p:cNvSpPr>
            <a:spLocks xmlns:a="http://schemas.openxmlformats.org/drawingml/2006/main" noGrp="1"/>
          </p:cNvSpPr>
          <p:nvPr/>
        </p:nvSpPr>
        <p:spPr>
          <a:xfrm xmlns:a="http://schemas.openxmlformats.org/drawingml/2006/main">
            <a:off x="952500" y="5200650"/>
            <a:ext cx="266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19151A"/>
                </a:solidFill>
                <a:latin typeface="Helvetica Neue"/>
                <a:ea typeface="Helvetica Neue"/>
                <a:cs typeface="Helvetica Neue"/>
              </a:rPr>
              <a:t>Tự chọn vị trí đặt vốn</a:t>
            </a:r>
          </a:p>
        </p:txBody>
      </p:sp>
      <p:sp>
        <p:nvSpPr>
          <p:cNvPr id="12" name="task-04-index">
            <a:extLst xmlns:a="http://schemas.openxmlformats.org/drawingml/2006/main">
              <a:ext uri="{FF2B5EF4-FFF2-40B4-BE49-F238E27FC236}">
                <a16:creationId xmlns:a16="http://schemas.microsoft.com/office/drawing/2014/main" id="{F3D880F4-B5EA-4706-A39E-99702722E545}"/>
              </a:ext>
            </a:extLst>
          </p:cNvPr>
          <p:cNvSpPr>
            <a:spLocks xmlns:a="http://schemas.openxmlformats.org/drawingml/2006/main" noGrp="1"/>
          </p:cNvSpPr>
          <p:nvPr/>
        </p:nvSpPr>
        <p:spPr>
          <a:xfrm xmlns:a="http://schemas.openxmlformats.org/drawingml/2006/main">
            <a:off x="8705850" y="4762500"/>
            <a:ext cx="647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1">
                <a:solidFill>
                  <a:srgbClr val="FF007A"/>
                </a:solidFill>
                <a:latin typeface="SF Mono"/>
                <a:ea typeface="SF Mono"/>
                <a:cs typeface="SF Mono"/>
              </a:rPr>
              <a:t>04</a:t>
            </a:r>
          </a:p>
        </p:txBody>
      </p:sp>
      <p:sp>
        <p:nvSpPr>
          <p:cNvPr id="13" name="task-04-label">
            <a:extLst xmlns:a="http://schemas.openxmlformats.org/drawingml/2006/main">
              <a:ext uri="{FF2B5EF4-FFF2-40B4-BE49-F238E27FC236}">
                <a16:creationId xmlns:a16="http://schemas.microsoft.com/office/drawing/2014/main" id="{775653DE-1C67-4C52-A801-A7112EC315FB}"/>
              </a:ext>
            </a:extLst>
          </p:cNvPr>
          <p:cNvSpPr>
            <a:spLocks xmlns:a="http://schemas.openxmlformats.org/drawingml/2006/main" noGrp="1"/>
          </p:cNvSpPr>
          <p:nvPr/>
        </p:nvSpPr>
        <p:spPr>
          <a:xfrm xmlns:a="http://schemas.openxmlformats.org/drawingml/2006/main">
            <a:off x="8705850" y="5200650"/>
            <a:ext cx="266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19151A"/>
                </a:solidFill>
                <a:latin typeface="Helvetica Neue"/>
                <a:ea typeface="Helvetica Neue"/>
                <a:cs typeface="Helvetica Neue"/>
              </a:rPr>
              <a:t>Tự điều chỉnh khi giá thay đổi</a:t>
            </a:r>
          </a:p>
        </p:txBody>
      </p:sp>
    </p:spTree>
    <p:extLst>
      <p:ext uri="{BB962C8B-B14F-4D97-AF65-F5344CB8AC3E}">
        <p14:creationId xmlns:p14="http://schemas.microsoft.com/office/powerpoint/2010/main" val="4176371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b7c969253174160"/>
          <a:srcRect xmlns:a="http://schemas.openxmlformats.org/drawingml/2006/main" l="18519" t="0" r="18519" b="0"/>
          <a:stretch xmlns:a="http://schemas.openxmlformats.org/drawingml/2006/main">
            <a:fillRect l="0" t="0" r="0" b="0"/>
          </a:stretch>
        </p:blipFill>
        <p:spPr>
          <a:xfrm xmlns:a="http://schemas.openxmlformats.org/drawingml/2006/main">
            <a:off x="0" y="0"/>
            <a:ext cx="6477000" cy="6858000"/>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1c7d6fe6fbc4a9a"/>
          <a:srcRect xmlns:a="http://schemas.openxmlformats.org/drawingml/2006/main" l="21854" t="0" r="21854" b="0"/>
          <a:stretch xmlns:a="http://schemas.openxmlformats.org/drawingml/2006/main">
            <a:fillRect l="0" t="0" r="0" b="0"/>
          </a:stretch>
        </p:blipFill>
        <p:spPr>
          <a:xfrm xmlns:a="http://schemas.openxmlformats.org/drawingml/2006/main">
            <a:off x="6019800" y="0"/>
            <a:ext cx="6172200" cy="6858000"/>
          </a:xfrm>
          <a:prstGeom xmlns:a="http://schemas.openxmlformats.org/drawingml/2006/main" prst="rect">
            <a:avLst/>
          </a:prstGeom>
        </p:spPr>
      </p:pic>
      <p:sp>
        <p:nvSpPr>
          <p:cNvPr id="3" name="flow-edge-mask">
            <a:extLst xmlns:a="http://schemas.openxmlformats.org/drawingml/2006/main">
              <a:ext uri="{FF2B5EF4-FFF2-40B4-BE49-F238E27FC236}">
                <a16:creationId xmlns:a16="http://schemas.microsoft.com/office/drawing/2014/main" id="{05AF6490-1EEF-48BF-9DF1-965347B11635}"/>
              </a:ext>
            </a:extLst>
          </p:cNvPr>
          <p:cNvSpPr>
            <a:spLocks xmlns:a="http://schemas.openxmlformats.org/drawingml/2006/main" noGrp="1"/>
          </p:cNvSpPr>
          <p:nvPr/>
        </p:nvSpPr>
        <p:spPr>
          <a:xfrm xmlns:a="http://schemas.openxmlformats.org/drawingml/2006/main">
            <a:off x="5715000" y="0"/>
            <a:ext cx="76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unieddy-title">
            <a:extLst xmlns:a="http://schemas.openxmlformats.org/drawingml/2006/main">
              <a:ext uri="{FF2B5EF4-FFF2-40B4-BE49-F238E27FC236}">
                <a16:creationId xmlns:a16="http://schemas.microsoft.com/office/drawing/2014/main" id="{1DDD879E-631C-4512-BFD6-F1446B60D11B}"/>
              </a:ext>
            </a:extLst>
          </p:cNvPr>
          <p:cNvSpPr>
            <a:spLocks xmlns:a="http://schemas.openxmlformats.org/drawingml/2006/main" noGrp="1"/>
          </p:cNvSpPr>
          <p:nvPr/>
        </p:nvSpPr>
        <p:spPr>
          <a:xfrm xmlns:a="http://schemas.openxmlformats.org/drawingml/2006/main">
            <a:off x="609600" y="876300"/>
            <a:ext cx="56197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3500" b="1">
                <a:solidFill>
                  <a:srgbClr val="19151A"/>
                </a:solidFill>
                <a:latin typeface="Helvetica Neue"/>
                <a:ea typeface="Helvetica Neue"/>
                <a:cs typeface="Helvetica Neue"/>
              </a:rPr>
              <a:t>UniEddy biến quản lý phức tạp thành cách tham gia đơn giản hơn</a:t>
            </a:r>
          </a:p>
        </p:txBody>
      </p:sp>
      <p:sp>
        <p:nvSpPr>
          <p:cNvPr id="5" name="unieddy-callout">
            <a:extLst xmlns:a="http://schemas.openxmlformats.org/drawingml/2006/main">
              <a:ext uri="{FF2B5EF4-FFF2-40B4-BE49-F238E27FC236}">
                <a16:creationId xmlns:a16="http://schemas.microsoft.com/office/drawing/2014/main" id="{41B839DC-FACE-4B7D-ADDB-966A1D2072C2}"/>
              </a:ext>
            </a:extLst>
          </p:cNvPr>
          <p:cNvSpPr>
            <a:spLocks xmlns:a="http://schemas.openxmlformats.org/drawingml/2006/main" noGrp="1"/>
          </p:cNvSpPr>
          <p:nvPr/>
        </p:nvSpPr>
        <p:spPr>
          <a:xfrm xmlns:a="http://schemas.openxmlformats.org/drawingml/2006/main">
            <a:off x="609600" y="2762250"/>
            <a:ext cx="4953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FF007A"/>
                </a:solidFill>
                <a:latin typeface="Helvetica Neue"/>
                <a:ea typeface="Helvetica Neue"/>
                <a:cs typeface="Helvetica Neue"/>
              </a:rPr>
              <a:t>Hệ thống theo dõi, quy tắc cố định quyết định hành động</a:t>
            </a:r>
          </a:p>
        </p:txBody>
      </p:sp>
      <p:sp>
        <p:nvSpPr>
          <p:cNvPr id="6" name="unieddy-explanation">
            <a:extLst xmlns:a="http://schemas.openxmlformats.org/drawingml/2006/main">
              <a:ext uri="{FF2B5EF4-FFF2-40B4-BE49-F238E27FC236}">
                <a16:creationId xmlns:a16="http://schemas.microsoft.com/office/drawing/2014/main" id="{AA4214F3-8DB5-4DF3-915B-0B3399B1D02E}"/>
              </a:ext>
            </a:extLst>
          </p:cNvPr>
          <p:cNvSpPr>
            <a:spLocks xmlns:a="http://schemas.openxmlformats.org/drawingml/2006/main" noGrp="1"/>
          </p:cNvSpPr>
          <p:nvPr/>
        </p:nvSpPr>
        <p:spPr>
          <a:xfrm xmlns:a="http://schemas.openxmlformats.org/drawingml/2006/main">
            <a:off x="609600" y="3810000"/>
            <a:ext cx="47625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0">
                <a:solidFill>
                  <a:srgbClr val="726A74"/>
                </a:solidFill>
                <a:latin typeface="Helvetica Neue"/>
                <a:ea typeface="Helvetica Neue"/>
                <a:cs typeface="Helvetica Neue"/>
              </a:rPr>
              <a:t>AI phân tích; quy tắc cố định quyết định có thực hiện hay không.</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ca7d7367a5744a8"/>
          <a:stretch xmlns:a="http://schemas.openxmlformats.org/drawingml/2006/main"/>
        </p:blipFill>
        <p:spPr>
          <a:xfrm xmlns:a="http://schemas.openxmlformats.org/drawingml/2006/main">
            <a:off x="7983141" y="2514600"/>
            <a:ext cx="2378869" cy="2114550"/>
          </a:xfrm>
          <a:prstGeom xmlns:a="http://schemas.openxmlformats.org/drawingml/2006/main" prst="rect">
            <a:avLst/>
          </a:prstGeom>
        </p:spPr>
      </p:pic>
      <p:sp>
        <p:nvSpPr>
          <p:cNvPr id="8" name="unieddy-wordmark">
            <a:extLst xmlns:a="http://schemas.openxmlformats.org/drawingml/2006/main">
              <a:ext uri="{FF2B5EF4-FFF2-40B4-BE49-F238E27FC236}">
                <a16:creationId xmlns:a16="http://schemas.microsoft.com/office/drawing/2014/main" id="{90F2DE78-ADA4-4D89-9416-A50DA440E1B2}"/>
              </a:ext>
            </a:extLst>
          </p:cNvPr>
          <p:cNvSpPr>
            <a:spLocks xmlns:a="http://schemas.openxmlformats.org/drawingml/2006/main" noGrp="1"/>
          </p:cNvSpPr>
          <p:nvPr/>
        </p:nvSpPr>
        <p:spPr>
          <a:xfrm xmlns:a="http://schemas.openxmlformats.org/drawingml/2006/main">
            <a:off x="8020050" y="4762500"/>
            <a:ext cx="2343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3000" b="1">
                <a:solidFill>
                  <a:srgbClr val="19151A"/>
                </a:solidFill>
                <a:latin typeface="Helvetica Neue"/>
                <a:ea typeface="Helvetica Neue"/>
                <a:cs typeface="Helvetica Neue"/>
              </a:rPr>
              <a:t>UniEddy</a:t>
            </a:r>
          </a:p>
        </p:txBody>
      </p:sp>
      <p:sp>
        <p:nvSpPr>
          <p:cNvPr id="9" name="page-6">
            <a:extLst xmlns:a="http://schemas.openxmlformats.org/drawingml/2006/main">
              <a:ext uri="{FF2B5EF4-FFF2-40B4-BE49-F238E27FC236}">
                <a16:creationId xmlns:a16="http://schemas.microsoft.com/office/drawing/2014/main" id="{626F2B29-6E79-4B69-A578-860E2E476094}"/>
              </a:ext>
            </a:extLst>
          </p:cNvPr>
          <p:cNvSpPr>
            <a:spLocks xmlns:a="http://schemas.openxmlformats.org/drawingml/2006/main" noGrp="1"/>
          </p:cNvSpPr>
          <p:nvPr/>
        </p:nvSpPr>
        <p:spPr>
          <a:xfrm xmlns:a="http://schemas.openxmlformats.org/drawingml/2006/main">
            <a:off x="10668000" y="4191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r>
              <a:rPr sz="1200" b="0">
                <a:solidFill>
                  <a:srgbClr val="726A74"/>
                </a:solidFill>
                <a:latin typeface="SF Mono"/>
                <a:ea typeface="SF Mono"/>
                <a:cs typeface="SF Mono"/>
              </a:rPr>
              <a:t>06 / 08</a:t>
            </a:r>
          </a:p>
        </p:txBody>
      </p:sp>
    </p:spTree>
    <p:extLst>
      <p:ext uri="{BB962C8B-B14F-4D97-AF65-F5344CB8AC3E}">
        <p14:creationId xmlns:p14="http://schemas.microsoft.com/office/powerpoint/2010/main" val="485776076"/>
      </p:ext>
    </p:extLst>
  </p:cSld>
</p:sld>
</file>

<file path=ppt/slides/slide7.xml><?xml version="1.0" encoding="utf-8"?>
<p:sld xmlns:p="http://schemas.openxmlformats.org/presentationml/2006/main">
  <p:cSld>
    <p:bg>
      <p:bgPr>
        <a:solidFill xmlns:a="http://schemas.openxmlformats.org/drawingml/2006/main">
          <a:srgbClr val="FFF7FB"/>
        </a:solidFill>
      </p:bgPr>
    </p:bg>
    <p:spTree>
      <p:nvGrpSpPr>
        <p:cNvPr id="1" name=""/>
        <p:cNvGrpSpPr/>
        <p:nvPr/>
      </p:nvGrpSpPr>
      <p:grpSpPr>
        <a:xfrm xmlns:a="http://schemas.openxmlformats.org/drawingml/2006/main"/>
      </p:grpSpPr>
      <p:sp>
        <p:nvSpPr>
          <p:cNvPr id="15" name="page-7">
            <a:extLst xmlns:a="http://schemas.openxmlformats.org/drawingml/2006/main">
              <a:ext uri="{FF2B5EF4-FFF2-40B4-BE49-F238E27FC236}">
                <a16:creationId xmlns:a16="http://schemas.microsoft.com/office/drawing/2014/main" id="{3F8CDB50-FD06-44A2-9EE3-225D21EB7D8F}"/>
              </a:ext>
            </a:extLst>
          </p:cNvPr>
          <p:cNvSpPr>
            <a:spLocks xmlns:a="http://schemas.openxmlformats.org/drawingml/2006/main" noGrp="1"/>
          </p:cNvSpPr>
          <p:nvPr/>
        </p:nvSpPr>
        <p:spPr>
          <a:xfrm xmlns:a="http://schemas.openxmlformats.org/drawingml/2006/main">
            <a:off x="10668000" y="4191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r>
              <a:rPr sz="1200" b="0">
                <a:solidFill>
                  <a:srgbClr val="726A74"/>
                </a:solidFill>
                <a:latin typeface="SF Mono"/>
                <a:ea typeface="SF Mono"/>
                <a:cs typeface="SF Mono"/>
              </a:rPr>
              <a:t>07 / 08</a:t>
            </a:r>
          </a:p>
        </p:txBody>
      </p:sp>
      <p:sp>
        <p:nvSpPr>
          <p:cNvPr id="2" name="slide-7-title">
            <a:extLst xmlns:a="http://schemas.openxmlformats.org/drawingml/2006/main">
              <a:ext uri="{FF2B5EF4-FFF2-40B4-BE49-F238E27FC236}">
                <a16:creationId xmlns:a16="http://schemas.microsoft.com/office/drawing/2014/main" id="{77B9A3AE-9A80-4622-AE88-7665268E2ED8}"/>
              </a:ext>
            </a:extLst>
          </p:cNvPr>
          <p:cNvSpPr>
            <a:spLocks xmlns:a="http://schemas.openxmlformats.org/drawingml/2006/main" noGrp="1"/>
          </p:cNvSpPr>
          <p:nvPr/>
        </p:nvSpPr>
        <p:spPr>
          <a:xfrm xmlns:a="http://schemas.openxmlformats.org/drawingml/2006/main">
            <a:off x="609600" y="685800"/>
            <a:ext cx="10477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3500" b="1">
                <a:solidFill>
                  <a:srgbClr val="19151A"/>
                </a:solidFill>
                <a:latin typeface="Helvetica Neue"/>
                <a:ea typeface="Helvetica Neue"/>
                <a:cs typeface="Helvetica Neue"/>
              </a:rPr>
              <a:t>Giao dịch thật. Phí thật. Có thể kiểm tra trên chuỗi.</a:t>
            </a:r>
          </a:p>
        </p:txBody>
      </p:sp>
      <p:sp>
        <p:nvSpPr>
          <p:cNvPr id="3" name="proof-01-index">
            <a:extLst xmlns:a="http://schemas.openxmlformats.org/drawingml/2006/main">
              <a:ext uri="{FF2B5EF4-FFF2-40B4-BE49-F238E27FC236}">
                <a16:creationId xmlns:a16="http://schemas.microsoft.com/office/drawing/2014/main" id="{00158546-5EC7-432C-9E4F-4E6F59E4BA1B}"/>
              </a:ext>
            </a:extLst>
          </p:cNvPr>
          <p:cNvSpPr>
            <a:spLocks xmlns:a="http://schemas.openxmlformats.org/drawingml/2006/main" noGrp="1"/>
          </p:cNvSpPr>
          <p:nvPr/>
        </p:nvSpPr>
        <p:spPr>
          <a:xfrm xmlns:a="http://schemas.openxmlformats.org/drawingml/2006/main">
            <a:off x="762000" y="211455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1">
                <a:solidFill>
                  <a:srgbClr val="FF007A"/>
                </a:solidFill>
                <a:latin typeface="SF Mono"/>
                <a:ea typeface="SF Mono"/>
                <a:cs typeface="SF Mono"/>
              </a:rPr>
              <a:t>01</a:t>
            </a:r>
          </a:p>
        </p:txBody>
      </p:sp>
      <p:sp>
        <p:nvSpPr>
          <p:cNvPr id="4" name="proof-01-label">
            <a:extLst xmlns:a="http://schemas.openxmlformats.org/drawingml/2006/main">
              <a:ext uri="{FF2B5EF4-FFF2-40B4-BE49-F238E27FC236}">
                <a16:creationId xmlns:a16="http://schemas.microsoft.com/office/drawing/2014/main" id="{11EBF9BB-F24A-4DFC-8BE6-C3EFEA30B215}"/>
              </a:ext>
            </a:extLst>
          </p:cNvPr>
          <p:cNvSpPr>
            <a:spLocks xmlns:a="http://schemas.openxmlformats.org/drawingml/2006/main" noGrp="1"/>
          </p:cNvSpPr>
          <p:nvPr/>
        </p:nvSpPr>
        <p:spPr>
          <a:xfrm xmlns:a="http://schemas.openxmlformats.org/drawingml/2006/main">
            <a:off x="1619250" y="203835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19151A"/>
                </a:solidFill>
                <a:latin typeface="Helvetica Neue"/>
                <a:ea typeface="Helvetica Neue"/>
                <a:cs typeface="Helvetica Neue"/>
              </a:rPr>
              <a:t>Giao dịch diễn ra</a:t>
            </a:r>
          </a:p>
        </p:txBody>
      </p:sp>
      <p:sp>
        <p:nvSpPr>
          <p:cNvPr id="5" name="">
            <a:extLst xmlns:a="http://schemas.openxmlformats.org/drawingml/2006/main">
              <a:ext uri="{FF2B5EF4-FFF2-40B4-BE49-F238E27FC236}">
                <a16:creationId xmlns:a16="http://schemas.microsoft.com/office/drawing/2014/main" id="{B5F8FC40-3807-4F1D-B9B4-C777ACA3F836}"/>
              </a:ext>
            </a:extLst>
          </p:cNvPr>
          <p:cNvSpPr>
            <a:spLocks xmlns:a="http://schemas.openxmlformats.org/drawingml/2006/main" noGrp="1"/>
          </p:cNvSpPr>
          <p:nvPr/>
        </p:nvSpPr>
        <p:spPr>
          <a:xfrm xmlns:a="http://schemas.openxmlformats.org/drawingml/2006/main">
            <a:off x="762000" y="2667000"/>
            <a:ext cx="9239250" cy="0"/>
          </a:xfrm>
          <a:prstGeom xmlns:a="http://schemas.openxmlformats.org/drawingml/2006/main" prst="line">
            <a:avLst/>
          </a:prstGeom>
          <a:noFill xmlns:a="http://schemas.openxmlformats.org/drawingml/2006/main"/>
          <a:ln xmlns:a="http://schemas.openxmlformats.org/drawingml/2006/main" w="19050">
            <a:solidFill>
              <a:srgbClr val="EEDBE6"/>
            </a:solidFill>
            <a:prstDash val="solid"/>
          </a:ln>
        </p:spPr>
      </p:sp>
      <p:sp>
        <p:nvSpPr>
          <p:cNvPr id="6" name="proof-02-index">
            <a:extLst xmlns:a="http://schemas.openxmlformats.org/drawingml/2006/main">
              <a:ext uri="{FF2B5EF4-FFF2-40B4-BE49-F238E27FC236}">
                <a16:creationId xmlns:a16="http://schemas.microsoft.com/office/drawing/2014/main" id="{A412C33D-B676-4C61-89EA-C2F48D1C4E24}"/>
              </a:ext>
            </a:extLst>
          </p:cNvPr>
          <p:cNvSpPr>
            <a:spLocks xmlns:a="http://schemas.openxmlformats.org/drawingml/2006/main" noGrp="1"/>
          </p:cNvSpPr>
          <p:nvPr/>
        </p:nvSpPr>
        <p:spPr>
          <a:xfrm xmlns:a="http://schemas.openxmlformats.org/drawingml/2006/main">
            <a:off x="762000" y="300990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1">
                <a:solidFill>
                  <a:srgbClr val="FF007A"/>
                </a:solidFill>
                <a:latin typeface="SF Mono"/>
                <a:ea typeface="SF Mono"/>
                <a:cs typeface="SF Mono"/>
              </a:rPr>
              <a:t>02</a:t>
            </a:r>
          </a:p>
        </p:txBody>
      </p:sp>
      <p:sp>
        <p:nvSpPr>
          <p:cNvPr id="7" name="proof-02-label">
            <a:extLst xmlns:a="http://schemas.openxmlformats.org/drawingml/2006/main">
              <a:ext uri="{FF2B5EF4-FFF2-40B4-BE49-F238E27FC236}">
                <a16:creationId xmlns:a16="http://schemas.microsoft.com/office/drawing/2014/main" id="{8BF221DA-8C41-412B-8CC0-8EBE654DEAF0}"/>
              </a:ext>
            </a:extLst>
          </p:cNvPr>
          <p:cNvSpPr>
            <a:spLocks xmlns:a="http://schemas.openxmlformats.org/drawingml/2006/main" noGrp="1"/>
          </p:cNvSpPr>
          <p:nvPr/>
        </p:nvSpPr>
        <p:spPr>
          <a:xfrm xmlns:a="http://schemas.openxmlformats.org/drawingml/2006/main">
            <a:off x="1619250" y="293370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19151A"/>
                </a:solidFill>
                <a:latin typeface="Helvetica Neue"/>
                <a:ea typeface="Helvetica Neue"/>
                <a:cs typeface="Helvetica Neue"/>
              </a:rPr>
              <a:t>Quyết toán phí</a:t>
            </a:r>
          </a:p>
        </p:txBody>
      </p:sp>
      <p:sp>
        <p:nvSpPr>
          <p:cNvPr id="8" name="">
            <a:extLst xmlns:a="http://schemas.openxmlformats.org/drawingml/2006/main">
              <a:ext uri="{FF2B5EF4-FFF2-40B4-BE49-F238E27FC236}">
                <a16:creationId xmlns:a16="http://schemas.microsoft.com/office/drawing/2014/main" id="{193B4EF4-25F0-4917-9ED3-3DEDBB69720E}"/>
              </a:ext>
            </a:extLst>
          </p:cNvPr>
          <p:cNvSpPr>
            <a:spLocks xmlns:a="http://schemas.openxmlformats.org/drawingml/2006/main" noGrp="1"/>
          </p:cNvSpPr>
          <p:nvPr/>
        </p:nvSpPr>
        <p:spPr>
          <a:xfrm xmlns:a="http://schemas.openxmlformats.org/drawingml/2006/main">
            <a:off x="762000" y="3562350"/>
            <a:ext cx="9239250" cy="0"/>
          </a:xfrm>
          <a:prstGeom xmlns:a="http://schemas.openxmlformats.org/drawingml/2006/main" prst="line">
            <a:avLst/>
          </a:prstGeom>
          <a:noFill xmlns:a="http://schemas.openxmlformats.org/drawingml/2006/main"/>
          <a:ln xmlns:a="http://schemas.openxmlformats.org/drawingml/2006/main" w="19050">
            <a:solidFill>
              <a:srgbClr val="EEDBE6"/>
            </a:solidFill>
            <a:prstDash val="solid"/>
          </a:ln>
        </p:spPr>
      </p:sp>
      <p:sp>
        <p:nvSpPr>
          <p:cNvPr id="9" name="proof-03-index">
            <a:extLst xmlns:a="http://schemas.openxmlformats.org/drawingml/2006/main">
              <a:ext uri="{FF2B5EF4-FFF2-40B4-BE49-F238E27FC236}">
                <a16:creationId xmlns:a16="http://schemas.microsoft.com/office/drawing/2014/main" id="{EE3C889B-0167-4C05-B8BB-7B028750749B}"/>
              </a:ext>
            </a:extLst>
          </p:cNvPr>
          <p:cNvSpPr>
            <a:spLocks xmlns:a="http://schemas.openxmlformats.org/drawingml/2006/main" noGrp="1"/>
          </p:cNvSpPr>
          <p:nvPr/>
        </p:nvSpPr>
        <p:spPr>
          <a:xfrm xmlns:a="http://schemas.openxmlformats.org/drawingml/2006/main">
            <a:off x="762000" y="390525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1">
                <a:solidFill>
                  <a:srgbClr val="FF007A"/>
                </a:solidFill>
                <a:latin typeface="SF Mono"/>
                <a:ea typeface="SF Mono"/>
                <a:cs typeface="SF Mono"/>
              </a:rPr>
              <a:t>03</a:t>
            </a:r>
          </a:p>
        </p:txBody>
      </p:sp>
      <p:sp>
        <p:nvSpPr>
          <p:cNvPr id="10" name="proof-03-label">
            <a:extLst xmlns:a="http://schemas.openxmlformats.org/drawingml/2006/main">
              <a:ext uri="{FF2B5EF4-FFF2-40B4-BE49-F238E27FC236}">
                <a16:creationId xmlns:a16="http://schemas.microsoft.com/office/drawing/2014/main" id="{3771283A-95E5-4EC9-92A8-8B6CC5586A7F}"/>
              </a:ext>
            </a:extLst>
          </p:cNvPr>
          <p:cNvSpPr>
            <a:spLocks xmlns:a="http://schemas.openxmlformats.org/drawingml/2006/main" noGrp="1"/>
          </p:cNvSpPr>
          <p:nvPr/>
        </p:nvSpPr>
        <p:spPr>
          <a:xfrm xmlns:a="http://schemas.openxmlformats.org/drawingml/2006/main">
            <a:off x="1619250" y="382905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19151A"/>
                </a:solidFill>
                <a:latin typeface="Helvetica Neue"/>
                <a:ea typeface="Helvetica Neue"/>
                <a:cs typeface="Helvetica Neue"/>
              </a:rPr>
              <a:t>Ví của bạn</a:t>
            </a:r>
          </a:p>
        </p:txBody>
      </p:sp>
      <p:sp>
        <p:nvSpPr>
          <p:cNvPr id="11" name="">
            <a:extLst xmlns:a="http://schemas.openxmlformats.org/drawingml/2006/main">
              <a:ext uri="{FF2B5EF4-FFF2-40B4-BE49-F238E27FC236}">
                <a16:creationId xmlns:a16="http://schemas.microsoft.com/office/drawing/2014/main" id="{8D152D30-FE4C-469F-9E5C-53BCF2AD1610}"/>
              </a:ext>
            </a:extLst>
          </p:cNvPr>
          <p:cNvSpPr>
            <a:spLocks xmlns:a="http://schemas.openxmlformats.org/drawingml/2006/main" noGrp="1"/>
          </p:cNvSpPr>
          <p:nvPr/>
        </p:nvSpPr>
        <p:spPr>
          <a:xfrm xmlns:a="http://schemas.openxmlformats.org/drawingml/2006/main">
            <a:off x="762000" y="4457700"/>
            <a:ext cx="9239250" cy="0"/>
          </a:xfrm>
          <a:prstGeom xmlns:a="http://schemas.openxmlformats.org/drawingml/2006/main" prst="line">
            <a:avLst/>
          </a:prstGeom>
          <a:noFill xmlns:a="http://schemas.openxmlformats.org/drawingml/2006/main"/>
          <a:ln xmlns:a="http://schemas.openxmlformats.org/drawingml/2006/main" w="19050">
            <a:solidFill>
              <a:srgbClr val="EEDBE6"/>
            </a:solidFill>
            <a:prstDash val="solid"/>
          </a:ln>
        </p:spPr>
      </p:sp>
      <p:sp>
        <p:nvSpPr>
          <p:cNvPr id="12" name="risk-statement">
            <a:extLst xmlns:a="http://schemas.openxmlformats.org/drawingml/2006/main">
              <a:ext uri="{FF2B5EF4-FFF2-40B4-BE49-F238E27FC236}">
                <a16:creationId xmlns:a16="http://schemas.microsoft.com/office/drawing/2014/main" id="{3DA5E032-1848-4AA3-A27A-093B6E97249A}"/>
              </a:ext>
            </a:extLst>
          </p:cNvPr>
          <p:cNvSpPr>
            <a:spLocks xmlns:a="http://schemas.openxmlformats.org/drawingml/2006/main" noGrp="1"/>
          </p:cNvSpPr>
          <p:nvPr/>
        </p:nvSpPr>
        <p:spPr>
          <a:xfrm xmlns:a="http://schemas.openxmlformats.org/drawingml/2006/main">
            <a:off x="762000" y="5048250"/>
            <a:ext cx="10648950" cy="781050"/>
          </a:xfrm>
          <a:prstGeom xmlns:a="http://schemas.openxmlformats.org/drawingml/2006/main" prst="roundRect">
            <a:avLst>
              <a:gd name="adj" fmla="val 21951"/>
            </a:avLst>
          </a:prstGeom>
          <a:solidFill xmlns:a="http://schemas.openxmlformats.org/drawingml/2006/main">
            <a:srgbClr val="FFFFFF"/>
          </a:solidFill>
          <a:ln xmlns:a="http://schemas.openxmlformats.org/drawingml/2006/main" w="19050">
            <a:solidFill>
              <a:srgbClr val="FF007A"/>
            </a:solidFill>
            <a:prstDash val="solid"/>
          </a:ln>
        </p:spPr>
      </p:sp>
      <p:sp>
        <p:nvSpPr>
          <p:cNvPr id="13" name="risk-copy">
            <a:extLst xmlns:a="http://schemas.openxmlformats.org/drawingml/2006/main">
              <a:ext uri="{FF2B5EF4-FFF2-40B4-BE49-F238E27FC236}">
                <a16:creationId xmlns:a16="http://schemas.microsoft.com/office/drawing/2014/main" id="{4809EA06-2529-44AB-BFB7-48FF62886C5D}"/>
              </a:ext>
            </a:extLst>
          </p:cNvPr>
          <p:cNvSpPr>
            <a:spLocks xmlns:a="http://schemas.openxmlformats.org/drawingml/2006/main" noGrp="1"/>
          </p:cNvSpPr>
          <p:nvPr/>
        </p:nvSpPr>
        <p:spPr>
          <a:xfrm xmlns:a="http://schemas.openxmlformats.org/drawingml/2006/main">
            <a:off x="1028700" y="5238750"/>
            <a:ext cx="10115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800" b="1">
                <a:solidFill>
                  <a:srgbClr val="19151A"/>
                </a:solidFill>
                <a:latin typeface="Helvetica Neue"/>
                <a:ea typeface="Helvetica Neue"/>
                <a:cs typeface="Helvetica Neue"/>
              </a:rPr>
              <a:t>Phí không được bảo đảm · giá trị tài sản có thể thay đổi</a:t>
            </a:r>
          </a:p>
        </p:txBody>
      </p:sp>
      <p:sp>
        <p:nvSpPr>
          <p:cNvPr id="14" name="independent-footer">
            <a:extLst xmlns:a="http://schemas.openxmlformats.org/drawingml/2006/main">
              <a:ext uri="{FF2B5EF4-FFF2-40B4-BE49-F238E27FC236}">
                <a16:creationId xmlns:a16="http://schemas.microsoft.com/office/drawing/2014/main" id="{718A326B-795B-47BE-9313-31260681183D}"/>
              </a:ext>
            </a:extLst>
          </p:cNvPr>
          <p:cNvSpPr>
            <a:spLocks xmlns:a="http://schemas.openxmlformats.org/drawingml/2006/main" noGrp="1"/>
          </p:cNvSpPr>
          <p:nvPr/>
        </p:nvSpPr>
        <p:spPr>
          <a:xfrm xmlns:a="http://schemas.openxmlformats.org/drawingml/2006/main">
            <a:off x="762000" y="6153150"/>
            <a:ext cx="10648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1200" b="0">
                <a:solidFill>
                  <a:srgbClr val="726A74"/>
                </a:solidFill>
                <a:latin typeface="Helvetica Neue"/>
                <a:ea typeface="Helvetica Neue"/>
                <a:cs typeface="Helvetica Neue"/>
              </a:rPr>
              <a:t>Xây dựng trên Uniswap v4 · Dịch vụ độc lập của bên thứ ba · Không liên kết với Uniswap Labs</a:t>
            </a:r>
          </a:p>
        </p:txBody>
      </p:sp>
    </p:spTree>
    <p:extLst>
      <p:ext uri="{BB962C8B-B14F-4D97-AF65-F5344CB8AC3E}">
        <p14:creationId xmlns:p14="http://schemas.microsoft.com/office/powerpoint/2010/main" val="16752711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age-8">
            <a:extLst xmlns:a="http://schemas.openxmlformats.org/drawingml/2006/main">
              <a:ext uri="{FF2B5EF4-FFF2-40B4-BE49-F238E27FC236}">
                <a16:creationId xmlns:a16="http://schemas.microsoft.com/office/drawing/2014/main" id="{A0CB4D47-91C4-428C-B0DD-5DCD3C3F60C6}"/>
              </a:ext>
            </a:extLst>
          </p:cNvPr>
          <p:cNvSpPr>
            <a:spLocks xmlns:a="http://schemas.openxmlformats.org/drawingml/2006/main" noGrp="1"/>
          </p:cNvSpPr>
          <p:nvPr/>
        </p:nvSpPr>
        <p:spPr>
          <a:xfrm xmlns:a="http://schemas.openxmlformats.org/drawingml/2006/main">
            <a:off x="10668000" y="4191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r>
              <a:rPr sz="1200" b="0">
                <a:solidFill>
                  <a:srgbClr val="726A74"/>
                </a:solidFill>
                <a:latin typeface="SF Mono"/>
                <a:ea typeface="SF Mono"/>
                <a:cs typeface="SF Mono"/>
              </a:rPr>
              <a:t>08 / 08</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991653e8ea8476f"/>
          <a:stretch xmlns:a="http://schemas.openxmlformats.org/drawingml/2006/main"/>
        </p:blipFill>
        <p:spPr>
          <a:xfrm xmlns:a="http://schemas.openxmlformats.org/drawingml/2006/main">
            <a:off x="5131594" y="495300"/>
            <a:ext cx="1928813" cy="1714500"/>
          </a:xfrm>
          <a:prstGeom xmlns:a="http://schemas.openxmlformats.org/drawingml/2006/main" prst="rect">
            <a:avLst/>
          </a:prstGeom>
        </p:spPr>
      </p:pic>
      <p:sp>
        <p:nvSpPr>
          <p:cNvPr id="3" name="cta-wordmark">
            <a:extLst xmlns:a="http://schemas.openxmlformats.org/drawingml/2006/main">
              <a:ext uri="{FF2B5EF4-FFF2-40B4-BE49-F238E27FC236}">
                <a16:creationId xmlns:a16="http://schemas.microsoft.com/office/drawing/2014/main" id="{6DDBC814-D786-4D1E-9E74-7034BD17720D}"/>
              </a:ext>
            </a:extLst>
          </p:cNvPr>
          <p:cNvSpPr>
            <a:spLocks xmlns:a="http://schemas.openxmlformats.org/drawingml/2006/main" noGrp="1"/>
          </p:cNvSpPr>
          <p:nvPr/>
        </p:nvSpPr>
        <p:spPr>
          <a:xfrm xmlns:a="http://schemas.openxmlformats.org/drawingml/2006/main">
            <a:off x="4400550" y="219075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3000" b="1">
                <a:solidFill>
                  <a:srgbClr val="19151A"/>
                </a:solidFill>
                <a:latin typeface="Helvetica Neue"/>
                <a:ea typeface="Helvetica Neue"/>
                <a:cs typeface="Helvetica Neue"/>
              </a:rPr>
              <a:t>UniEddy</a:t>
            </a:r>
          </a:p>
        </p:txBody>
      </p:sp>
      <p:sp>
        <p:nvSpPr>
          <p:cNvPr id="4" name="cta-title">
            <a:extLst xmlns:a="http://schemas.openxmlformats.org/drawingml/2006/main">
              <a:ext uri="{FF2B5EF4-FFF2-40B4-BE49-F238E27FC236}">
                <a16:creationId xmlns:a16="http://schemas.microsoft.com/office/drawing/2014/main" id="{650DC3C0-8937-475B-8F83-39690DB9147B}"/>
              </a:ext>
            </a:extLst>
          </p:cNvPr>
          <p:cNvSpPr>
            <a:spLocks xmlns:a="http://schemas.openxmlformats.org/drawingml/2006/main" noGrp="1"/>
          </p:cNvSpPr>
          <p:nvPr/>
        </p:nvSpPr>
        <p:spPr>
          <a:xfrm xmlns:a="http://schemas.openxmlformats.org/drawingml/2006/main">
            <a:off x="1619250" y="2914650"/>
            <a:ext cx="8953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5000" b="1">
                <a:solidFill>
                  <a:srgbClr val="19151A"/>
                </a:solidFill>
                <a:latin typeface="Helvetica Neue"/>
                <a:ea typeface="Helvetica Neue"/>
                <a:cs typeface="Helvetica Neue"/>
              </a:rPr>
              <a:t>Vào DApp</a:t>
            </a:r>
          </a:p>
        </p:txBody>
      </p:sp>
      <p:sp>
        <p:nvSpPr>
          <p:cNvPr id="5" name="cta-subtitle">
            <a:extLst xmlns:a="http://schemas.openxmlformats.org/drawingml/2006/main">
              <a:ext uri="{FF2B5EF4-FFF2-40B4-BE49-F238E27FC236}">
                <a16:creationId xmlns:a16="http://schemas.microsoft.com/office/drawing/2014/main" id="{3ECB5061-57CF-41FC-9559-7DCA8E1F7ECB}"/>
              </a:ext>
            </a:extLst>
          </p:cNvPr>
          <p:cNvSpPr>
            <a:spLocks xmlns:a="http://schemas.openxmlformats.org/drawingml/2006/main" noGrp="1"/>
          </p:cNvSpPr>
          <p:nvPr/>
        </p:nvSpPr>
        <p:spPr>
          <a:xfrm xmlns:a="http://schemas.openxmlformats.org/drawingml/2006/main">
            <a:off x="2381250" y="3790950"/>
            <a:ext cx="742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1800" b="0">
                <a:solidFill>
                  <a:srgbClr val="726A74"/>
                </a:solidFill>
                <a:latin typeface="Helvetica Neue"/>
                <a:ea typeface="Helvetica Neue"/>
                <a:cs typeface="Helvetica Neue"/>
              </a:rPr>
              <a:t>Tìm hiểu cách bạn có thể tham gia</a:t>
            </a:r>
          </a:p>
        </p:txBody>
      </p:sp>
      <p:sp>
        <p:nvSpPr>
          <p:cNvPr id="6" name="cta-button">
            <a:extLst xmlns:a="http://schemas.openxmlformats.org/drawingml/2006/main">
              <a:ext uri="{FF2B5EF4-FFF2-40B4-BE49-F238E27FC236}">
                <a16:creationId xmlns:a16="http://schemas.microsoft.com/office/drawing/2014/main" id="{FBE8D9FA-28FE-4EE8-A791-CD788811C160}"/>
              </a:ext>
            </a:extLst>
          </p:cNvPr>
          <p:cNvSpPr>
            <a:spLocks xmlns:a="http://schemas.openxmlformats.org/drawingml/2006/main" noGrp="1"/>
          </p:cNvSpPr>
          <p:nvPr/>
        </p:nvSpPr>
        <p:spPr>
          <a:xfrm xmlns:a="http://schemas.openxmlformats.org/drawingml/2006/main">
            <a:off x="3829050" y="4552950"/>
            <a:ext cx="4533900" cy="819150"/>
          </a:xfrm>
          <a:prstGeom xmlns:a="http://schemas.openxmlformats.org/drawingml/2006/main" prst="roundRect">
            <a:avLst>
              <a:gd name="adj" fmla="val 50000"/>
            </a:avLst>
          </a:prstGeom>
          <a:solidFill xmlns:a="http://schemas.openxmlformats.org/drawingml/2006/main">
            <a:srgbClr val="FF007A"/>
          </a:solidFill>
          <a:ln xmlns:a="http://schemas.openxmlformats.org/drawingml/2006/main" w="0">
            <a:noFill/>
            <a:prstDash val="solid"/>
          </a:ln>
        </p:spPr>
      </p:sp>
      <p:sp>
        <p:nvSpPr>
          <p:cNvPr id="7" name="cta-button-label">
            <a:extLst xmlns:a="http://schemas.openxmlformats.org/drawingml/2006/main">
              <a:ext uri="{FF2B5EF4-FFF2-40B4-BE49-F238E27FC236}">
                <a16:creationId xmlns:a16="http://schemas.microsoft.com/office/drawing/2014/main" id="{49DED81F-B3FA-4013-9605-C1C2C743ACB7}"/>
              </a:ext>
            </a:extLst>
          </p:cNvPr>
          <p:cNvSpPr>
            <a:spLocks xmlns:a="http://schemas.openxmlformats.org/drawingml/2006/main" noGrp="1"/>
          </p:cNvSpPr>
          <p:nvPr/>
        </p:nvSpPr>
        <p:spPr>
          <a:xfrm xmlns:a="http://schemas.openxmlformats.org/drawingml/2006/main">
            <a:off x="4076700" y="4762500"/>
            <a:ext cx="403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2400" b="1">
                <a:solidFill>
                  <a:srgbClr val="FFFFFF"/>
                </a:solidFill>
                <a:latin typeface="Helvetica Neue"/>
                <a:ea typeface="Helvetica Neue"/>
                <a:cs typeface="Helvetica Neue"/>
              </a:rPr>
              <a:t>Vào DApp</a:t>
            </a:r>
          </a:p>
        </p:txBody>
      </p:sp>
      <p:sp>
        <p:nvSpPr>
          <p:cNvPr id="8" name="cta-help">
            <a:extLst xmlns:a="http://schemas.openxmlformats.org/drawingml/2006/main">
              <a:ext uri="{FF2B5EF4-FFF2-40B4-BE49-F238E27FC236}">
                <a16:creationId xmlns:a16="http://schemas.microsoft.com/office/drawing/2014/main" id="{D6B7AE56-F4CB-4120-B442-8B6E515F0C40}"/>
              </a:ext>
            </a:extLst>
          </p:cNvPr>
          <p:cNvSpPr>
            <a:spLocks xmlns:a="http://schemas.openxmlformats.org/drawingml/2006/main" noGrp="1"/>
          </p:cNvSpPr>
          <p:nvPr/>
        </p:nvSpPr>
        <p:spPr>
          <a:xfrm xmlns:a="http://schemas.openxmlformats.org/drawingml/2006/main">
            <a:off x="2286000" y="5676900"/>
            <a:ext cx="762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1600" b="1">
                <a:solidFill>
                  <a:srgbClr val="FF007A"/>
                </a:solidFill>
                <a:latin typeface="Helvetica Neue"/>
                <a:ea typeface="Helvetica Neue"/>
                <a:cs typeface="Helvetica Neue"/>
              </a:rPr>
              <a:t>Cần trợ giúp? Nhận hướng dẫn chính thức</a:t>
            </a:r>
          </a:p>
        </p:txBody>
      </p:sp>
      <p:sp>
        <p:nvSpPr>
          <p:cNvPr id="9" name="cta-independent-footer">
            <a:extLst xmlns:a="http://schemas.openxmlformats.org/drawingml/2006/main">
              <a:ext uri="{FF2B5EF4-FFF2-40B4-BE49-F238E27FC236}">
                <a16:creationId xmlns:a16="http://schemas.microsoft.com/office/drawing/2014/main" id="{9D5840D4-B7E2-4251-9088-90189826D819}"/>
              </a:ext>
            </a:extLst>
          </p:cNvPr>
          <p:cNvSpPr>
            <a:spLocks xmlns:a="http://schemas.openxmlformats.org/drawingml/2006/main" noGrp="1"/>
          </p:cNvSpPr>
          <p:nvPr/>
        </p:nvSpPr>
        <p:spPr>
          <a:xfrm xmlns:a="http://schemas.openxmlformats.org/drawingml/2006/main">
            <a:off x="1524000" y="6343650"/>
            <a:ext cx="914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1200" b="0">
                <a:solidFill>
                  <a:srgbClr val="726A74"/>
                </a:solidFill>
                <a:latin typeface="Helvetica Neue"/>
                <a:ea typeface="Helvetica Neue"/>
                <a:cs typeface="Helvetica Neue"/>
              </a:rPr>
              <a:t>Xây dựng trên Uniswap v4 · Dịch vụ độc lập của bên thứ ba · Không liên kết với Uniswap Labs</a:t>
            </a:r>
          </a:p>
        </p:txBody>
      </p:sp>
    </p:spTree>
    <p:extLst>
      <p:ext uri="{BB962C8B-B14F-4D97-AF65-F5344CB8AC3E}">
        <p14:creationId xmlns:p14="http://schemas.microsoft.com/office/powerpoint/2010/main" val="1920039449"/>
      </p:ext>
    </p:extLst>
  </p:cSld>
</p:sld>
</file>

<file path=ppt/theme/theme1.xml><?xml version="1.0" encoding="utf-8"?>
<a:theme xmlns:a="http://schemas.openxmlformats.org/drawingml/2006/main" name="ChatGPT">
  <a:themeElements>
    <a:clrScheme name="UniEddy Intro">
      <a:dk1>
        <a:srgbClr val="000000"/>
      </a:dk1>
      <a:lt1>
        <a:srgbClr val="FFFFFF"/>
      </a:lt1>
      <a:dk2>
        <a:srgbClr val="19151A"/>
      </a:dk2>
      <a:lt2>
        <a:srgbClr val="F8E7F0"/>
      </a:lt2>
      <a:accent1>
        <a:srgbClr val="FF007A"/>
      </a:accent1>
      <a:accent2>
        <a:srgbClr val="F50DB4"/>
      </a:accent2>
      <a:accent3>
        <a:srgbClr val="FC72FF"/>
      </a:accent3>
      <a:accent4>
        <a:srgbClr val="F8E7F0"/>
      </a:accent4>
      <a:accent5>
        <a:srgbClr val="8F59FF"/>
      </a:accent5>
      <a:accent6>
        <a:srgbClr val="4263EB"/>
      </a:accent6>
      <a:hlink>
        <a:srgbClr val="FF007A"/>
      </a:hlink>
      <a:folHlink>
        <a:srgbClr val="F50DB4"/>
      </a:folHlink>
    </a:clrScheme>
    <a:fontScheme name="Office">
      <a:majorFont>
        <a:latin typeface="Calibri Light"/>
        <a:ea typeface="Calibri Light"/>
        <a:cs typeface="Calibri Light"/>
      </a:majorFont>
      <a:minorFont>
        <a:latin typeface="Calibri"/>
        <a:ea typeface="Calibri"/>
        <a:cs typeface="Calibri"/>
      </a:minorFont>
    </a:fontScheme>
    <a:fmtScheme name="UniEddy Intr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2026-08-02T06:44:45.7000000Z</dcterms:created>
  <dcterms:modified xsi:type="dcterms:W3CDTF">2026-08-02T06:44:45.7000000Z</dcterms:modified>
</coreProperties>
</file>