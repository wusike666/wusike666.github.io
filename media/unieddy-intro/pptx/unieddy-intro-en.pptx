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16c255e48b4ca0" /><Relationship Type="http://schemas.openxmlformats.org/officeDocument/2006/relationships/extended-properties" Target="/docProps/app.xml" Id="R3175419375954309" /><Relationship Type="http://schemas.openxmlformats.org/officeDocument/2006/relationships/officeDocument" Target="/ppt/presentation.xml" Id="R5d188a70322e41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e96d54165e41f1"/>
  </p:sldMasterIdLst>
  <p:notesMasterIdLst>
    <p:notesMasterId xmlns:r="http://schemas.openxmlformats.org/officeDocument/2006/relationships" r:id="R3e14fb6e1b6d4f1c"/>
  </p:notesMasterIdLst>
  <p:sldIdLst>
    <p:sldId xmlns:r="http://schemas.openxmlformats.org/officeDocument/2006/relationships" id="256" r:id="R61c5ac8db2ad4be2"/>
    <p:sldId xmlns:r="http://schemas.openxmlformats.org/officeDocument/2006/relationships" id="257" r:id="Rb9791873b8364f2c"/>
    <p:sldId xmlns:r="http://schemas.openxmlformats.org/officeDocument/2006/relationships" id="258" r:id="R2a2cabf28b0f4250"/>
    <p:sldId xmlns:r="http://schemas.openxmlformats.org/officeDocument/2006/relationships" id="259" r:id="Ra2e1733dad96473a"/>
    <p:sldId xmlns:r="http://schemas.openxmlformats.org/officeDocument/2006/relationships" id="260" r:id="Rfe473922a4c2408c"/>
    <p:sldId xmlns:r="http://schemas.openxmlformats.org/officeDocument/2006/relationships" id="261" r:id="R829e6f9b9cdc4fba"/>
    <p:sldId xmlns:r="http://schemas.openxmlformats.org/officeDocument/2006/relationships" id="262" r:id="R55f5d3730d284433"/>
    <p:sldId xmlns:r="http://schemas.openxmlformats.org/officeDocument/2006/relationships" id="263" r:id="R892c2ff9865843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5f3a6174e54c59" /><Relationship Type="http://schemas.openxmlformats.org/officeDocument/2006/relationships/slideMaster" Target="/ppt/slideMasters/slideMaster1.xml" Id="R55e96d54165e41f1" /><Relationship Type="http://schemas.openxmlformats.org/officeDocument/2006/relationships/notesMaster" Target="/ppt/notesMasters/notesMaster1.xml" Id="R3e14fb6e1b6d4f1c" /><Relationship Type="http://schemas.openxmlformats.org/officeDocument/2006/relationships/presProps" Target="/ppt/presProps.xml" Id="Re9eb52e847674982" /><Relationship Type="http://schemas.openxmlformats.org/officeDocument/2006/relationships/tableStyles" Target="/ppt/tableStyles.xml" Id="Rd15f5df2742d494c" /><Relationship Type="http://schemas.openxmlformats.org/officeDocument/2006/relationships/slide" Target="/ppt/slides/slide1.xml" Id="R61c5ac8db2ad4be2" /><Relationship Type="http://schemas.openxmlformats.org/officeDocument/2006/relationships/slide" Target="/ppt/slides/slide2.xml" Id="Rb9791873b8364f2c" /><Relationship Type="http://schemas.openxmlformats.org/officeDocument/2006/relationships/slide" Target="/ppt/slides/slide3.xml" Id="R2a2cabf28b0f4250" /><Relationship Type="http://schemas.openxmlformats.org/officeDocument/2006/relationships/slide" Target="/ppt/slides/slide4.xml" Id="Ra2e1733dad96473a" /><Relationship Type="http://schemas.openxmlformats.org/officeDocument/2006/relationships/slide" Target="/ppt/slides/slide5.xml" Id="Rfe473922a4c2408c" /><Relationship Type="http://schemas.openxmlformats.org/officeDocument/2006/relationships/slide" Target="/ppt/slides/slide6.xml" Id="R829e6f9b9cdc4fba" /><Relationship Type="http://schemas.openxmlformats.org/officeDocument/2006/relationships/slide" Target="/ppt/slides/slide7.xml" Id="R55f5d3730d284433" /><Relationship Type="http://schemas.openxmlformats.org/officeDocument/2006/relationships/slide" Target="/ppt/slides/slide8.xml" Id="R892c2ff9865843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50cc60544b4c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UniEddy Intro">
      <a:dk1>
        <a:srgbClr val="000000"/>
      </a:dk1>
      <a:lt1>
        <a:srgbClr val="FFFFFF"/>
      </a:lt1>
      <a:dk2>
        <a:srgbClr val="19151A"/>
      </a:dk2>
      <a:lt2>
        <a:srgbClr val="F8E7F0"/>
      </a:lt2>
      <a:accent1>
        <a:srgbClr val="FF007A"/>
      </a:accent1>
      <a:accent2>
        <a:srgbClr val="F50DB4"/>
      </a:accent2>
      <a:accent3>
        <a:srgbClr val="FC72FF"/>
      </a:accent3>
      <a:accent4>
        <a:srgbClr val="F8E7F0"/>
      </a:accent4>
      <a:accent5>
        <a:srgbClr val="8F59FF"/>
      </a:accent5>
      <a:accent6>
        <a:srgbClr val="4263EB"/>
      </a:accent6>
      <a:hlink>
        <a:srgbClr val="FF007A"/>
      </a:hlink>
      <a:folHlink>
        <a:srgbClr val="F50DB4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UniEddy Intr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28228f59744853" /><Relationship Type="http://schemas.openxmlformats.org/officeDocument/2006/relationships/notesMaster" Target="/ppt/notesMasters/notesMaster1.xml" Id="R1e84c2e441b848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a1e5016a8747e2" /><Relationship Type="http://schemas.openxmlformats.org/officeDocument/2006/relationships/notesMaster" Target="/ppt/notesMasters/notesMaster1.xml" Id="R647686c736f34c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b75d069ff84f51" /><Relationship Type="http://schemas.openxmlformats.org/officeDocument/2006/relationships/notesMaster" Target="/ppt/notesMasters/notesMaster1.xml" Id="Rc82fb365ae3844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3c40fd6d8b4e3c" /><Relationship Type="http://schemas.openxmlformats.org/officeDocument/2006/relationships/notesMaster" Target="/ppt/notesMasters/notesMaster1.xml" Id="R694def0210bb41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470e18c0fc4914" /><Relationship Type="http://schemas.openxmlformats.org/officeDocument/2006/relationships/notesMaster" Target="/ppt/notesMasters/notesMaster1.xml" Id="R38363889cad547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dd8f52b80148d6" /><Relationship Type="http://schemas.openxmlformats.org/officeDocument/2006/relationships/notesMaster" Target="/ppt/notesMasters/notesMaster1.xml" Id="Rdbd94496ff7546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3d73eeebfb4408" /><Relationship Type="http://schemas.openxmlformats.org/officeDocument/2006/relationships/notesMaster" Target="/ppt/notesMasters/notesMaster1.xml" Id="R81c604c8b4094a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55973ae1394419" /><Relationship Type="http://schemas.openxmlformats.org/officeDocument/2006/relationships/notesMaster" Target="/ppt/notesMasters/notesMaster1.xml" Id="Re46e7e305fb741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Voiceover: Uniswap lets people swap digital assets directly from their own wallets. Official figures show more than four trillion US dollars in cumulative volume, used by millions of swappers.</a:t>
            </a:r>
          </a:p>
          <a:p xmlns:a="http://schemas.openxmlformats.org/drawingml/2006/main">
            <a:r>
              <a:t>Duration: 8 seconds</a:t>
            </a:r>
          </a:p>
          <a:p xmlns:a="http://schemas.openxmlformats.org/drawingml/2006/main">
            <a:r>
              <a:t>Language: en</a:t>
            </a:r>
          </a:p>
          <a:p xmlns:a="http://schemas.openxmlformats.org/drawingml/2006/main">
            <a:r>
              <a:t>As of: 2026-07-31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What is a Decentralized Exchange (DEX)?: https://blog.uniswap.org/what-is-a-decentralized-exchange</a:t>
            </a:r>
          </a:p>
          <a:p xmlns:a="http://schemas.openxmlformats.org/drawingml/2006/main">
            <a:r>
              <a:t>- UNIfication: https://blog.uniswap.org/unification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Voiceover: Trades follow public onchain rules. You do not need to give a centralized exchange custody of your assets before you begin.</a:t>
            </a:r>
          </a:p>
          <a:p xmlns:a="http://schemas.openxmlformats.org/drawingml/2006/main">
            <a:r>
              <a:t>Duration: 6 seconds</a:t>
            </a:r>
          </a:p>
          <a:p xmlns:a="http://schemas.openxmlformats.org/drawingml/2006/main">
            <a:r>
              <a:t>Language: en</a:t>
            </a:r>
          </a:p>
          <a:p xmlns:a="http://schemas.openxmlformats.org/drawingml/2006/main">
            <a:r>
              <a:t>As of: 2026-07-31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What is a Decentralized Exchange (DEX)?: https://blog.uniswap.org/what-is-a-decentralized-exchange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Voiceover: When someone swaps assets on Uniswap, the transaction pays a fee according to the public rules of that liquidity pool.</a:t>
            </a:r>
          </a:p>
          <a:p xmlns:a="http://schemas.openxmlformats.org/drawingml/2006/main">
            <a:r>
              <a:t>Duration: 8 seconds</a:t>
            </a:r>
          </a:p>
          <a:p xmlns:a="http://schemas.openxmlformats.org/drawingml/2006/main">
            <a:r>
              <a:t>Language: en</a:t>
            </a:r>
          </a:p>
          <a:p xmlns:a="http://schemas.openxmlformats.org/drawingml/2006/main">
            <a:r>
              <a:t>As of: 2026-07-31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Uniswap v4 is Here: https://blog.uniswap.org/uniswap-v4-is-here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Voiceover: People supply the digital assets that make swaps possible, and can receive a share of those fees under the pool rules.</a:t>
            </a:r>
          </a:p>
          <a:p xmlns:a="http://schemas.openxmlformats.org/drawingml/2006/main">
            <a:r>
              <a:t>Duration: 8 seconds</a:t>
            </a:r>
          </a:p>
          <a:p xmlns:a="http://schemas.openxmlformats.org/drawingml/2006/main">
            <a:r>
              <a:t>Language: en</a:t>
            </a:r>
          </a:p>
          <a:p xmlns:a="http://schemas.openxmlformats.org/drawingml/2006/main">
            <a:r>
              <a:t>As of: 2026-07-31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Uniswap v4 is Here: https://blog.uniswap.org/uniswap-v4-is-here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Voiceover: Participating on your own means understanding asset allocation and price ranges, monitoring continuously, and adjusting when markets move.</a:t>
            </a:r>
          </a:p>
          <a:p xmlns:a="http://schemas.openxmlformats.org/drawingml/2006/main">
            <a:r>
              <a:t>Duration: 8 seconds</a:t>
            </a:r>
          </a:p>
          <a:p xmlns:a="http://schemas.openxmlformats.org/drawingml/2006/main">
            <a:r>
              <a:t>Language: en</a:t>
            </a:r>
          </a:p>
          <a:p xmlns:a="http://schemas.openxmlformats.org/drawingml/2006/main">
            <a:r>
              <a:t>As of: 2026-07-31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Uniswap v4 is Here: https://blog.uniswap.org/uniswap-v4-is-here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Voiceover: UniEddy brings those complex tasks into one simpler flow. The system monitors continuously, AI provides analysis, and fixed rules decide whether to act.</a:t>
            </a:r>
          </a:p>
          <a:p xmlns:a="http://schemas.openxmlformats.org/drawingml/2006/main">
            <a:r>
              <a:t>Duration: 10 seconds</a:t>
            </a:r>
          </a:p>
          <a:p xmlns:a="http://schemas.openxmlformats.org/drawingml/2006/main">
            <a:r>
              <a:t>Language: en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UniEddy product specification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Voiceover: Fees come from real trades, and settlement and claim records can be checked onchain. Fee income is not guaranteed, and participating assets can rise or fall in value.</a:t>
            </a:r>
          </a:p>
          <a:p xmlns:a="http://schemas.openxmlformats.org/drawingml/2006/main">
            <a:r>
              <a:t>Duration: 8 seconds</a:t>
            </a:r>
          </a:p>
          <a:p xmlns:a="http://schemas.openxmlformats.org/drawingml/2006/main">
            <a:r>
              <a:t>Language: en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UniEddy product specification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Voiceover: Enter the DApp to explore how you can participate. If you need help, official guidance is also available.</a:t>
            </a:r>
          </a:p>
          <a:p xmlns:a="http://schemas.openxmlformats.org/drawingml/2006/main">
            <a:r>
              <a:t>Duration: 4 seconds</a:t>
            </a:r>
          </a:p>
          <a:p xmlns:a="http://schemas.openxmlformats.org/drawingml/2006/main">
            <a:r>
              <a:t>Language: en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UniEddy product specification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3d6a44e1f546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3bc4e2c51c4008" /><Relationship Type="http://schemas.openxmlformats.org/officeDocument/2006/relationships/slideLayout" Target="/ppt/slideLayouts/slideLayout1.xml" Id="Rb17e06082a4448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7e06082a4448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UniEddy Intro">
      <a:dk1>
        <a:srgbClr val="000000"/>
      </a:dk1>
      <a:lt1>
        <a:srgbClr val="FFFFFF"/>
      </a:lt1>
      <a:dk2>
        <a:srgbClr val="19151A"/>
      </a:dk2>
      <a:lt2>
        <a:srgbClr val="F8E7F0"/>
      </a:lt2>
      <a:accent1>
        <a:srgbClr val="FF007A"/>
      </a:accent1>
      <a:accent2>
        <a:srgbClr val="F50DB4"/>
      </a:accent2>
      <a:accent3>
        <a:srgbClr val="FC72FF"/>
      </a:accent3>
      <a:accent4>
        <a:srgbClr val="F8E7F0"/>
      </a:accent4>
      <a:accent5>
        <a:srgbClr val="8F59FF"/>
      </a:accent5>
      <a:accent6>
        <a:srgbClr val="4263EB"/>
      </a:accent6>
      <a:hlink>
        <a:srgbClr val="FF007A"/>
      </a:hlink>
      <a:folHlink>
        <a:srgbClr val="F50DB4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UniEddy Intr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c50d411f2244b9" /><Relationship Type="http://schemas.openxmlformats.org/officeDocument/2006/relationships/notesSlide" Target="/ppt/notesSlides/notesSlide1.xml" Id="Rb6bf916db4b940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aca510c2d4ea4" /><Relationship Type="http://schemas.openxmlformats.org/officeDocument/2006/relationships/notesSlide" Target="/ppt/notesSlides/notesSlide2.xml" Id="R21d29d26ef5d45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b3605027fc428a" /><Relationship Type="http://schemas.openxmlformats.org/officeDocument/2006/relationships/notesSlide" Target="/ppt/notesSlides/notesSlide3.xml" Id="R485d750ceeed43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d9e234f1443c3" /><Relationship Type="http://schemas.openxmlformats.org/officeDocument/2006/relationships/notesSlide" Target="/ppt/notesSlides/notesSlide4.xml" Id="R95ebb01ebfec43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2a1241b1c4d1c" /><Relationship Type="http://schemas.openxmlformats.org/officeDocument/2006/relationships/notesSlide" Target="/ppt/notesSlides/notesSlide5.xml" Id="Re5bb307b6d9a4b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de93334e74abc" /><Relationship Type="http://schemas.openxmlformats.org/officeDocument/2006/relationships/image" Target="/ppt/media/image.png" Id="R10db33887b034262" /><Relationship Type="http://schemas.openxmlformats.org/officeDocument/2006/relationships/image" Target="/ppt/media/image2.png" Id="Rc1d65160dd434fbe" /><Relationship Type="http://schemas.openxmlformats.org/officeDocument/2006/relationships/image" Target="/ppt/media/image3.png" Id="Rf60eab82906448c0" /><Relationship Type="http://schemas.openxmlformats.org/officeDocument/2006/relationships/notesSlide" Target="/ppt/notesSlides/notesSlide6.xml" Id="R3b06a900d44a4d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f7a9ce6c7447ae" /><Relationship Type="http://schemas.openxmlformats.org/officeDocument/2006/relationships/notesSlide" Target="/ppt/notesSlides/notesSlide7.xml" Id="Rfa20930e3b4748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211c93da6d499a" /><Relationship Type="http://schemas.openxmlformats.org/officeDocument/2006/relationships/image" Target="/ppt/media/image4.png" Id="R6b3866ff518b4355" /><Relationship Type="http://schemas.openxmlformats.org/officeDocument/2006/relationships/notesSlide" Target="/ppt/notesSlides/notesSlide8.xml" Id="R8a1c716c5623486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915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uthority-orb">
            <a:extLst xmlns:a="http://schemas.openxmlformats.org/drawingml/2006/main">
              <a:ext uri="{FF2B5EF4-FFF2-40B4-BE49-F238E27FC236}">
                <a16:creationId xmlns:a16="http://schemas.microsoft.com/office/drawing/2014/main" id="{176C6C80-4D5E-4052-8516-EB1814FF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0"/>
            <a:ext cx="2571750" cy="2571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0D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uthority-orb-cutout">
            <a:extLst xmlns:a="http://schemas.openxmlformats.org/drawingml/2006/main">
              <a:ext uri="{FF2B5EF4-FFF2-40B4-BE49-F238E27FC236}">
                <a16:creationId xmlns:a16="http://schemas.microsoft.com/office/drawing/2014/main" id="{DEECF9D1-16AE-463D-9EA7-D9278C16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2190750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15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uthority-dot">
            <a:extLst xmlns:a="http://schemas.openxmlformats.org/drawingml/2006/main">
              <a:ext uri="{FF2B5EF4-FFF2-40B4-BE49-F238E27FC236}">
                <a16:creationId xmlns:a16="http://schemas.microsoft.com/office/drawing/2014/main" id="{A0473FA6-54E4-4689-A351-034114DD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64820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uniswap-wordmark">
            <a:extLst xmlns:a="http://schemas.openxmlformats.org/drawingml/2006/main">
              <a:ext uri="{FF2B5EF4-FFF2-40B4-BE49-F238E27FC236}">
                <a16:creationId xmlns:a16="http://schemas.microsoft.com/office/drawing/2014/main" id="{FD2DD34A-CAFB-4E8D-9C61-5361131F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2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Uniswap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1FB8686-C35A-4D66-A644-260A6628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5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leading decentralized trading protocol</a:t>
            </a:r>
          </a:p>
        </p:txBody>
      </p:sp>
      <p:sp>
        <p:nvSpPr>
          <p:cNvPr id="6" name="authority-number">
            <a:extLst xmlns:a="http://schemas.openxmlformats.org/drawingml/2006/main">
              <a:ext uri="{FF2B5EF4-FFF2-40B4-BE49-F238E27FC236}">
                <a16:creationId xmlns:a16="http://schemas.microsoft.com/office/drawing/2014/main" id="{0B0D6B52-5BCC-462E-BCFD-65ECACBA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5800" b="1">
                <a:solidFill>
                  <a:srgbClr val="FF007A"/>
                </a:solidFill>
                <a:latin typeface="SF Mono"/>
                <a:ea typeface="SF Mono"/>
                <a:cs typeface="SF Mono"/>
              </a:rPr>
              <a:t>Over US$4 trillion</a:t>
            </a:r>
          </a:p>
        </p:txBody>
      </p:sp>
      <p:sp>
        <p:nvSpPr>
          <p:cNvPr id="7" name="authority-proof">
            <a:extLst xmlns:a="http://schemas.openxmlformats.org/drawingml/2006/main">
              <a:ext uri="{FF2B5EF4-FFF2-40B4-BE49-F238E27FC236}">
                <a16:creationId xmlns:a16="http://schemas.microsoft.com/office/drawing/2014/main" id="{6A6C55D5-1D72-44A5-A6E2-55D7E8B3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4850"/>
            <a:ext cx="742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More than US$4 trillion in cumulative volume · millions of swappers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722425-2448-4AB3-A129-903ED7DD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91150"/>
            <a:ext cx="647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4E5A"/>
            </a:solidFill>
            <a:prstDash val="solid"/>
          </a:ln>
        </p:spPr>
      </p:sp>
      <p:sp>
        <p:nvSpPr>
          <p:cNvPr id="9" name="proof-wallet">
            <a:extLst xmlns:a="http://schemas.openxmlformats.org/drawingml/2006/main">
              <a:ext uri="{FF2B5EF4-FFF2-40B4-BE49-F238E27FC236}">
                <a16:creationId xmlns:a16="http://schemas.microsoft.com/office/drawing/2014/main" id="{C1FD66AF-9108-4CFD-8462-77D87508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1600" b="0">
                <a:solidFill>
                  <a:srgbClr val="D9CED5"/>
                </a:solidFill>
                <a:latin typeface="Helvetica Neue"/>
                <a:ea typeface="Helvetica Neue"/>
                <a:cs typeface="Helvetica Neue"/>
              </a:rPr>
              <a:t>Your wallet</a:t>
            </a:r>
          </a:p>
        </p:txBody>
      </p:sp>
      <p:sp>
        <p:nvSpPr>
          <p:cNvPr id="10" name="proof-onchain">
            <a:extLst xmlns:a="http://schemas.openxmlformats.org/drawingml/2006/main">
              <a:ext uri="{FF2B5EF4-FFF2-40B4-BE49-F238E27FC236}">
                <a16:creationId xmlns:a16="http://schemas.microsoft.com/office/drawing/2014/main" id="{E4B30FB9-DABD-4CC4-89FE-9E84BC85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5816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1600" b="0">
                <a:solidFill>
                  <a:srgbClr val="D9CED5"/>
                </a:solidFill>
                <a:latin typeface="Helvetica Neue"/>
                <a:ea typeface="Helvetica Neue"/>
                <a:cs typeface="Helvetica Neue"/>
              </a:rPr>
              <a:t>Verified onchain</a:t>
            </a:r>
          </a:p>
        </p:txBody>
      </p:sp>
      <p:sp>
        <p:nvSpPr>
          <p:cNvPr id="11" name="page-1">
            <a:extLst xmlns:a="http://schemas.openxmlformats.org/drawingml/2006/main">
              <a:ext uri="{FF2B5EF4-FFF2-40B4-BE49-F238E27FC236}">
                <a16:creationId xmlns:a16="http://schemas.microsoft.com/office/drawing/2014/main" id="{3FA81B92-FC50-4B77-893F-126B0FCF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91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 b="0">
                <a:solidFill>
                  <a:srgbClr val="CDBFC8"/>
                </a:solidFill>
                <a:latin typeface="SF Mono"/>
                <a:ea typeface="SF Mono"/>
                <a:cs typeface="SF Mono"/>
              </a:rPr>
              <a:t>01 / 08</a:t>
            </a:r>
          </a:p>
        </p:txBody>
      </p:sp>
    </p:spTree>
    <p:extLst>
      <p:ext uri="{BB962C8B-B14F-4D97-AF65-F5344CB8AC3E}">
        <p14:creationId xmlns:p14="http://schemas.microsoft.com/office/powerpoint/2010/main" val="12184496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age-2">
            <a:extLst xmlns:a="http://schemas.openxmlformats.org/drawingml/2006/main">
              <a:ext uri="{FF2B5EF4-FFF2-40B4-BE49-F238E27FC236}">
                <a16:creationId xmlns:a16="http://schemas.microsoft.com/office/drawing/2014/main" id="{4E10747C-0A01-4896-926F-B5F7E388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91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 b="0">
                <a:solidFill>
                  <a:srgbClr val="726A74"/>
                </a:solidFill>
                <a:latin typeface="SF Mono"/>
                <a:ea typeface="SF Mono"/>
                <a:cs typeface="SF Mono"/>
              </a:rPr>
              <a:t>02 / 08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451ED86E-48E9-4225-93C6-EE11738C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01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3500" b="1">
                <a:solidFill>
                  <a:srgbClr val="19151A"/>
                </a:solidFill>
                <a:latin typeface="Helvetica Neue"/>
                <a:ea typeface="Helvetica Neue"/>
                <a:cs typeface="Helvetica Neue"/>
              </a:rPr>
              <a:t>Trade directly from your own wallet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E2C4AD8-3E2E-4BE7-9760-FB525037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1800" b="0">
                <a:solidFill>
                  <a:srgbClr val="726A74"/>
                </a:solidFill>
                <a:latin typeface="Helvetica Neue"/>
                <a:ea typeface="Helvetica Neue"/>
                <a:cs typeface="Helvetica Neue"/>
              </a:rPr>
              <a:t>No need to hand assets to a centralized exchange first</a:t>
            </a:r>
          </a:p>
        </p:txBody>
      </p:sp>
      <p:sp>
        <p:nvSpPr>
          <p:cNvPr id="4" name="wallet-rules-path">
            <a:extLst xmlns:a="http://schemas.openxmlformats.org/drawingml/2006/main">
              <a:ext uri="{FF2B5EF4-FFF2-40B4-BE49-F238E27FC236}">
                <a16:creationId xmlns:a16="http://schemas.microsoft.com/office/drawing/2014/main" id="{1F9EE8FE-E58E-4C2F-915E-E43A73D1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48100"/>
            <a:ext cx="600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007A"/>
            </a:solidFill>
            <a:prstDash val="solid"/>
          </a:ln>
        </p:spPr>
      </p:sp>
      <p:sp>
        <p:nvSpPr>
          <p:cNvPr id="5" name="wallet-node">
            <a:extLst xmlns:a="http://schemas.openxmlformats.org/drawingml/2006/main">
              <a:ext uri="{FF2B5EF4-FFF2-40B4-BE49-F238E27FC236}">
                <a16:creationId xmlns:a16="http://schemas.microsoft.com/office/drawing/2014/main" id="{6BBD27E9-6284-4469-9569-ACF0B53A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81300"/>
            <a:ext cx="2133600" cy="213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7F0"/>
          </a:solidFill>
          <a:ln xmlns:a="http://schemas.openxmlformats.org/drawingml/2006/main" w="28575">
            <a:solidFill>
              <a:srgbClr val="FF007A"/>
            </a:solidFill>
            <a:prstDash val="solid"/>
          </a:ln>
        </p:spPr>
      </p:sp>
      <p:sp>
        <p:nvSpPr>
          <p:cNvPr id="6" name="rules-node">
            <a:extLst xmlns:a="http://schemas.openxmlformats.org/drawingml/2006/main">
              <a:ext uri="{FF2B5EF4-FFF2-40B4-BE49-F238E27FC236}">
                <a16:creationId xmlns:a16="http://schemas.microsoft.com/office/drawing/2014/main" id="{E2BD6C5F-B353-4B5D-9308-C8C9DAE7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57500"/>
            <a:ext cx="2686050" cy="19812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FF7FB"/>
          </a:solidFill>
          <a:ln xmlns:a="http://schemas.openxmlformats.org/drawingml/2006/main" w="19050">
            <a:solidFill>
              <a:srgbClr val="FF007A"/>
            </a:solidFill>
            <a:prstDash val="solid"/>
          </a:ln>
        </p:spPr>
      </p:sp>
      <p:sp>
        <p:nvSpPr>
          <p:cNvPr id="7" name="wallet-label">
            <a:extLst xmlns:a="http://schemas.openxmlformats.org/drawingml/2006/main">
              <a:ext uri="{FF2B5EF4-FFF2-40B4-BE49-F238E27FC236}">
                <a16:creationId xmlns:a16="http://schemas.microsoft.com/office/drawing/2014/main" id="{5F9C1E12-787C-4AFD-A9DE-3EEAAE14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476625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2400" b="1">
                <a:solidFill>
                  <a:srgbClr val="19151A"/>
                </a:solidFill>
                <a:latin typeface="Helvetica Neue"/>
                <a:ea typeface="Helvetica Neue"/>
                <a:cs typeface="Helvetica Neue"/>
              </a:rPr>
              <a:t>Your wallet</a:t>
            </a:r>
          </a:p>
        </p:txBody>
      </p:sp>
      <p:sp>
        <p:nvSpPr>
          <p:cNvPr id="8" name="rules-label">
            <a:extLst xmlns:a="http://schemas.openxmlformats.org/drawingml/2006/main">
              <a:ext uri="{FF2B5EF4-FFF2-40B4-BE49-F238E27FC236}">
                <a16:creationId xmlns:a16="http://schemas.microsoft.com/office/drawing/2014/main" id="{1A42A861-D738-4D6A-96E6-44ADF85D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86125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2400" b="1">
                <a:solidFill>
                  <a:srgbClr val="19151A"/>
                </a:solidFill>
                <a:latin typeface="Helvetica Neue"/>
                <a:ea typeface="Helvetica Neue"/>
                <a:cs typeface="Helvetica Neue"/>
              </a:rPr>
              <a:t>Verified onchain</a:t>
            </a:r>
          </a:p>
        </p:txBody>
      </p:sp>
      <p:sp>
        <p:nvSpPr>
          <p:cNvPr id="9" name="rules-detail">
            <a:extLst xmlns:a="http://schemas.openxmlformats.org/drawingml/2006/main">
              <a:ext uri="{FF2B5EF4-FFF2-40B4-BE49-F238E27FC236}">
                <a16:creationId xmlns:a16="http://schemas.microsoft.com/office/drawing/2014/main" id="{0F64246A-DC4C-48C2-9D45-C6038B41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81450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1600" b="0">
                <a:solidFill>
                  <a:srgbClr val="726A74"/>
                </a:solidFill>
                <a:latin typeface="Helvetica Neue"/>
                <a:ea typeface="Helvetica Neue"/>
                <a:cs typeface="Helvetica Neue"/>
              </a:rPr>
              <a:t>Powered by Uniswap v4 pools · Independent interface</a:t>
            </a:r>
          </a:p>
        </p:txBody>
      </p:sp>
    </p:spTree>
    <p:extLst>
      <p:ext uri="{BB962C8B-B14F-4D97-AF65-F5344CB8AC3E}">
        <p14:creationId xmlns:p14="http://schemas.microsoft.com/office/powerpoint/2010/main" val="18441993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age-3">
            <a:extLst xmlns:a="http://schemas.openxmlformats.org/drawingml/2006/main">
              <a:ext uri="{FF2B5EF4-FFF2-40B4-BE49-F238E27FC236}">
                <a16:creationId xmlns:a16="http://schemas.microsoft.com/office/drawing/2014/main" id="{EEC25742-41D9-4BBD-AFC1-D6E0CE90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91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 b="0">
                <a:solidFill>
                  <a:srgbClr val="726A74"/>
                </a:solidFill>
                <a:latin typeface="SF Mono"/>
                <a:ea typeface="SF Mono"/>
                <a:cs typeface="SF Mono"/>
              </a:rPr>
              <a:t>03 / 08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D8D28093-1096-44FA-BAAA-53E01EBF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3500" b="1">
                <a:solidFill>
                  <a:srgbClr val="19151A"/>
                </a:solidFill>
                <a:latin typeface="Helvetica Neue"/>
                <a:ea typeface="Helvetica Neue"/>
                <a:cs typeface="Helvetica Neue"/>
              </a:rPr>
              <a:t>Every swap creates a fee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F7A7F88-7DB0-41BF-8BC5-91B4E10F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1800" b="0">
                <a:solidFill>
                  <a:srgbClr val="726A74"/>
                </a:solidFill>
                <a:latin typeface="Helvetica Neue"/>
                <a:ea typeface="Helvetica Neue"/>
                <a:cs typeface="Helvetica Neue"/>
              </a:rPr>
              <a:t>Traders pay according to the pool rules</a:t>
            </a:r>
          </a:p>
        </p:txBody>
      </p:sp>
      <p:sp>
        <p:nvSpPr>
          <p:cNvPr id="4" name="swap-track">
            <a:extLst xmlns:a="http://schemas.openxmlformats.org/drawingml/2006/main">
              <a:ext uri="{FF2B5EF4-FFF2-40B4-BE49-F238E27FC236}">
                <a16:creationId xmlns:a16="http://schemas.microsoft.com/office/drawing/2014/main" id="{19BCF308-8869-44B6-AF51-1EDD6BC4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95750"/>
            <a:ext cx="838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0">
            <a:solidFill>
              <a:srgbClr val="E8C9D8"/>
            </a:solidFill>
            <a:prstDash val="solid"/>
          </a:ln>
        </p:spPr>
      </p:sp>
      <p:sp>
        <p:nvSpPr>
          <p:cNvPr id="5" name="swap-active">
            <a:extLst xmlns:a="http://schemas.openxmlformats.org/drawingml/2006/main">
              <a:ext uri="{FF2B5EF4-FFF2-40B4-BE49-F238E27FC236}">
                <a16:creationId xmlns:a16="http://schemas.microsoft.com/office/drawing/2014/main" id="{8399FD5A-12D7-4737-B5D7-544F755B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095750"/>
            <a:ext cx="617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007A"/>
            </a:solidFill>
            <a:prstDash val="solid"/>
          </a:ln>
        </p:spPr>
      </p:sp>
      <p:sp>
        <p:nvSpPr>
          <p:cNvPr id="6" name="asset-a">
            <a:extLst xmlns:a="http://schemas.openxmlformats.org/drawingml/2006/main">
              <a:ext uri="{FF2B5EF4-FFF2-40B4-BE49-F238E27FC236}">
                <a16:creationId xmlns:a16="http://schemas.microsoft.com/office/drawing/2014/main" id="{0825BC85-7AD1-4340-A693-4F52A250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623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5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sset-b">
            <a:extLst xmlns:a="http://schemas.openxmlformats.org/drawingml/2006/main">
              <a:ext uri="{FF2B5EF4-FFF2-40B4-BE49-F238E27FC236}">
                <a16:creationId xmlns:a16="http://schemas.microsoft.com/office/drawing/2014/main" id="{CBC8E3AB-C510-4912-BE1B-135F5240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623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9151A"/>
            </a:solidFill>
            <a:prstDash val="solid"/>
          </a:ln>
        </p:spPr>
      </p:sp>
      <p:sp>
        <p:nvSpPr>
          <p:cNvPr id="8" name="fee-pulse">
            <a:extLst xmlns:a="http://schemas.openxmlformats.org/drawingml/2006/main">
              <a:ext uri="{FF2B5EF4-FFF2-40B4-BE49-F238E27FC236}">
                <a16:creationId xmlns:a16="http://schemas.microsoft.com/office/drawing/2014/main" id="{D928DE97-ADFF-4000-AFBE-2F623D7A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385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7F0"/>
          </a:solidFill>
          <a:ln xmlns:a="http://schemas.openxmlformats.org/drawingml/2006/main" w="38100">
            <a:solidFill>
              <a:srgbClr val="FF007A"/>
            </a:solidFill>
            <a:prstDash val="solid"/>
          </a:ln>
        </p:spPr>
      </p:sp>
      <p:sp>
        <p:nvSpPr>
          <p:cNvPr id="9" name="fee-core">
            <a:extLst xmlns:a="http://schemas.openxmlformats.org/drawingml/2006/main">
              <a:ext uri="{FF2B5EF4-FFF2-40B4-BE49-F238E27FC236}">
                <a16:creationId xmlns:a16="http://schemas.microsoft.com/office/drawing/2014/main" id="{558DE1F5-87A1-422C-979F-225FF6BC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67125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03D79E-F3D2-4F85-BF10-AFBC9099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48100"/>
            <a:ext cx="106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3000" b="1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1E7E9-4BE9-46DC-B515-F74C2886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48100"/>
            <a:ext cx="106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3000" b="1">
                <a:solidFill>
                  <a:srgbClr val="19151A"/>
                </a:solidFill>
                <a:latin typeface="SF Mono"/>
                <a:ea typeface="SF Mono"/>
                <a:cs typeface="SF Mono"/>
              </a:rPr>
              <a:t>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A954BA-E789-4050-B41A-EBDBDC50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14775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1600" b="1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FEE</a:t>
            </a:r>
          </a:p>
        </p:txBody>
      </p:sp>
      <p:sp>
        <p:nvSpPr>
          <p:cNvPr id="13" name="swap-label">
            <a:extLst xmlns:a="http://schemas.openxmlformats.org/drawingml/2006/main">
              <a:ext uri="{FF2B5EF4-FFF2-40B4-BE49-F238E27FC236}">
                <a16:creationId xmlns:a16="http://schemas.microsoft.com/office/drawing/2014/main" id="{5FD75BE4-79B4-4EC6-9D2F-11FDA90F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29200"/>
            <a:ext cx="533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2400" b="1">
                <a:solidFill>
                  <a:srgbClr val="19151A"/>
                </a:solidFill>
                <a:latin typeface="Helvetica Neue"/>
                <a:ea typeface="Helvetica Neue"/>
                <a:cs typeface="Helvetica Neue"/>
              </a:rPr>
              <a:t>Someone trades on Uniswap</a:t>
            </a:r>
          </a:p>
        </p:txBody>
      </p:sp>
      <p:sp>
        <p:nvSpPr>
          <p:cNvPr id="14" name="fee-explanation">
            <a:extLst xmlns:a="http://schemas.openxmlformats.org/drawingml/2006/main">
              <a:ext uri="{FF2B5EF4-FFF2-40B4-BE49-F238E27FC236}">
                <a16:creationId xmlns:a16="http://schemas.microsoft.com/office/drawing/2014/main" id="{C2965C4E-8F0C-4CEA-8A5C-D31AEF1E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912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1600" b="0">
                <a:solidFill>
                  <a:srgbClr val="726A74"/>
                </a:solidFill>
                <a:latin typeface="Helvetica Neue"/>
                <a:ea typeface="Helvetica Neue"/>
                <a:cs typeface="Helvetica Neue"/>
              </a:rPr>
              <a:t>A swap pays a fee under the pool rules</a:t>
            </a:r>
          </a:p>
        </p:txBody>
      </p:sp>
    </p:spTree>
    <p:extLst>
      <p:ext uri="{BB962C8B-B14F-4D97-AF65-F5344CB8AC3E}">
        <p14:creationId xmlns:p14="http://schemas.microsoft.com/office/powerpoint/2010/main" val="13671779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-4">
            <a:extLst xmlns:a="http://schemas.openxmlformats.org/drawingml/2006/main">
              <a:ext uri="{FF2B5EF4-FFF2-40B4-BE49-F238E27FC236}">
                <a16:creationId xmlns:a16="http://schemas.microsoft.com/office/drawing/2014/main" id="{B9425FDF-77FF-40B3-9E5C-CCFB3FB1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91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 b="0">
                <a:solidFill>
                  <a:srgbClr val="726A74"/>
                </a:solidFill>
                <a:latin typeface="SF Mono"/>
                <a:ea typeface="SF Mono"/>
                <a:cs typeface="SF Mono"/>
              </a:rPr>
              <a:t>04 / 08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7337FC99-E691-4565-8829-3E87DF1F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3500" b="1">
                <a:solidFill>
                  <a:srgbClr val="19151A"/>
                </a:solidFill>
                <a:latin typeface="Helvetica Neue"/>
                <a:ea typeface="Helvetica Neue"/>
                <a:cs typeface="Helvetica Neue"/>
              </a:rPr>
              <a:t>Supplying trading assets can earn a share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76C783C-6482-4DC9-99C4-391F5D9B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1800" b="0">
                <a:solidFill>
                  <a:srgbClr val="726A74"/>
                </a:solidFill>
                <a:latin typeface="Helvetica Neue"/>
                <a:ea typeface="Helvetica Neue"/>
                <a:cs typeface="Helvetica Neue"/>
              </a:rPr>
              <a:t>Participants receive fee rights under the pool rules</a:t>
            </a:r>
          </a:p>
        </p:txBody>
      </p:sp>
      <p:sp>
        <p:nvSpPr>
          <p:cNvPr id="4" name="trade-assets-connector">
            <a:extLst xmlns:a="http://schemas.openxmlformats.org/drawingml/2006/main">
              <a:ext uri="{FF2B5EF4-FFF2-40B4-BE49-F238E27FC236}">
                <a16:creationId xmlns:a16="http://schemas.microsoft.com/office/drawing/2014/main" id="{7F567519-5EB2-45BC-9EDD-840A2BEA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000500"/>
            <a:ext cx="3067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7A"/>
            </a:solidFill>
            <a:prstDash val="solid"/>
          </a:ln>
        </p:spPr>
      </p:sp>
      <p:sp>
        <p:nvSpPr>
          <p:cNvPr id="5" name="assets-fee-connector">
            <a:extLst xmlns:a="http://schemas.openxmlformats.org/drawingml/2006/main">
              <a:ext uri="{FF2B5EF4-FFF2-40B4-BE49-F238E27FC236}">
                <a16:creationId xmlns:a16="http://schemas.microsoft.com/office/drawing/2014/main" id="{8AEC0B7B-99D2-4411-BCF7-DB6CBF0B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00500"/>
            <a:ext cx="3067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7A"/>
            </a:solidFill>
            <a:prstDash val="solid"/>
          </a:ln>
        </p:spPr>
      </p:sp>
      <p:sp>
        <p:nvSpPr>
          <p:cNvPr id="6" name="trade-node">
            <a:extLst xmlns:a="http://schemas.openxmlformats.org/drawingml/2006/main">
              <a:ext uri="{FF2B5EF4-FFF2-40B4-BE49-F238E27FC236}">
                <a16:creationId xmlns:a16="http://schemas.microsoft.com/office/drawing/2014/main" id="{03FE5FE4-00E3-4CAC-9002-189D5893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146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5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rade-node-label">
            <a:extLst xmlns:a="http://schemas.openxmlformats.org/drawingml/2006/main">
              <a:ext uri="{FF2B5EF4-FFF2-40B4-BE49-F238E27FC236}">
                <a16:creationId xmlns:a16="http://schemas.microsoft.com/office/drawing/2014/main" id="{904FE617-FE6A-4302-A734-9F81443C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62350"/>
            <a:ext cx="1657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trade happens</a:t>
            </a:r>
          </a:p>
        </p:txBody>
      </p:sp>
      <p:sp>
        <p:nvSpPr>
          <p:cNvPr id="8" name="assets-node">
            <a:extLst xmlns:a="http://schemas.openxmlformats.org/drawingml/2006/main">
              <a:ext uri="{FF2B5EF4-FFF2-40B4-BE49-F238E27FC236}">
                <a16:creationId xmlns:a16="http://schemas.microsoft.com/office/drawing/2014/main" id="{891CC386-865D-4FF1-9385-0ABD5F19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146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7F0"/>
          </a:solidFill>
          <a:ln xmlns:a="http://schemas.openxmlformats.org/drawingml/2006/main" w="19050">
            <a:solidFill>
              <a:srgbClr val="FF007A"/>
            </a:solidFill>
            <a:prstDash val="solid"/>
          </a:ln>
        </p:spPr>
      </p:sp>
      <p:sp>
        <p:nvSpPr>
          <p:cNvPr id="9" name="assets-node-label">
            <a:extLst xmlns:a="http://schemas.openxmlformats.org/drawingml/2006/main">
              <a:ext uri="{FF2B5EF4-FFF2-40B4-BE49-F238E27FC236}">
                <a16:creationId xmlns:a16="http://schemas.microsoft.com/office/drawing/2014/main" id="{1A1910C6-F418-4E88-902D-1E344264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562350"/>
            <a:ext cx="1657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2400" b="1">
                <a:solidFill>
                  <a:srgbClr val="19151A"/>
                </a:solidFill>
                <a:latin typeface="Helvetica Neue"/>
                <a:ea typeface="Helvetica Neue"/>
                <a:cs typeface="Helvetica Neue"/>
              </a:rPr>
              <a:t>Your assets help the trade</a:t>
            </a:r>
          </a:p>
        </p:txBody>
      </p:sp>
      <p:sp>
        <p:nvSpPr>
          <p:cNvPr id="10" name="fee-share-node">
            <a:extLst xmlns:a="http://schemas.openxmlformats.org/drawingml/2006/main">
              <a:ext uri="{FF2B5EF4-FFF2-40B4-BE49-F238E27FC236}">
                <a16:creationId xmlns:a16="http://schemas.microsoft.com/office/drawing/2014/main" id="{8B1E94B3-DB2F-4647-B702-564FBCCF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146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ee-share-node-label">
            <a:extLst xmlns:a="http://schemas.openxmlformats.org/drawingml/2006/main">
              <a:ext uri="{FF2B5EF4-FFF2-40B4-BE49-F238E27FC236}">
                <a16:creationId xmlns:a16="http://schemas.microsoft.com/office/drawing/2014/main" id="{A060812C-3603-48F0-9897-FDC0BC22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62350"/>
            <a:ext cx="1885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Fee share</a:t>
            </a:r>
          </a:p>
        </p:txBody>
      </p:sp>
    </p:spTree>
    <p:extLst>
      <p:ext uri="{BB962C8B-B14F-4D97-AF65-F5344CB8AC3E}">
        <p14:creationId xmlns:p14="http://schemas.microsoft.com/office/powerpoint/2010/main" val="20775218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E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age-5">
            <a:extLst xmlns:a="http://schemas.openxmlformats.org/drawingml/2006/main">
              <a:ext uri="{FF2B5EF4-FFF2-40B4-BE49-F238E27FC236}">
                <a16:creationId xmlns:a16="http://schemas.microsoft.com/office/drawing/2014/main" id="{4D0D6B45-1767-412B-A07E-4FA35487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91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 b="0">
                <a:solidFill>
                  <a:srgbClr val="726A74"/>
                </a:solidFill>
                <a:latin typeface="SF Mono"/>
                <a:ea typeface="SF Mono"/>
                <a:cs typeface="SF Mono"/>
              </a:rPr>
              <a:t>05 / 08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5AD731BC-F01D-441B-AB87-1A465E3C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3500" b="1">
                <a:solidFill>
                  <a:srgbClr val="19151A"/>
                </a:solidFill>
                <a:latin typeface="Helvetica Neue"/>
                <a:ea typeface="Helvetica Neue"/>
                <a:cs typeface="Helvetica Neue"/>
              </a:rPr>
              <a:t>Managing it yourself is not simple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1331403-C1D9-445A-B19C-D650C05C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1800" b="0">
                <a:solidFill>
                  <a:srgbClr val="726A74"/>
                </a:solidFill>
                <a:latin typeface="Helvetica Neue"/>
                <a:ea typeface="Helvetica Neue"/>
                <a:cs typeface="Helvetica Neue"/>
              </a:rPr>
              <a:t>Allocation, price ranges, monitoring, and adjustments all matter</a:t>
            </a:r>
          </a:p>
        </p:txBody>
      </p:sp>
      <p:sp>
        <p:nvSpPr>
          <p:cNvPr id="4" name="difficulty-question">
            <a:extLst xmlns:a="http://schemas.openxmlformats.org/drawingml/2006/main">
              <a:ext uri="{FF2B5EF4-FFF2-40B4-BE49-F238E27FC236}">
                <a16:creationId xmlns:a16="http://schemas.microsoft.com/office/drawing/2014/main" id="{6EA05185-C51D-44A0-8E25-C901348F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90800"/>
            <a:ext cx="3124200" cy="3124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FF007A"/>
            </a:solidFill>
            <a:prstDash val="solid"/>
          </a:ln>
        </p:spPr>
      </p:sp>
      <p:sp>
        <p:nvSpPr>
          <p:cNvPr id="5" name="question-mark">
            <a:extLst xmlns:a="http://schemas.openxmlformats.org/drawingml/2006/main">
              <a:ext uri="{FF2B5EF4-FFF2-40B4-BE49-F238E27FC236}">
                <a16:creationId xmlns:a16="http://schemas.microsoft.com/office/drawing/2014/main" id="{F7535F6C-2E0A-4800-85B4-6FE4C139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314700"/>
            <a:ext cx="14097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11200" b="1">
                <a:solidFill>
                  <a:srgbClr val="FF007A"/>
                </a:solidFill>
                <a:latin typeface="SF Mono"/>
                <a:ea typeface="SF Mono"/>
                <a:cs typeface="SF Mono"/>
              </a:rPr>
              <a:t>?</a:t>
            </a:r>
          </a:p>
        </p:txBody>
      </p:sp>
      <p:sp>
        <p:nvSpPr>
          <p:cNvPr id="6" name="task-01-index">
            <a:extLst xmlns:a="http://schemas.openxmlformats.org/drawingml/2006/main">
              <a:ext uri="{FF2B5EF4-FFF2-40B4-BE49-F238E27FC236}">
                <a16:creationId xmlns:a16="http://schemas.microsoft.com/office/drawing/2014/main" id="{4D154CE1-F3B8-4EB5-B4F8-C9F37E19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1600" b="1">
                <a:solidFill>
                  <a:srgbClr val="FF007A"/>
                </a:solidFill>
                <a:latin typeface="SF Mono"/>
                <a:ea typeface="SF Mono"/>
                <a:cs typeface="SF Mono"/>
              </a:rPr>
              <a:t>01</a:t>
            </a:r>
          </a:p>
        </p:txBody>
      </p:sp>
      <p:sp>
        <p:nvSpPr>
          <p:cNvPr id="7" name="task-01-label">
            <a:extLst xmlns:a="http://schemas.openxmlformats.org/drawingml/2006/main">
              <a:ext uri="{FF2B5EF4-FFF2-40B4-BE49-F238E27FC236}">
                <a16:creationId xmlns:a16="http://schemas.microsoft.com/office/drawing/2014/main" id="{96851467-8E87-4893-AC69-25AD55DF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2400" b="1">
                <a:solidFill>
                  <a:srgbClr val="19151A"/>
                </a:solidFill>
                <a:latin typeface="Helvetica Neue"/>
                <a:ea typeface="Helvetica Neue"/>
                <a:cs typeface="Helvetica Neue"/>
              </a:rPr>
              <a:t>Supported assets</a:t>
            </a:r>
          </a:p>
        </p:txBody>
      </p:sp>
      <p:sp>
        <p:nvSpPr>
          <p:cNvPr id="8" name="task-02-index">
            <a:extLst xmlns:a="http://schemas.openxmlformats.org/drawingml/2006/main">
              <a:ext uri="{FF2B5EF4-FFF2-40B4-BE49-F238E27FC236}">
                <a16:creationId xmlns:a16="http://schemas.microsoft.com/office/drawing/2014/main" id="{109D93B6-143D-4FE3-9078-150AD646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479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1600" b="1">
                <a:solidFill>
                  <a:srgbClr val="FF007A"/>
                </a:solidFill>
                <a:latin typeface="SF Mono"/>
                <a:ea typeface="SF Mono"/>
                <a:cs typeface="SF Mono"/>
              </a:rPr>
              <a:t>02</a:t>
            </a:r>
          </a:p>
        </p:txBody>
      </p:sp>
      <p:sp>
        <p:nvSpPr>
          <p:cNvPr id="9" name="task-02-label">
            <a:extLst xmlns:a="http://schemas.openxmlformats.org/drawingml/2006/main">
              <a:ext uri="{FF2B5EF4-FFF2-40B4-BE49-F238E27FC236}">
                <a16:creationId xmlns:a16="http://schemas.microsoft.com/office/drawing/2014/main" id="{17C7E936-70BB-4A78-AC8C-80EE79B7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86100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2400" b="1">
                <a:solidFill>
                  <a:srgbClr val="19151A"/>
                </a:solidFill>
                <a:latin typeface="Helvetica Neue"/>
                <a:ea typeface="Helvetica Neue"/>
                <a:cs typeface="Helvetica Neue"/>
              </a:rPr>
              <a:t>Learn the pool rules first</a:t>
            </a:r>
          </a:p>
        </p:txBody>
      </p:sp>
      <p:sp>
        <p:nvSpPr>
          <p:cNvPr id="10" name="task-03-index">
            <a:extLst xmlns:a="http://schemas.openxmlformats.org/drawingml/2006/main">
              <a:ext uri="{FF2B5EF4-FFF2-40B4-BE49-F238E27FC236}">
                <a16:creationId xmlns:a16="http://schemas.microsoft.com/office/drawing/2014/main" id="{D565A444-E457-43C3-8138-13B9385F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1600" b="1">
                <a:solidFill>
                  <a:srgbClr val="FF007A"/>
                </a:solidFill>
                <a:latin typeface="SF Mono"/>
                <a:ea typeface="SF Mono"/>
                <a:cs typeface="SF Mono"/>
              </a:rPr>
              <a:t>03</a:t>
            </a:r>
          </a:p>
        </p:txBody>
      </p:sp>
      <p:sp>
        <p:nvSpPr>
          <p:cNvPr id="11" name="task-03-label">
            <a:extLst xmlns:a="http://schemas.openxmlformats.org/drawingml/2006/main">
              <a:ext uri="{FF2B5EF4-FFF2-40B4-BE49-F238E27FC236}">
                <a16:creationId xmlns:a16="http://schemas.microsoft.com/office/drawing/2014/main" id="{C5BD7B9F-E521-453D-A30F-A857EAEB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00650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2400" b="1">
                <a:solidFill>
                  <a:srgbClr val="19151A"/>
                </a:solidFill>
                <a:latin typeface="Helvetica Neue"/>
                <a:ea typeface="Helvetica Neue"/>
                <a:cs typeface="Helvetica Neue"/>
              </a:rPr>
              <a:t>Choose where your funds sit</a:t>
            </a:r>
          </a:p>
        </p:txBody>
      </p:sp>
      <p:sp>
        <p:nvSpPr>
          <p:cNvPr id="12" name="task-04-index">
            <a:extLst xmlns:a="http://schemas.openxmlformats.org/drawingml/2006/main">
              <a:ext uri="{FF2B5EF4-FFF2-40B4-BE49-F238E27FC236}">
                <a16:creationId xmlns:a16="http://schemas.microsoft.com/office/drawing/2014/main" id="{C4BBB5A2-C1E5-4882-8F32-8C180F68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76250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1600" b="1">
                <a:solidFill>
                  <a:srgbClr val="FF007A"/>
                </a:solidFill>
                <a:latin typeface="SF Mono"/>
                <a:ea typeface="SF Mono"/>
                <a:cs typeface="SF Mono"/>
              </a:rPr>
              <a:t>04</a:t>
            </a:r>
          </a:p>
        </p:txBody>
      </p:sp>
      <p:sp>
        <p:nvSpPr>
          <p:cNvPr id="13" name="task-04-label">
            <a:extLst xmlns:a="http://schemas.openxmlformats.org/drawingml/2006/main">
              <a:ext uri="{FF2B5EF4-FFF2-40B4-BE49-F238E27FC236}">
                <a16:creationId xmlns:a16="http://schemas.microsoft.com/office/drawing/2014/main" id="{41816ECE-FE87-4360-A810-5EB813DA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200650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2400" b="1">
                <a:solidFill>
                  <a:srgbClr val="19151A"/>
                </a:solidFill>
                <a:latin typeface="Helvetica Neue"/>
                <a:ea typeface="Helvetica Neue"/>
                <a:cs typeface="Helvetica Neue"/>
              </a:rPr>
              <a:t>Adjust when prices move</a:t>
            </a:r>
          </a:p>
        </p:txBody>
      </p:sp>
    </p:spTree>
    <p:extLst>
      <p:ext uri="{BB962C8B-B14F-4D97-AF65-F5344CB8AC3E}">
        <p14:creationId xmlns:p14="http://schemas.microsoft.com/office/powerpoint/2010/main" val="3790659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db33887b034262"/>
          <a:srcRect xmlns:a="http://schemas.openxmlformats.org/drawingml/2006/main" l="18519" t="0" r="185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477000" cy="685800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d65160dd434fbe"/>
          <a:srcRect xmlns:a="http://schemas.openxmlformats.org/drawingml/2006/main" l="21854" t="0" r="218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19800" y="0"/>
            <a:ext cx="61722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flow-edge-mask">
            <a:extLst xmlns:a="http://schemas.openxmlformats.org/drawingml/2006/main">
              <a:ext uri="{FF2B5EF4-FFF2-40B4-BE49-F238E27FC236}">
                <a16:creationId xmlns:a16="http://schemas.microsoft.com/office/drawing/2014/main" id="{A8FC6494-07B8-4392-8483-7E6FB228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76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unieddy-title">
            <a:extLst xmlns:a="http://schemas.openxmlformats.org/drawingml/2006/main">
              <a:ext uri="{FF2B5EF4-FFF2-40B4-BE49-F238E27FC236}">
                <a16:creationId xmlns:a16="http://schemas.microsoft.com/office/drawing/2014/main" id="{B4B827EE-9359-4FAB-BBF2-09920749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5619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3500" b="1">
                <a:solidFill>
                  <a:srgbClr val="19151A"/>
                </a:solidFill>
                <a:latin typeface="Helvetica Neue"/>
                <a:ea typeface="Helvetica Neue"/>
                <a:cs typeface="Helvetica Neue"/>
              </a:rPr>
              <a:t>UniEddy turns complex management into simpler participation</a:t>
            </a:r>
          </a:p>
        </p:txBody>
      </p:sp>
      <p:sp>
        <p:nvSpPr>
          <p:cNvPr id="5" name="unieddy-callout">
            <a:extLst xmlns:a="http://schemas.openxmlformats.org/drawingml/2006/main">
              <a:ext uri="{FF2B5EF4-FFF2-40B4-BE49-F238E27FC236}">
                <a16:creationId xmlns:a16="http://schemas.microsoft.com/office/drawing/2014/main" id="{CE730AF6-BD02-4035-8072-6EB7A113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495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2400" b="1">
                <a:solidFill>
                  <a:srgbClr val="FF007A"/>
                </a:solidFill>
                <a:latin typeface="Helvetica Neue"/>
                <a:ea typeface="Helvetica Neue"/>
                <a:cs typeface="Helvetica Neue"/>
              </a:rPr>
              <a:t>The system monitors; fixed rules decide when to act</a:t>
            </a:r>
          </a:p>
        </p:txBody>
      </p:sp>
      <p:sp>
        <p:nvSpPr>
          <p:cNvPr id="6" name="unieddy-explanation">
            <a:extLst xmlns:a="http://schemas.openxmlformats.org/drawingml/2006/main">
              <a:ext uri="{FF2B5EF4-FFF2-40B4-BE49-F238E27FC236}">
                <a16:creationId xmlns:a16="http://schemas.microsoft.com/office/drawing/2014/main" id="{FCBA86A5-003D-4EE9-9BCD-D4A7AE9B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4762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1600" b="0">
                <a:solidFill>
                  <a:srgbClr val="726A74"/>
                </a:solidFill>
                <a:latin typeface="Helvetica Neue"/>
                <a:ea typeface="Helvetica Neue"/>
                <a:cs typeface="Helvetica Neue"/>
              </a:rPr>
              <a:t>AI analyzes; fixed rules decide whether to act.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0eab82906448c0"/>
          <a:stretch xmlns:a="http://schemas.openxmlformats.org/drawingml/2006/main"/>
        </p:blipFill>
        <p:spPr>
          <a:xfrm xmlns:a="http://schemas.openxmlformats.org/drawingml/2006/main">
            <a:off x="7983141" y="2514600"/>
            <a:ext cx="2378869" cy="2114550"/>
          </a:xfrm>
          <a:prstGeom xmlns:a="http://schemas.openxmlformats.org/drawingml/2006/main" prst="rect">
            <a:avLst/>
          </a:prstGeom>
        </p:spPr>
      </p:pic>
      <p:sp>
        <p:nvSpPr>
          <p:cNvPr id="8" name="unieddy-wordmark">
            <a:extLst xmlns:a="http://schemas.openxmlformats.org/drawingml/2006/main">
              <a:ext uri="{FF2B5EF4-FFF2-40B4-BE49-F238E27FC236}">
                <a16:creationId xmlns:a16="http://schemas.microsoft.com/office/drawing/2014/main" id="{44C66DF3-9E0C-4822-9F06-F58203C4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62500"/>
            <a:ext cx="2343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3000" b="1">
                <a:solidFill>
                  <a:srgbClr val="19151A"/>
                </a:solidFill>
                <a:latin typeface="Helvetica Neue"/>
                <a:ea typeface="Helvetica Neue"/>
                <a:cs typeface="Helvetica Neue"/>
              </a:rPr>
              <a:t>UniEddy</a:t>
            </a:r>
          </a:p>
        </p:txBody>
      </p:sp>
      <p:sp>
        <p:nvSpPr>
          <p:cNvPr id="9" name="page-6">
            <a:extLst xmlns:a="http://schemas.openxmlformats.org/drawingml/2006/main">
              <a:ext uri="{FF2B5EF4-FFF2-40B4-BE49-F238E27FC236}">
                <a16:creationId xmlns:a16="http://schemas.microsoft.com/office/drawing/2014/main" id="{82C39E2E-7A43-43B9-A9BA-2C0FD1DE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91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 b="0">
                <a:solidFill>
                  <a:srgbClr val="726A74"/>
                </a:solidFill>
                <a:latin typeface="SF Mono"/>
                <a:ea typeface="SF Mono"/>
                <a:cs typeface="SF Mono"/>
              </a:rPr>
              <a:t>06 / 08</a:t>
            </a:r>
          </a:p>
        </p:txBody>
      </p:sp>
    </p:spTree>
    <p:extLst>
      <p:ext uri="{BB962C8B-B14F-4D97-AF65-F5344CB8AC3E}">
        <p14:creationId xmlns:p14="http://schemas.microsoft.com/office/powerpoint/2010/main" val="15433078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age-7">
            <a:extLst xmlns:a="http://schemas.openxmlformats.org/drawingml/2006/main">
              <a:ext uri="{FF2B5EF4-FFF2-40B4-BE49-F238E27FC236}">
                <a16:creationId xmlns:a16="http://schemas.microsoft.com/office/drawing/2014/main" id="{CECB0815-7DD1-400A-815F-AEDA1C31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91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 b="0">
                <a:solidFill>
                  <a:srgbClr val="726A74"/>
                </a:solidFill>
                <a:latin typeface="SF Mono"/>
                <a:ea typeface="SF Mono"/>
                <a:cs typeface="SF Mono"/>
              </a:rPr>
              <a:t>07 / 08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72F63968-A9FD-4DA0-AA96-0C21DABF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3500" b="1">
                <a:solidFill>
                  <a:srgbClr val="19151A"/>
                </a:solidFill>
                <a:latin typeface="Helvetica Neue"/>
                <a:ea typeface="Helvetica Neue"/>
                <a:cs typeface="Helvetica Neue"/>
              </a:rPr>
              <a:t>Real trades. Real fees. Verifiable onchain.</a:t>
            </a:r>
          </a:p>
        </p:txBody>
      </p:sp>
      <p:sp>
        <p:nvSpPr>
          <p:cNvPr id="3" name="proof-01-index">
            <a:extLst xmlns:a="http://schemas.openxmlformats.org/drawingml/2006/main">
              <a:ext uri="{FF2B5EF4-FFF2-40B4-BE49-F238E27FC236}">
                <a16:creationId xmlns:a16="http://schemas.microsoft.com/office/drawing/2014/main" id="{786F2C31-B644-4380-ABED-357961E3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1600" b="1">
                <a:solidFill>
                  <a:srgbClr val="FF007A"/>
                </a:solidFill>
                <a:latin typeface="SF Mono"/>
                <a:ea typeface="SF Mono"/>
                <a:cs typeface="SF Mono"/>
              </a:rPr>
              <a:t>01</a:t>
            </a:r>
          </a:p>
        </p:txBody>
      </p:sp>
      <p:sp>
        <p:nvSpPr>
          <p:cNvPr id="4" name="proof-01-label">
            <a:extLst xmlns:a="http://schemas.openxmlformats.org/drawingml/2006/main">
              <a:ext uri="{FF2B5EF4-FFF2-40B4-BE49-F238E27FC236}">
                <a16:creationId xmlns:a16="http://schemas.microsoft.com/office/drawing/2014/main" id="{484BC589-E5F7-42A1-B8F7-A7D45F2C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383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2400" b="1">
                <a:solidFill>
                  <a:srgbClr val="19151A"/>
                </a:solidFill>
                <a:latin typeface="Helvetica Neue"/>
                <a:ea typeface="Helvetica Neue"/>
                <a:cs typeface="Helvetica Neue"/>
              </a:rPr>
              <a:t>A trade happens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771358-3B83-4953-987D-60B730EA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DBE6"/>
            </a:solidFill>
            <a:prstDash val="solid"/>
          </a:ln>
        </p:spPr>
      </p:sp>
      <p:sp>
        <p:nvSpPr>
          <p:cNvPr id="6" name="proof-02-index">
            <a:extLst xmlns:a="http://schemas.openxmlformats.org/drawingml/2006/main">
              <a:ext uri="{FF2B5EF4-FFF2-40B4-BE49-F238E27FC236}">
                <a16:creationId xmlns:a16="http://schemas.microsoft.com/office/drawing/2014/main" id="{244FE025-EC3B-4A8F-887F-EA60C306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1600" b="1">
                <a:solidFill>
                  <a:srgbClr val="FF007A"/>
                </a:solidFill>
                <a:latin typeface="SF Mono"/>
                <a:ea typeface="SF Mono"/>
                <a:cs typeface="SF Mono"/>
              </a:rPr>
              <a:t>02</a:t>
            </a:r>
          </a:p>
        </p:txBody>
      </p:sp>
      <p:sp>
        <p:nvSpPr>
          <p:cNvPr id="7" name="proof-02-label">
            <a:extLst xmlns:a="http://schemas.openxmlformats.org/drawingml/2006/main">
              <a:ext uri="{FF2B5EF4-FFF2-40B4-BE49-F238E27FC236}">
                <a16:creationId xmlns:a16="http://schemas.microsoft.com/office/drawing/2014/main" id="{FF8DEE42-534B-47E6-919A-FAC63597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337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2400" b="1">
                <a:solidFill>
                  <a:srgbClr val="19151A"/>
                </a:solidFill>
                <a:latin typeface="Helvetica Neue"/>
                <a:ea typeface="Helvetica Neue"/>
                <a:cs typeface="Helvetica Neue"/>
              </a:rPr>
              <a:t>Fee settlement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0CFD14-C38A-47A1-99FB-BD2346B8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DBE6"/>
            </a:solidFill>
            <a:prstDash val="solid"/>
          </a:ln>
        </p:spPr>
      </p:sp>
      <p:sp>
        <p:nvSpPr>
          <p:cNvPr id="9" name="proof-03-index">
            <a:extLst xmlns:a="http://schemas.openxmlformats.org/drawingml/2006/main">
              <a:ext uri="{FF2B5EF4-FFF2-40B4-BE49-F238E27FC236}">
                <a16:creationId xmlns:a16="http://schemas.microsoft.com/office/drawing/2014/main" id="{7524BE7D-4C29-4FBB-B359-BE3FDD12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1600" b="1">
                <a:solidFill>
                  <a:srgbClr val="FF007A"/>
                </a:solidFill>
                <a:latin typeface="SF Mono"/>
                <a:ea typeface="SF Mono"/>
                <a:cs typeface="SF Mono"/>
              </a:rPr>
              <a:t>03</a:t>
            </a:r>
          </a:p>
        </p:txBody>
      </p:sp>
      <p:sp>
        <p:nvSpPr>
          <p:cNvPr id="10" name="proof-03-label">
            <a:extLst xmlns:a="http://schemas.openxmlformats.org/drawingml/2006/main">
              <a:ext uri="{FF2B5EF4-FFF2-40B4-BE49-F238E27FC236}">
                <a16:creationId xmlns:a16="http://schemas.microsoft.com/office/drawing/2014/main" id="{540EB018-6513-4F46-80ED-7F90BAD7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290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2400" b="1">
                <a:solidFill>
                  <a:srgbClr val="19151A"/>
                </a:solidFill>
                <a:latin typeface="Helvetica Neue"/>
                <a:ea typeface="Helvetica Neue"/>
                <a:cs typeface="Helvetica Neue"/>
              </a:rPr>
              <a:t>Your wallet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0D8415-C651-46F9-B5FE-EDE99471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DBE6"/>
            </a:solidFill>
            <a:prstDash val="solid"/>
          </a:ln>
        </p:spPr>
      </p:sp>
      <p:sp>
        <p:nvSpPr>
          <p:cNvPr id="12" name="risk-statement">
            <a:extLst xmlns:a="http://schemas.openxmlformats.org/drawingml/2006/main">
              <a:ext uri="{FF2B5EF4-FFF2-40B4-BE49-F238E27FC236}">
                <a16:creationId xmlns:a16="http://schemas.microsoft.com/office/drawing/2014/main" id="{4E2779A7-0F91-497E-9C1F-1017354C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1064895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007A"/>
            </a:solidFill>
            <a:prstDash val="solid"/>
          </a:ln>
        </p:spPr>
      </p:sp>
      <p:sp>
        <p:nvSpPr>
          <p:cNvPr id="13" name="risk-copy">
            <a:extLst xmlns:a="http://schemas.openxmlformats.org/drawingml/2006/main">
              <a:ext uri="{FF2B5EF4-FFF2-40B4-BE49-F238E27FC236}">
                <a16:creationId xmlns:a16="http://schemas.microsoft.com/office/drawing/2014/main" id="{CDE8F8BB-9B34-43E5-AE82-9E8D2E2F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38750"/>
            <a:ext cx="1011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1800" b="1">
                <a:solidFill>
                  <a:srgbClr val="19151A"/>
                </a:solidFill>
                <a:latin typeface="Helvetica Neue"/>
                <a:ea typeface="Helvetica Neue"/>
                <a:cs typeface="Helvetica Neue"/>
              </a:rPr>
              <a:t>Fees are not guaranteed · asset values can change</a:t>
            </a:r>
          </a:p>
        </p:txBody>
      </p:sp>
      <p:sp>
        <p:nvSpPr>
          <p:cNvPr id="14" name="independent-footer">
            <a:extLst xmlns:a="http://schemas.openxmlformats.org/drawingml/2006/main">
              <a:ext uri="{FF2B5EF4-FFF2-40B4-BE49-F238E27FC236}">
                <a16:creationId xmlns:a16="http://schemas.microsoft.com/office/drawing/2014/main" id="{2D09433F-8A70-4B6E-8D81-A2DC650E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1064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1200" b="0">
                <a:solidFill>
                  <a:srgbClr val="726A74"/>
                </a:solidFill>
                <a:latin typeface="Helvetica Neue"/>
                <a:ea typeface="Helvetica Neue"/>
                <a:cs typeface="Helvetica Neue"/>
              </a:rPr>
              <a:t>Built on Uniswap v4 · Independent third-party service · Not affiliated with Uniswap Labs</a:t>
            </a:r>
          </a:p>
        </p:txBody>
      </p:sp>
    </p:spTree>
    <p:extLst>
      <p:ext uri="{BB962C8B-B14F-4D97-AF65-F5344CB8AC3E}">
        <p14:creationId xmlns:p14="http://schemas.microsoft.com/office/powerpoint/2010/main" val="6993852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age-8">
            <a:extLst xmlns:a="http://schemas.openxmlformats.org/drawingml/2006/main">
              <a:ext uri="{FF2B5EF4-FFF2-40B4-BE49-F238E27FC236}">
                <a16:creationId xmlns:a16="http://schemas.microsoft.com/office/drawing/2014/main" id="{65E1D1B4-2E19-4815-82D8-298E617C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91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 b="0">
                <a:solidFill>
                  <a:srgbClr val="726A74"/>
                </a:solidFill>
                <a:latin typeface="SF Mono"/>
                <a:ea typeface="SF Mono"/>
                <a:cs typeface="SF Mono"/>
              </a:rPr>
              <a:t>08 / 08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3866ff518b4355"/>
          <a:stretch xmlns:a="http://schemas.openxmlformats.org/drawingml/2006/main"/>
        </p:blipFill>
        <p:spPr>
          <a:xfrm xmlns:a="http://schemas.openxmlformats.org/drawingml/2006/main">
            <a:off x="5131594" y="495300"/>
            <a:ext cx="1928813" cy="1714500"/>
          </a:xfrm>
          <a:prstGeom xmlns:a="http://schemas.openxmlformats.org/drawingml/2006/main" prst="rect">
            <a:avLst/>
          </a:prstGeom>
        </p:spPr>
      </p:pic>
      <p:sp>
        <p:nvSpPr>
          <p:cNvPr id="3" name="cta-wordmark">
            <a:extLst xmlns:a="http://schemas.openxmlformats.org/drawingml/2006/main">
              <a:ext uri="{FF2B5EF4-FFF2-40B4-BE49-F238E27FC236}">
                <a16:creationId xmlns:a16="http://schemas.microsoft.com/office/drawing/2014/main" id="{0911ED80-7795-427D-A343-E431F41E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90750"/>
            <a:ext cx="3390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3000" b="1">
                <a:solidFill>
                  <a:srgbClr val="19151A"/>
                </a:solidFill>
                <a:latin typeface="Helvetica Neue"/>
                <a:ea typeface="Helvetica Neue"/>
                <a:cs typeface="Helvetica Neue"/>
              </a:rPr>
              <a:t>UniEddy</a:t>
            </a:r>
          </a:p>
        </p:txBody>
      </p:sp>
      <p:sp>
        <p:nvSpPr>
          <p:cNvPr id="4" name="cta-title">
            <a:extLst xmlns:a="http://schemas.openxmlformats.org/drawingml/2006/main">
              <a:ext uri="{FF2B5EF4-FFF2-40B4-BE49-F238E27FC236}">
                <a16:creationId xmlns:a16="http://schemas.microsoft.com/office/drawing/2014/main" id="{563B3481-3C81-4BE9-BF2A-B5F40170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14650"/>
            <a:ext cx="895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5000" b="1">
                <a:solidFill>
                  <a:srgbClr val="19151A"/>
                </a:solidFill>
                <a:latin typeface="Helvetica Neue"/>
                <a:ea typeface="Helvetica Neue"/>
                <a:cs typeface="Helvetica Neue"/>
              </a:rPr>
              <a:t>Enter the DApp</a:t>
            </a:r>
          </a:p>
        </p:txBody>
      </p:sp>
      <p:sp>
        <p:nvSpPr>
          <p:cNvPr id="5" name="cta-subtitle">
            <a:extLst xmlns:a="http://schemas.openxmlformats.org/drawingml/2006/main">
              <a:ext uri="{FF2B5EF4-FFF2-40B4-BE49-F238E27FC236}">
                <a16:creationId xmlns:a16="http://schemas.microsoft.com/office/drawing/2014/main" id="{F519CB30-6CA5-4060-99BB-3C5B0F51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9095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1800" b="0">
                <a:solidFill>
                  <a:srgbClr val="726A74"/>
                </a:solidFill>
                <a:latin typeface="Helvetica Neue"/>
                <a:ea typeface="Helvetica Neue"/>
                <a:cs typeface="Helvetica Neue"/>
              </a:rPr>
              <a:t>Explore how you can participate</a:t>
            </a:r>
          </a:p>
        </p:txBody>
      </p:sp>
      <p:sp>
        <p:nvSpPr>
          <p:cNvPr id="6" name="cta-button">
            <a:extLst xmlns:a="http://schemas.openxmlformats.org/drawingml/2006/main">
              <a:ext uri="{FF2B5EF4-FFF2-40B4-BE49-F238E27FC236}">
                <a16:creationId xmlns:a16="http://schemas.microsoft.com/office/drawing/2014/main" id="{B29B555C-E328-48AB-8971-0BE7107A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52950"/>
            <a:ext cx="4533900" cy="819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ta-button-label">
            <a:extLst xmlns:a="http://schemas.openxmlformats.org/drawingml/2006/main">
              <a:ext uri="{FF2B5EF4-FFF2-40B4-BE49-F238E27FC236}">
                <a16:creationId xmlns:a16="http://schemas.microsoft.com/office/drawing/2014/main" id="{02949563-2B55-442A-AA98-850CF08C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762500"/>
            <a:ext cx="403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Enter the DApp</a:t>
            </a:r>
          </a:p>
        </p:txBody>
      </p:sp>
      <p:sp>
        <p:nvSpPr>
          <p:cNvPr id="8" name="cta-help">
            <a:extLst xmlns:a="http://schemas.openxmlformats.org/drawingml/2006/main">
              <a:ext uri="{FF2B5EF4-FFF2-40B4-BE49-F238E27FC236}">
                <a16:creationId xmlns:a16="http://schemas.microsoft.com/office/drawing/2014/main" id="{4A3463D2-C6F9-496D-B9CE-08C9B306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6769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1600" b="1">
                <a:solidFill>
                  <a:srgbClr val="FF007A"/>
                </a:solidFill>
                <a:latin typeface="Helvetica Neue"/>
                <a:ea typeface="Helvetica Neue"/>
                <a:cs typeface="Helvetica Neue"/>
              </a:rPr>
              <a:t>Need help? Get official guidance</a:t>
            </a:r>
          </a:p>
        </p:txBody>
      </p:sp>
      <p:sp>
        <p:nvSpPr>
          <p:cNvPr id="9" name="cta-independent-footer">
            <a:extLst xmlns:a="http://schemas.openxmlformats.org/drawingml/2006/main">
              <a:ext uri="{FF2B5EF4-FFF2-40B4-BE49-F238E27FC236}">
                <a16:creationId xmlns:a16="http://schemas.microsoft.com/office/drawing/2014/main" id="{7CA469B6-823D-4AE5-9C53-3CCEC6F3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4365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1200" b="0">
                <a:solidFill>
                  <a:srgbClr val="726A74"/>
                </a:solidFill>
                <a:latin typeface="Helvetica Neue"/>
                <a:ea typeface="Helvetica Neue"/>
                <a:cs typeface="Helvetica Neue"/>
              </a:rPr>
              <a:t>Built on Uniswap v4 · Independent third-party service · Not affiliated with Uniswap Labs</a:t>
            </a:r>
          </a:p>
        </p:txBody>
      </p:sp>
    </p:spTree>
    <p:extLst>
      <p:ext uri="{BB962C8B-B14F-4D97-AF65-F5344CB8AC3E}">
        <p14:creationId xmlns:p14="http://schemas.microsoft.com/office/powerpoint/2010/main" val="1659065632"/>
      </p:ext>
    </p:extLst>
  </p:cSld>
</p:sld>
</file>

<file path=ppt/theme/theme1.xml><?xml version="1.0" encoding="utf-8"?>
<a:theme xmlns:a="http://schemas.openxmlformats.org/drawingml/2006/main" name="ChatGPT">
  <a:themeElements>
    <a:clrScheme name="UniEddy Intro">
      <a:dk1>
        <a:srgbClr val="000000"/>
      </a:dk1>
      <a:lt1>
        <a:srgbClr val="FFFFFF"/>
      </a:lt1>
      <a:dk2>
        <a:srgbClr val="19151A"/>
      </a:dk2>
      <a:lt2>
        <a:srgbClr val="F8E7F0"/>
      </a:lt2>
      <a:accent1>
        <a:srgbClr val="FF007A"/>
      </a:accent1>
      <a:accent2>
        <a:srgbClr val="F50DB4"/>
      </a:accent2>
      <a:accent3>
        <a:srgbClr val="FC72FF"/>
      </a:accent3>
      <a:accent4>
        <a:srgbClr val="F8E7F0"/>
      </a:accent4>
      <a:accent5>
        <a:srgbClr val="8F59FF"/>
      </a:accent5>
      <a:accent6>
        <a:srgbClr val="4263EB"/>
      </a:accent6>
      <a:hlink>
        <a:srgbClr val="FF007A"/>
      </a:hlink>
      <a:folHlink>
        <a:srgbClr val="F50DB4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UniEddy Intr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2026-08-02T06:44:44.9480000Z</dcterms:created>
  <dcterms:modified xsi:type="dcterms:W3CDTF">2026-08-02T06:44:44.9480000Z</dcterms:modified>
</coreProperties>
</file>