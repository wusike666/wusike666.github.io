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389bc108474366" /><Relationship Type="http://schemas.openxmlformats.org/officeDocument/2006/relationships/extended-properties" Target="/docProps/app.xml" Id="Re943e16241bf44d9" /><Relationship Type="http://schemas.openxmlformats.org/officeDocument/2006/relationships/officeDocument" Target="/ppt/presentation.xml" Id="R1df9535d4c4945ab" /></Relationships>
</file>

<file path=ppt/presentation.xml><?xml version="1.0" encoding="utf-8"?>
<p:presentation xmlns:p="http://schemas.openxmlformats.org/presentationml/2006/main">
  <p:sldMasterIdLst>
    <p:sldMasterId xmlns:r="http://schemas.openxmlformats.org/officeDocument/2006/relationships" id="2147483648" r:id="Re015c03159ab425e"/>
  </p:sldMasterIdLst>
  <p:notesMasterIdLst>
    <p:notesMasterId xmlns:r="http://schemas.openxmlformats.org/officeDocument/2006/relationships" r:id="R9012ac5d712e426e"/>
  </p:notesMasterIdLst>
  <p:sldIdLst>
    <p:sldId xmlns:r="http://schemas.openxmlformats.org/officeDocument/2006/relationships" id="256" r:id="R7dc20e614d1a43a6"/>
    <p:sldId xmlns:r="http://schemas.openxmlformats.org/officeDocument/2006/relationships" id="257" r:id="R3bbed7431e644edb"/>
    <p:sldId xmlns:r="http://schemas.openxmlformats.org/officeDocument/2006/relationships" id="258" r:id="R1b04f6de1eaf440b"/>
    <p:sldId xmlns:r="http://schemas.openxmlformats.org/officeDocument/2006/relationships" id="259" r:id="R7fa75ab41f014d30"/>
    <p:sldId xmlns:r="http://schemas.openxmlformats.org/officeDocument/2006/relationships" id="260" r:id="R6dc5cea50450418c"/>
    <p:sldId xmlns:r="http://schemas.openxmlformats.org/officeDocument/2006/relationships" id="261" r:id="Rc5a0980a44d44163"/>
    <p:sldId xmlns:r="http://schemas.openxmlformats.org/officeDocument/2006/relationships" id="262" r:id="Rd1d3ad53cb424733"/>
    <p:sldId xmlns:r="http://schemas.openxmlformats.org/officeDocument/2006/relationships" id="263" r:id="R240ed5bf992442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66a700eaea4115" /><Relationship Type="http://schemas.openxmlformats.org/officeDocument/2006/relationships/slideMaster" Target="/ppt/slideMasters/slideMaster1.xml" Id="Re015c03159ab425e" /><Relationship Type="http://schemas.openxmlformats.org/officeDocument/2006/relationships/notesMaster" Target="/ppt/notesMasters/notesMaster1.xml" Id="R9012ac5d712e426e" /><Relationship Type="http://schemas.openxmlformats.org/officeDocument/2006/relationships/presProps" Target="/ppt/presProps.xml" Id="Raa7bfa44fa6a48c0" /><Relationship Type="http://schemas.openxmlformats.org/officeDocument/2006/relationships/tableStyles" Target="/ppt/tableStyles.xml" Id="Rb0edae236b4d4ac8" /><Relationship Type="http://schemas.openxmlformats.org/officeDocument/2006/relationships/slide" Target="/ppt/slides/slide1.xml" Id="R7dc20e614d1a43a6" /><Relationship Type="http://schemas.openxmlformats.org/officeDocument/2006/relationships/slide" Target="/ppt/slides/slide2.xml" Id="R3bbed7431e644edb" /><Relationship Type="http://schemas.openxmlformats.org/officeDocument/2006/relationships/slide" Target="/ppt/slides/slide3.xml" Id="R1b04f6de1eaf440b" /><Relationship Type="http://schemas.openxmlformats.org/officeDocument/2006/relationships/slide" Target="/ppt/slides/slide4.xml" Id="R7fa75ab41f014d30" /><Relationship Type="http://schemas.openxmlformats.org/officeDocument/2006/relationships/slide" Target="/ppt/slides/slide5.xml" Id="R6dc5cea50450418c" /><Relationship Type="http://schemas.openxmlformats.org/officeDocument/2006/relationships/slide" Target="/ppt/slides/slide6.xml" Id="Rc5a0980a44d44163" /><Relationship Type="http://schemas.openxmlformats.org/officeDocument/2006/relationships/slide" Target="/ppt/slides/slide7.xml" Id="Rd1d3ad53cb424733" /><Relationship Type="http://schemas.openxmlformats.org/officeDocument/2006/relationships/slide" Target="/ppt/slides/slide8.xml" Id="R240ed5bf992442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fb3009bdf44d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1fe227de0b4a6f" /><Relationship Type="http://schemas.openxmlformats.org/officeDocument/2006/relationships/notesMaster" Target="/ppt/notesMasters/notesMaster1.xml" Id="R27c1b627c6db41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a7a363c5074e56" /><Relationship Type="http://schemas.openxmlformats.org/officeDocument/2006/relationships/notesMaster" Target="/ppt/notesMasters/notesMaster1.xml" Id="R002cb9ea92ca42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8ddadbd9fb4b21" /><Relationship Type="http://schemas.openxmlformats.org/officeDocument/2006/relationships/notesMaster" Target="/ppt/notesMasters/notesMaster1.xml" Id="R2ea6c640078d4e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1c6f34f2604625" /><Relationship Type="http://schemas.openxmlformats.org/officeDocument/2006/relationships/notesMaster" Target="/ppt/notesMasters/notesMaster1.xml" Id="Rfeb221ddc32241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61a9441ef74278" /><Relationship Type="http://schemas.openxmlformats.org/officeDocument/2006/relationships/notesMaster" Target="/ppt/notesMasters/notesMaster1.xml" Id="R33e00cf2e6f44b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62f794ec1446bb" /><Relationship Type="http://schemas.openxmlformats.org/officeDocument/2006/relationships/notesMaster" Target="/ppt/notesMasters/notesMaster1.xml" Id="Ra25858f6e5e646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a9908501734804" /><Relationship Type="http://schemas.openxmlformats.org/officeDocument/2006/relationships/notesMaster" Target="/ppt/notesMasters/notesMaster1.xml" Id="R0b88d91bb0f340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a8218d0f714f05" /><Relationship Type="http://schemas.openxmlformats.org/officeDocument/2006/relationships/notesMaster" Target="/ppt/notesMasters/notesMaster1.xml" Id="R22c699c2a3864b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Uniswapでは、自分のウォレットからデジタル資産を直接交換できます。公式発表では、累計取引高は4兆米ドルを超え、数百万人に利用されています。</a:t>
            </a:r>
          </a:p>
          <a:p xmlns:a="http://schemas.openxmlformats.org/drawingml/2006/main">
            <a:r>
              <a:t>Duration: 8 seconds</a:t>
            </a:r>
          </a:p>
          <a:p xmlns:a="http://schemas.openxmlformats.org/drawingml/2006/main">
            <a:r>
              <a:t>Language: ja</a:t>
            </a:r>
          </a:p>
          <a:p xmlns:a="http://schemas.openxmlformats.org/drawingml/2006/main">
            <a:r>
              <a:t>As of: 2026-07-31</a:t>
            </a:r>
          </a:p>
          <a:p xmlns:a="http://schemas.openxmlformats.org/drawingml/2006/main">
            <a:r>
              <a:t>[Sources]</a:t>
            </a:r>
          </a:p>
          <a:p xmlns:a="http://schemas.openxmlformats.org/drawingml/2006/main">
            <a:r>
              <a:t>- What is a Decentralized Exchange (DEX)?: https://blog.uniswap.org/what-is-a-decentralized-exchange</a:t>
            </a:r>
          </a:p>
          <a:p xmlns:a="http://schemas.openxmlformats.org/drawingml/2006/main">
            <a:r>
              <a:t>- UNIfication: https://blog.uniswap.org/unification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取引は公開されたオンチェーンのルールに従って実行されます。始める前に、中央集権型取引所へ資産を預ける必要はありません。</a:t>
            </a:r>
          </a:p>
          <a:p xmlns:a="http://schemas.openxmlformats.org/drawingml/2006/main">
            <a:r>
              <a:t>Duration: 6 seconds</a:t>
            </a:r>
          </a:p>
          <a:p xmlns:a="http://schemas.openxmlformats.org/drawingml/2006/main">
            <a:r>
              <a:t>Language: ja</a:t>
            </a:r>
          </a:p>
          <a:p xmlns:a="http://schemas.openxmlformats.org/drawingml/2006/main">
            <a:r>
              <a:t>As of: 2026-07-31</a:t>
            </a:r>
          </a:p>
          <a:p xmlns:a="http://schemas.openxmlformats.org/drawingml/2006/main">
            <a:r>
              <a:t>[Sources]</a:t>
            </a:r>
          </a:p>
          <a:p xmlns:a="http://schemas.openxmlformats.org/drawingml/2006/main">
            <a:r>
              <a:t>- What is a Decentralized Exchange (DEX)?: https://blog.uniswap.org/what-is-a-decentralized-exchange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Uniswapで資産が交換されると、その取引は流動性プールの公開ルールに従って手数料を支払います。</a:t>
            </a:r>
          </a:p>
          <a:p xmlns:a="http://schemas.openxmlformats.org/drawingml/2006/main">
            <a:r>
              <a:t>Duration: 8 seconds</a:t>
            </a:r>
          </a:p>
          <a:p xmlns:a="http://schemas.openxmlformats.org/drawingml/2006/main">
            <a:r>
              <a:t>Language: ja</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交換に必要なデジタル資産を提供する人がいることで取引が成立し、その人はルールに基づいて手数料の一部を受け取る機会を得ます。</a:t>
            </a:r>
          </a:p>
          <a:p xmlns:a="http://schemas.openxmlformats.org/drawingml/2006/main">
            <a:r>
              <a:t>Duration: 8 seconds</a:t>
            </a:r>
          </a:p>
          <a:p xmlns:a="http://schemas.openxmlformats.org/drawingml/2006/main">
            <a:r>
              <a:t>Language: ja</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自分で参加するには、資産配分と価格帯を理解し、継続的に監視して、市場の変化に応じて調整する必要があります。</a:t>
            </a:r>
          </a:p>
          <a:p xmlns:a="http://schemas.openxmlformats.org/drawingml/2006/main">
            <a:r>
              <a:t>Duration: 8 seconds</a:t>
            </a:r>
          </a:p>
          <a:p xmlns:a="http://schemas.openxmlformats.org/drawingml/2006/main">
            <a:r>
              <a:t>Language: ja</a:t>
            </a:r>
          </a:p>
          <a:p xmlns:a="http://schemas.openxmlformats.org/drawingml/2006/main">
            <a:r>
              <a:t>As of: 2026-07-31</a:t>
            </a:r>
          </a:p>
          <a:p xmlns:a="http://schemas.openxmlformats.org/drawingml/2006/main">
            <a:r>
              <a:t>[Sources]</a:t>
            </a:r>
          </a:p>
          <a:p xmlns:a="http://schemas.openxmlformats.org/drawingml/2006/main">
            <a:r>
              <a:t>- Uniswap v4 is Here: https://blog.uniswap.org/uniswap-v4-is-here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UniEddyは複雑な作業を、よりシンプルな流れにまとめます。システムが継続的に監視し、AIが分析を提供し、固定ルールが行動するかを決めます。</a:t>
            </a:r>
          </a:p>
          <a:p xmlns:a="http://schemas.openxmlformats.org/drawingml/2006/main">
            <a:r>
              <a:t>Duration: 10 seconds</a:t>
            </a:r>
          </a:p>
          <a:p xmlns:a="http://schemas.openxmlformats.org/drawingml/2006/main">
            <a:r>
              <a:t>Language: ja</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手数料は実際の取引から生まれ、精算と受取の記録はオンチェーンで確認できます。手数料収入は保証されず、参加資産の価値は上下します。</a:t>
            </a:r>
          </a:p>
          <a:p xmlns:a="http://schemas.openxmlformats.org/drawingml/2006/main">
            <a:r>
              <a:t>Duration: 8 seconds</a:t>
            </a:r>
          </a:p>
          <a:p xmlns:a="http://schemas.openxmlformats.org/drawingml/2006/main">
            <a:r>
              <a:t>Language: ja</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Voiceover: DAppを開いて、参加方法を確認してください。必要な場合は、公式の案内も利用できます。</a:t>
            </a:r>
          </a:p>
          <a:p xmlns:a="http://schemas.openxmlformats.org/drawingml/2006/main">
            <a:r>
              <a:t>Duration: 4 seconds</a:t>
            </a:r>
          </a:p>
          <a:p xmlns:a="http://schemas.openxmlformats.org/drawingml/2006/main">
            <a:r>
              <a:t>Language: ja</a:t>
            </a:r>
          </a:p>
          <a:p xmlns:a="http://schemas.openxmlformats.org/drawingml/2006/main">
            <a:r>
              <a:t>[Sources]</a:t>
            </a:r>
          </a:p>
          <a:p xmlns:a="http://schemas.openxmlformats.org/drawingml/2006/main">
            <a:r>
              <a:t>- Internal UniEddy product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7e4f60f19d4e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4582799fca42dd" /><Relationship Type="http://schemas.openxmlformats.org/officeDocument/2006/relationships/slideLayout" Target="/ppt/slideLayouts/slideLayout1.xml" Id="R644893ef06fc49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4893ef06fc49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816282f9fe4bfe" /><Relationship Type="http://schemas.openxmlformats.org/officeDocument/2006/relationships/notesSlide" Target="/ppt/notesSlides/notesSlide1.xml" Id="R5f6f13296b1244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f2dfb4d44e4d20" /><Relationship Type="http://schemas.openxmlformats.org/officeDocument/2006/relationships/notesSlide" Target="/ppt/notesSlides/notesSlide2.xml" Id="Rebf38f4a7ddb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d62e02423a4ae4" /><Relationship Type="http://schemas.openxmlformats.org/officeDocument/2006/relationships/notesSlide" Target="/ppt/notesSlides/notesSlide3.xml" Id="R960081d86a8747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487d02e64c4f1a" /><Relationship Type="http://schemas.openxmlformats.org/officeDocument/2006/relationships/notesSlide" Target="/ppt/notesSlides/notesSlide4.xml" Id="R82e422c238214e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f0e5b827294c06" /><Relationship Type="http://schemas.openxmlformats.org/officeDocument/2006/relationships/notesSlide" Target="/ppt/notesSlides/notesSlide5.xml" Id="R27e8e5c42d9545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9d133dd3064434" /><Relationship Type="http://schemas.openxmlformats.org/officeDocument/2006/relationships/image" Target="/ppt/media/image.png" Id="R043ff443e2724462" /><Relationship Type="http://schemas.openxmlformats.org/officeDocument/2006/relationships/image" Target="/ppt/media/image2.png" Id="Rced24a96fd974f53" /><Relationship Type="http://schemas.openxmlformats.org/officeDocument/2006/relationships/image" Target="/ppt/media/image3.png" Id="R6cc838ea8f8647c4" /><Relationship Type="http://schemas.openxmlformats.org/officeDocument/2006/relationships/notesSlide" Target="/ppt/notesSlides/notesSlide6.xml" Id="R655e90bb4c8f4c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22fe85cb254b19" /><Relationship Type="http://schemas.openxmlformats.org/officeDocument/2006/relationships/notesSlide" Target="/ppt/notesSlides/notesSlide7.xml" Id="R88be4845859f40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01437c6d064892" /><Relationship Type="http://schemas.openxmlformats.org/officeDocument/2006/relationships/image" Target="/ppt/media/image4.png" Id="Raa3b2a8ae6de4cf1" /><Relationship Type="http://schemas.openxmlformats.org/officeDocument/2006/relationships/notesSlide" Target="/ppt/notesSlides/notesSlide8.xml" Id="R4d144d9b9f5d4712" /></Relationships>
</file>

<file path=ppt/slides/slide1.xml><?xml version="1.0" encoding="utf-8"?>
<p:sld xmlns:p="http://schemas.openxmlformats.org/presentationml/2006/main">
  <p:cSld>
    <p:bg>
      <p:bgPr>
        <a:solidFill xmlns:a="http://schemas.openxmlformats.org/drawingml/2006/main">
          <a:srgbClr val="19151A"/>
        </a:solidFill>
      </p:bgPr>
    </p:bg>
    <p:spTree>
      <p:nvGrpSpPr>
        <p:cNvPr id="1" name=""/>
        <p:cNvGrpSpPr/>
        <p:nvPr/>
      </p:nvGrpSpPr>
      <p:grpSpPr>
        <a:xfrm xmlns:a="http://schemas.openxmlformats.org/drawingml/2006/main"/>
      </p:grpSpPr>
      <p:sp>
        <p:nvSpPr>
          <p:cNvPr id="12" name="authority-orb">
            <a:extLst xmlns:a="http://schemas.openxmlformats.org/drawingml/2006/main">
              <a:ext uri="{FF2B5EF4-FFF2-40B4-BE49-F238E27FC236}">
                <a16:creationId xmlns:a16="http://schemas.microsoft.com/office/drawing/2014/main" id="{F6327DB9-95BB-4011-9C83-021D87C2AB7A}"/>
              </a:ext>
            </a:extLst>
          </p:cNvPr>
          <p:cNvSpPr>
            <a:spLocks xmlns:a="http://schemas.openxmlformats.org/drawingml/2006/main" noGrp="1"/>
          </p:cNvSpPr>
          <p:nvPr/>
        </p:nvSpPr>
        <p:spPr>
          <a:xfrm xmlns:a="http://schemas.openxmlformats.org/drawingml/2006/main">
            <a:off x="9620250" y="0"/>
            <a:ext cx="2571750" cy="2571750"/>
          </a:xfrm>
          <a:prstGeom xmlns:a="http://schemas.openxmlformats.org/drawingml/2006/main" prst="roundRect">
            <a:avLst>
              <a:gd name="adj" fmla="val 50000"/>
            </a:avLst>
          </a:prstGeom>
          <a:solidFill xmlns:a="http://schemas.openxmlformats.org/drawingml/2006/main">
            <a:srgbClr val="F50DB4"/>
          </a:solidFill>
          <a:ln xmlns:a="http://schemas.openxmlformats.org/drawingml/2006/main" w="0">
            <a:noFill/>
            <a:prstDash val="solid"/>
          </a:ln>
        </p:spPr>
      </p:sp>
      <p:sp>
        <p:nvSpPr>
          <p:cNvPr id="2" name="authority-orb-cutout">
            <a:extLst xmlns:a="http://schemas.openxmlformats.org/drawingml/2006/main">
              <a:ext uri="{FF2B5EF4-FFF2-40B4-BE49-F238E27FC236}">
                <a16:creationId xmlns:a16="http://schemas.microsoft.com/office/drawing/2014/main" id="{0CC97AAE-A8B5-4252-ABC8-2528D11EC2C5}"/>
              </a:ext>
            </a:extLst>
          </p:cNvPr>
          <p:cNvSpPr>
            <a:spLocks xmlns:a="http://schemas.openxmlformats.org/drawingml/2006/main" noGrp="1"/>
          </p:cNvSpPr>
          <p:nvPr/>
        </p:nvSpPr>
        <p:spPr>
          <a:xfrm xmlns:a="http://schemas.openxmlformats.org/drawingml/2006/main">
            <a:off x="9810750" y="190500"/>
            <a:ext cx="2190750" cy="2190750"/>
          </a:xfrm>
          <a:prstGeom xmlns:a="http://schemas.openxmlformats.org/drawingml/2006/main" prst="roundRect">
            <a:avLst>
              <a:gd name="adj" fmla="val 50000"/>
            </a:avLst>
          </a:prstGeom>
          <a:solidFill xmlns:a="http://schemas.openxmlformats.org/drawingml/2006/main">
            <a:srgbClr val="19151A"/>
          </a:solidFill>
          <a:ln xmlns:a="http://schemas.openxmlformats.org/drawingml/2006/main" w="0">
            <a:noFill/>
            <a:prstDash val="solid"/>
          </a:ln>
        </p:spPr>
      </p:sp>
      <p:sp>
        <p:nvSpPr>
          <p:cNvPr id="3" name="authority-dot">
            <a:extLst xmlns:a="http://schemas.openxmlformats.org/drawingml/2006/main">
              <a:ext uri="{FF2B5EF4-FFF2-40B4-BE49-F238E27FC236}">
                <a16:creationId xmlns:a16="http://schemas.microsoft.com/office/drawing/2014/main" id="{F446B1E0-DA46-4F16-BA02-EC06E41B43C6}"/>
              </a:ext>
            </a:extLst>
          </p:cNvPr>
          <p:cNvSpPr>
            <a:spLocks xmlns:a="http://schemas.openxmlformats.org/drawingml/2006/main" noGrp="1"/>
          </p:cNvSpPr>
          <p:nvPr/>
        </p:nvSpPr>
        <p:spPr>
          <a:xfrm xmlns:a="http://schemas.openxmlformats.org/drawingml/2006/main">
            <a:off x="9963150" y="4648200"/>
            <a:ext cx="1162050" cy="1162050"/>
          </a:xfrm>
          <a:prstGeom xmlns:a="http://schemas.openxmlformats.org/drawingml/2006/main" prst="ellipse">
            <a:avLst/>
          </a:prstGeom>
          <a:solidFill xmlns:a="http://schemas.openxmlformats.org/drawingml/2006/main">
            <a:srgbClr val="FC72FF"/>
          </a:solidFill>
          <a:ln xmlns:a="http://schemas.openxmlformats.org/drawingml/2006/main" w="0">
            <a:noFill/>
            <a:prstDash val="solid"/>
          </a:ln>
        </p:spPr>
      </p:sp>
      <p:sp>
        <p:nvSpPr>
          <p:cNvPr id="4" name="uniswap-wordmark">
            <a:extLst xmlns:a="http://schemas.openxmlformats.org/drawingml/2006/main">
              <a:ext uri="{FF2B5EF4-FFF2-40B4-BE49-F238E27FC236}">
                <a16:creationId xmlns:a16="http://schemas.microsoft.com/office/drawing/2014/main" id="{D0021BBE-8F15-46A4-B5F7-25EBBCAC4171}"/>
              </a:ext>
            </a:extLst>
          </p:cNvPr>
          <p:cNvSpPr>
            <a:spLocks xmlns:a="http://schemas.openxmlformats.org/drawingml/2006/main" noGrp="1"/>
          </p:cNvSpPr>
          <p:nvPr/>
        </p:nvSpPr>
        <p:spPr>
          <a:xfrm xmlns:a="http://schemas.openxmlformats.org/drawingml/2006/main">
            <a:off x="609600" y="4762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200" b="1">
                <a:solidFill>
                  <a:srgbClr val="FFFFFF"/>
                </a:solidFill>
                <a:latin typeface="Hiragino Sans"/>
                <a:ea typeface="Hiragino Sans"/>
                <a:cs typeface="Hiragino Sans"/>
              </a:rPr>
              <a:t>Uniswap</a:t>
            </a:r>
          </a:p>
        </p:txBody>
      </p:sp>
      <p:sp>
        <p:nvSpPr>
          <p:cNvPr id="5" name="cover-title">
            <a:extLst xmlns:a="http://schemas.openxmlformats.org/drawingml/2006/main">
              <a:ext uri="{FF2B5EF4-FFF2-40B4-BE49-F238E27FC236}">
                <a16:creationId xmlns:a16="http://schemas.microsoft.com/office/drawing/2014/main" id="{9E4F1B31-C2AE-44C8-92C5-A30B4C723A64}"/>
              </a:ext>
            </a:extLst>
          </p:cNvPr>
          <p:cNvSpPr>
            <a:spLocks xmlns:a="http://schemas.openxmlformats.org/drawingml/2006/main" noGrp="1"/>
          </p:cNvSpPr>
          <p:nvPr/>
        </p:nvSpPr>
        <p:spPr>
          <a:xfrm xmlns:a="http://schemas.openxmlformats.org/drawingml/2006/main">
            <a:off x="609600" y="1104900"/>
            <a:ext cx="85725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5000" b="1">
                <a:solidFill>
                  <a:srgbClr val="FFFFFF"/>
                </a:solidFill>
                <a:latin typeface="Hiragino Sans"/>
                <a:ea typeface="Hiragino Sans"/>
                <a:cs typeface="Hiragino Sans"/>
              </a:rPr>
              <a:t>主要な分散型取引プロトコル</a:t>
            </a:r>
          </a:p>
        </p:txBody>
      </p:sp>
      <p:sp>
        <p:nvSpPr>
          <p:cNvPr id="6" name="authority-number">
            <a:extLst xmlns:a="http://schemas.openxmlformats.org/drawingml/2006/main">
              <a:ext uri="{FF2B5EF4-FFF2-40B4-BE49-F238E27FC236}">
                <a16:creationId xmlns:a16="http://schemas.microsoft.com/office/drawing/2014/main" id="{08FE3AAA-4C46-4D13-AE67-F6072048BD44}"/>
              </a:ext>
            </a:extLst>
          </p:cNvPr>
          <p:cNvSpPr>
            <a:spLocks xmlns:a="http://schemas.openxmlformats.org/drawingml/2006/main" noGrp="1"/>
          </p:cNvSpPr>
          <p:nvPr/>
        </p:nvSpPr>
        <p:spPr>
          <a:xfrm xmlns:a="http://schemas.openxmlformats.org/drawingml/2006/main">
            <a:off x="609600" y="31432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7200" b="1">
                <a:solidFill>
                  <a:srgbClr val="FF007A"/>
                </a:solidFill>
                <a:latin typeface="Hiragino Sans"/>
                <a:ea typeface="Hiragino Sans"/>
                <a:cs typeface="Hiragino Sans"/>
              </a:rPr>
              <a:t>4兆米ドル超</a:t>
            </a:r>
          </a:p>
        </p:txBody>
      </p:sp>
      <p:sp>
        <p:nvSpPr>
          <p:cNvPr id="7" name="authority-proof">
            <a:extLst xmlns:a="http://schemas.openxmlformats.org/drawingml/2006/main">
              <a:ext uri="{FF2B5EF4-FFF2-40B4-BE49-F238E27FC236}">
                <a16:creationId xmlns:a16="http://schemas.microsoft.com/office/drawing/2014/main" id="{E1B70F7A-57A5-4888-AF9C-5673444A982D}"/>
              </a:ext>
            </a:extLst>
          </p:cNvPr>
          <p:cNvSpPr>
            <a:spLocks xmlns:a="http://schemas.openxmlformats.org/drawingml/2006/main" noGrp="1"/>
          </p:cNvSpPr>
          <p:nvPr/>
        </p:nvSpPr>
        <p:spPr>
          <a:xfrm xmlns:a="http://schemas.openxmlformats.org/drawingml/2006/main">
            <a:off x="647700" y="451485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FFFFFF"/>
                </a:solidFill>
                <a:latin typeface="Hiragino Sans"/>
                <a:ea typeface="Hiragino Sans"/>
                <a:cs typeface="Hiragino Sans"/>
              </a:rPr>
              <a:t>累計取引高4兆米ドル超・数百万人が利用</a:t>
            </a:r>
          </a:p>
        </p:txBody>
      </p:sp>
      <p:sp>
        <p:nvSpPr>
          <p:cNvPr id="8" name="">
            <a:extLst xmlns:a="http://schemas.openxmlformats.org/drawingml/2006/main">
              <a:ext uri="{FF2B5EF4-FFF2-40B4-BE49-F238E27FC236}">
                <a16:creationId xmlns:a16="http://schemas.microsoft.com/office/drawing/2014/main" id="{6910A582-BE8E-4BB7-B763-B96D1B759464}"/>
              </a:ext>
            </a:extLst>
          </p:cNvPr>
          <p:cNvSpPr>
            <a:spLocks xmlns:a="http://schemas.openxmlformats.org/drawingml/2006/main" noGrp="1"/>
          </p:cNvSpPr>
          <p:nvPr/>
        </p:nvSpPr>
        <p:spPr>
          <a:xfrm xmlns:a="http://schemas.openxmlformats.org/drawingml/2006/main">
            <a:off x="647700" y="5391150"/>
            <a:ext cx="6477000" cy="0"/>
          </a:xfrm>
          <a:prstGeom xmlns:a="http://schemas.openxmlformats.org/drawingml/2006/main" prst="line">
            <a:avLst/>
          </a:prstGeom>
          <a:noFill xmlns:a="http://schemas.openxmlformats.org/drawingml/2006/main"/>
          <a:ln xmlns:a="http://schemas.openxmlformats.org/drawingml/2006/main" w="9525">
            <a:solidFill>
              <a:srgbClr val="5D4E5A"/>
            </a:solidFill>
            <a:prstDash val="solid"/>
          </a:ln>
        </p:spPr>
      </p:sp>
      <p:sp>
        <p:nvSpPr>
          <p:cNvPr id="9" name="proof-wallet">
            <a:extLst xmlns:a="http://schemas.openxmlformats.org/drawingml/2006/main">
              <a:ext uri="{FF2B5EF4-FFF2-40B4-BE49-F238E27FC236}">
                <a16:creationId xmlns:a16="http://schemas.microsoft.com/office/drawing/2014/main" id="{F824282D-4F0C-4A12-8837-AE59ADC86003}"/>
              </a:ext>
            </a:extLst>
          </p:cNvPr>
          <p:cNvSpPr>
            <a:spLocks xmlns:a="http://schemas.openxmlformats.org/drawingml/2006/main" noGrp="1"/>
          </p:cNvSpPr>
          <p:nvPr/>
        </p:nvSpPr>
        <p:spPr>
          <a:xfrm xmlns:a="http://schemas.openxmlformats.org/drawingml/2006/main">
            <a:off x="647700" y="5581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D9CED5"/>
                </a:solidFill>
                <a:latin typeface="Hiragino Sans"/>
                <a:ea typeface="Hiragino Sans"/>
                <a:cs typeface="Hiragino Sans"/>
              </a:rPr>
              <a:t>あなたのウォレット</a:t>
            </a:r>
          </a:p>
        </p:txBody>
      </p:sp>
      <p:sp>
        <p:nvSpPr>
          <p:cNvPr id="10" name="proof-onchain">
            <a:extLst xmlns:a="http://schemas.openxmlformats.org/drawingml/2006/main">
              <a:ext uri="{FF2B5EF4-FFF2-40B4-BE49-F238E27FC236}">
                <a16:creationId xmlns:a16="http://schemas.microsoft.com/office/drawing/2014/main" id="{8F82E359-9746-497D-B3CF-76A1DC46186C}"/>
              </a:ext>
            </a:extLst>
          </p:cNvPr>
          <p:cNvSpPr>
            <a:spLocks xmlns:a="http://schemas.openxmlformats.org/drawingml/2006/main" noGrp="1"/>
          </p:cNvSpPr>
          <p:nvPr/>
        </p:nvSpPr>
        <p:spPr>
          <a:xfrm xmlns:a="http://schemas.openxmlformats.org/drawingml/2006/main">
            <a:off x="3371850" y="55816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D9CED5"/>
                </a:solidFill>
                <a:latin typeface="Hiragino Sans"/>
                <a:ea typeface="Hiragino Sans"/>
                <a:cs typeface="Hiragino Sans"/>
              </a:rPr>
              <a:t>オンチェーン確認済み</a:t>
            </a:r>
          </a:p>
        </p:txBody>
      </p:sp>
      <p:sp>
        <p:nvSpPr>
          <p:cNvPr id="11" name="page-1">
            <a:extLst xmlns:a="http://schemas.openxmlformats.org/drawingml/2006/main">
              <a:ext uri="{FF2B5EF4-FFF2-40B4-BE49-F238E27FC236}">
                <a16:creationId xmlns:a16="http://schemas.microsoft.com/office/drawing/2014/main" id="{C9D76F4C-43FB-472F-B5C1-1ADD93A3DDA7}"/>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CDBFC8"/>
                </a:solidFill>
                <a:latin typeface="SF Mono"/>
                <a:ea typeface="SF Mono"/>
                <a:cs typeface="SF Mono"/>
              </a:rPr>
              <a:t>01 / 08</a:t>
            </a:r>
          </a:p>
        </p:txBody>
      </p:sp>
    </p:spTree>
    <p:extLst>
      <p:ext uri="{BB962C8B-B14F-4D97-AF65-F5344CB8AC3E}">
        <p14:creationId xmlns:p14="http://schemas.microsoft.com/office/powerpoint/2010/main" val="14954182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2">
            <a:extLst xmlns:a="http://schemas.openxmlformats.org/drawingml/2006/main">
              <a:ext uri="{FF2B5EF4-FFF2-40B4-BE49-F238E27FC236}">
                <a16:creationId xmlns:a16="http://schemas.microsoft.com/office/drawing/2014/main" id="{42D2512F-1481-4D5D-8C29-485021D7B0D1}"/>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02 / 08</a:t>
            </a:r>
          </a:p>
        </p:txBody>
      </p:sp>
      <p:sp>
        <p:nvSpPr>
          <p:cNvPr id="2" name="slide-2-title">
            <a:extLst xmlns:a="http://schemas.openxmlformats.org/drawingml/2006/main">
              <a:ext uri="{FF2B5EF4-FFF2-40B4-BE49-F238E27FC236}">
                <a16:creationId xmlns:a16="http://schemas.microsoft.com/office/drawing/2014/main" id="{66DA61D3-1E69-4824-8306-A47600EE3631}"/>
              </a:ext>
            </a:extLst>
          </p:cNvPr>
          <p:cNvSpPr>
            <a:spLocks xmlns:a="http://schemas.openxmlformats.org/drawingml/2006/main" noGrp="1"/>
          </p:cNvSpPr>
          <p:nvPr/>
        </p:nvSpPr>
        <p:spPr>
          <a:xfrm xmlns:a="http://schemas.openxmlformats.org/drawingml/2006/main">
            <a:off x="609600" y="685800"/>
            <a:ext cx="1000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自分のウォレットから直接取引</a:t>
            </a:r>
          </a:p>
        </p:txBody>
      </p:sp>
      <p:sp>
        <p:nvSpPr>
          <p:cNvPr id="3" name="subtitle">
            <a:extLst xmlns:a="http://schemas.openxmlformats.org/drawingml/2006/main">
              <a:ext uri="{FF2B5EF4-FFF2-40B4-BE49-F238E27FC236}">
                <a16:creationId xmlns:a16="http://schemas.microsoft.com/office/drawing/2014/main" id="{AA8F964E-96C8-42E4-AAA9-B3F4C8305CBA}"/>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iragino Sans"/>
                <a:ea typeface="Hiragino Sans"/>
                <a:cs typeface="Hiragino Sans"/>
              </a:rPr>
              <a:t>最初に中央集権型取引所へ資産を預ける必要はありません</a:t>
            </a:r>
          </a:p>
        </p:txBody>
      </p:sp>
      <p:sp>
        <p:nvSpPr>
          <p:cNvPr id="4" name="wallet-rules-path">
            <a:extLst xmlns:a="http://schemas.openxmlformats.org/drawingml/2006/main">
              <a:ext uri="{FF2B5EF4-FFF2-40B4-BE49-F238E27FC236}">
                <a16:creationId xmlns:a16="http://schemas.microsoft.com/office/drawing/2014/main" id="{C5FD3F03-97EC-4333-899B-0C7DEF618E12}"/>
              </a:ext>
            </a:extLst>
          </p:cNvPr>
          <p:cNvSpPr>
            <a:spLocks xmlns:a="http://schemas.openxmlformats.org/drawingml/2006/main" noGrp="1"/>
          </p:cNvSpPr>
          <p:nvPr/>
        </p:nvSpPr>
        <p:spPr>
          <a:xfrm xmlns:a="http://schemas.openxmlformats.org/drawingml/2006/main">
            <a:off x="2857500" y="3848100"/>
            <a:ext cx="6000750" cy="0"/>
          </a:xfrm>
          <a:prstGeom xmlns:a="http://schemas.openxmlformats.org/drawingml/2006/main" prst="line">
            <a:avLst/>
          </a:prstGeom>
          <a:noFill xmlns:a="http://schemas.openxmlformats.org/drawingml/2006/main"/>
          <a:ln xmlns:a="http://schemas.openxmlformats.org/drawingml/2006/main" w="47625">
            <a:solidFill>
              <a:srgbClr val="FF007A"/>
            </a:solidFill>
            <a:prstDash val="solid"/>
          </a:ln>
        </p:spPr>
      </p:sp>
      <p:sp>
        <p:nvSpPr>
          <p:cNvPr id="5" name="wallet-node">
            <a:extLst xmlns:a="http://schemas.openxmlformats.org/drawingml/2006/main">
              <a:ext uri="{FF2B5EF4-FFF2-40B4-BE49-F238E27FC236}">
                <a16:creationId xmlns:a16="http://schemas.microsoft.com/office/drawing/2014/main" id="{9C7C37EE-9AA0-426E-B3EA-3A463F26FDD4}"/>
              </a:ext>
            </a:extLst>
          </p:cNvPr>
          <p:cNvSpPr>
            <a:spLocks xmlns:a="http://schemas.openxmlformats.org/drawingml/2006/main" noGrp="1"/>
          </p:cNvSpPr>
          <p:nvPr/>
        </p:nvSpPr>
        <p:spPr>
          <a:xfrm xmlns:a="http://schemas.openxmlformats.org/drawingml/2006/main">
            <a:off x="1809750" y="2781300"/>
            <a:ext cx="2133600" cy="2133600"/>
          </a:xfrm>
          <a:prstGeom xmlns:a="http://schemas.openxmlformats.org/drawingml/2006/main" prst="ellipse">
            <a:avLst/>
          </a:prstGeom>
          <a:solidFill xmlns:a="http://schemas.openxmlformats.org/drawingml/2006/main">
            <a:srgbClr val="F8E7F0"/>
          </a:solidFill>
          <a:ln xmlns:a="http://schemas.openxmlformats.org/drawingml/2006/main" w="28575">
            <a:solidFill>
              <a:srgbClr val="FF007A"/>
            </a:solidFill>
            <a:prstDash val="solid"/>
          </a:ln>
        </p:spPr>
      </p:sp>
      <p:sp>
        <p:nvSpPr>
          <p:cNvPr id="6" name="rules-node">
            <a:extLst xmlns:a="http://schemas.openxmlformats.org/drawingml/2006/main">
              <a:ext uri="{FF2B5EF4-FFF2-40B4-BE49-F238E27FC236}">
                <a16:creationId xmlns:a16="http://schemas.microsoft.com/office/drawing/2014/main" id="{744C3785-4CE5-4646-86B7-FD22E10C10BD}"/>
              </a:ext>
            </a:extLst>
          </p:cNvPr>
          <p:cNvSpPr>
            <a:spLocks xmlns:a="http://schemas.openxmlformats.org/drawingml/2006/main" noGrp="1"/>
          </p:cNvSpPr>
          <p:nvPr/>
        </p:nvSpPr>
        <p:spPr>
          <a:xfrm xmlns:a="http://schemas.openxmlformats.org/drawingml/2006/main">
            <a:off x="7829550" y="2857500"/>
            <a:ext cx="2686050" cy="1981200"/>
          </a:xfrm>
          <a:prstGeom xmlns:a="http://schemas.openxmlformats.org/drawingml/2006/main" prst="roundRect">
            <a:avLst>
              <a:gd name="adj" fmla="val 13462"/>
            </a:avLst>
          </a:prstGeom>
          <a:solidFill xmlns:a="http://schemas.openxmlformats.org/drawingml/2006/main">
            <a:srgbClr val="FFF7FB"/>
          </a:solidFill>
          <a:ln xmlns:a="http://schemas.openxmlformats.org/drawingml/2006/main" w="19050">
            <a:solidFill>
              <a:srgbClr val="FF007A"/>
            </a:solidFill>
            <a:prstDash val="solid"/>
          </a:ln>
        </p:spPr>
      </p:sp>
      <p:sp>
        <p:nvSpPr>
          <p:cNvPr id="7" name="wallet-label">
            <a:extLst xmlns:a="http://schemas.openxmlformats.org/drawingml/2006/main">
              <a:ext uri="{FF2B5EF4-FFF2-40B4-BE49-F238E27FC236}">
                <a16:creationId xmlns:a16="http://schemas.microsoft.com/office/drawing/2014/main" id="{02C9DFE5-B73E-4A43-AB47-BEAB8A0CDCD0}"/>
              </a:ext>
            </a:extLst>
          </p:cNvPr>
          <p:cNvSpPr>
            <a:spLocks xmlns:a="http://schemas.openxmlformats.org/drawingml/2006/main" noGrp="1"/>
          </p:cNvSpPr>
          <p:nvPr/>
        </p:nvSpPr>
        <p:spPr>
          <a:xfrm xmlns:a="http://schemas.openxmlformats.org/drawingml/2006/main">
            <a:off x="2076450" y="3476625"/>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iragino Sans"/>
                <a:ea typeface="Hiragino Sans"/>
                <a:cs typeface="Hiragino Sans"/>
              </a:rPr>
              <a:t>あなたのウォレット</a:t>
            </a:r>
          </a:p>
        </p:txBody>
      </p:sp>
      <p:sp>
        <p:nvSpPr>
          <p:cNvPr id="8" name="rules-label">
            <a:extLst xmlns:a="http://schemas.openxmlformats.org/drawingml/2006/main">
              <a:ext uri="{FF2B5EF4-FFF2-40B4-BE49-F238E27FC236}">
                <a16:creationId xmlns:a16="http://schemas.microsoft.com/office/drawing/2014/main" id="{8051B159-15B7-4972-B2F2-9D6695EE86F0}"/>
              </a:ext>
            </a:extLst>
          </p:cNvPr>
          <p:cNvSpPr>
            <a:spLocks xmlns:a="http://schemas.openxmlformats.org/drawingml/2006/main" noGrp="1"/>
          </p:cNvSpPr>
          <p:nvPr/>
        </p:nvSpPr>
        <p:spPr>
          <a:xfrm xmlns:a="http://schemas.openxmlformats.org/drawingml/2006/main">
            <a:off x="8096250" y="3286125"/>
            <a:ext cx="2152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iragino Sans"/>
                <a:ea typeface="Hiragino Sans"/>
                <a:cs typeface="Hiragino Sans"/>
              </a:rPr>
              <a:t>オンチェーン確認済み</a:t>
            </a:r>
          </a:p>
        </p:txBody>
      </p:sp>
      <p:sp>
        <p:nvSpPr>
          <p:cNvPr id="9" name="rules-detail">
            <a:extLst xmlns:a="http://schemas.openxmlformats.org/drawingml/2006/main">
              <a:ext uri="{FF2B5EF4-FFF2-40B4-BE49-F238E27FC236}">
                <a16:creationId xmlns:a16="http://schemas.microsoft.com/office/drawing/2014/main" id="{1560DA90-E0DF-4C79-9075-A1E5C6A924BC}"/>
              </a:ext>
            </a:extLst>
          </p:cNvPr>
          <p:cNvSpPr>
            <a:spLocks xmlns:a="http://schemas.openxmlformats.org/drawingml/2006/main" noGrp="1"/>
          </p:cNvSpPr>
          <p:nvPr/>
        </p:nvSpPr>
        <p:spPr>
          <a:xfrm xmlns:a="http://schemas.openxmlformats.org/drawingml/2006/main">
            <a:off x="8096250" y="3981450"/>
            <a:ext cx="2152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0">
                <a:solidFill>
                  <a:srgbClr val="726A74"/>
                </a:solidFill>
                <a:latin typeface="Hiragino Sans"/>
                <a:ea typeface="Hiragino Sans"/>
                <a:cs typeface="Hiragino Sans"/>
              </a:rPr>
              <a:t>Uniswap v4プールに接続・独立インターフェース</a:t>
            </a:r>
          </a:p>
        </p:txBody>
      </p:sp>
    </p:spTree>
    <p:extLst>
      <p:ext uri="{BB962C8B-B14F-4D97-AF65-F5344CB8AC3E}">
        <p14:creationId xmlns:p14="http://schemas.microsoft.com/office/powerpoint/2010/main" val="1809590144"/>
      </p:ext>
    </p:extLst>
  </p:cSld>
</p:sld>
</file>

<file path=ppt/slides/slide3.xml><?xml version="1.0" encoding="utf-8"?>
<p:sld xmlns:p="http://schemas.openxmlformats.org/presentationml/2006/main">
  <p:cSld>
    <p:bg>
      <p:bgPr>
        <a:solidFill xmlns:a="http://schemas.openxmlformats.org/drawingml/2006/main">
          <a:srgbClr val="FFF7FB"/>
        </a:solidFill>
      </p:bgPr>
    </p:bg>
    <p:spTree>
      <p:nvGrpSpPr>
        <p:cNvPr id="1" name=""/>
        <p:cNvGrpSpPr/>
        <p:nvPr/>
      </p:nvGrpSpPr>
      <p:grpSpPr>
        <a:xfrm xmlns:a="http://schemas.openxmlformats.org/drawingml/2006/main"/>
      </p:grpSpPr>
      <p:sp>
        <p:nvSpPr>
          <p:cNvPr id="15" name="page-3">
            <a:extLst xmlns:a="http://schemas.openxmlformats.org/drawingml/2006/main">
              <a:ext uri="{FF2B5EF4-FFF2-40B4-BE49-F238E27FC236}">
                <a16:creationId xmlns:a16="http://schemas.microsoft.com/office/drawing/2014/main" id="{D3EA47F8-C02D-4EE3-93DA-A9B609B1AAF2}"/>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03 / 08</a:t>
            </a:r>
          </a:p>
        </p:txBody>
      </p:sp>
      <p:sp>
        <p:nvSpPr>
          <p:cNvPr id="2" name="slide-3-title">
            <a:extLst xmlns:a="http://schemas.openxmlformats.org/drawingml/2006/main">
              <a:ext uri="{FF2B5EF4-FFF2-40B4-BE49-F238E27FC236}">
                <a16:creationId xmlns:a16="http://schemas.microsoft.com/office/drawing/2014/main" id="{03438233-E6C8-4D30-9033-F2F02767A401}"/>
              </a:ext>
            </a:extLst>
          </p:cNvPr>
          <p:cNvSpPr>
            <a:spLocks xmlns:a="http://schemas.openxmlformats.org/drawingml/2006/main" noGrp="1"/>
          </p:cNvSpPr>
          <p:nvPr/>
        </p:nvSpPr>
        <p:spPr>
          <a:xfrm xmlns:a="http://schemas.openxmlformats.org/drawingml/2006/main">
            <a:off x="609600" y="6858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交換のたびに手数料が発生</a:t>
            </a:r>
          </a:p>
        </p:txBody>
      </p:sp>
      <p:sp>
        <p:nvSpPr>
          <p:cNvPr id="3" name="subtitle">
            <a:extLst xmlns:a="http://schemas.openxmlformats.org/drawingml/2006/main">
              <a:ext uri="{FF2B5EF4-FFF2-40B4-BE49-F238E27FC236}">
                <a16:creationId xmlns:a16="http://schemas.microsoft.com/office/drawing/2014/main" id="{B8B2498A-335A-4504-B5C4-F7ECC760FC3B}"/>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iragino Sans"/>
                <a:ea typeface="Hiragino Sans"/>
                <a:cs typeface="Hiragino Sans"/>
              </a:rPr>
              <a:t>取引者はプールのルールに従って手数料を支払います</a:t>
            </a:r>
          </a:p>
        </p:txBody>
      </p:sp>
      <p:sp>
        <p:nvSpPr>
          <p:cNvPr id="4" name="swap-track">
            <a:extLst xmlns:a="http://schemas.openxmlformats.org/drawingml/2006/main">
              <a:ext uri="{FF2B5EF4-FFF2-40B4-BE49-F238E27FC236}">
                <a16:creationId xmlns:a16="http://schemas.microsoft.com/office/drawing/2014/main" id="{A30117F5-C200-404B-AC10-D6BF7740D975}"/>
              </a:ext>
            </a:extLst>
          </p:cNvPr>
          <p:cNvSpPr>
            <a:spLocks xmlns:a="http://schemas.openxmlformats.org/drawingml/2006/main" noGrp="1"/>
          </p:cNvSpPr>
          <p:nvPr/>
        </p:nvSpPr>
        <p:spPr>
          <a:xfrm xmlns:a="http://schemas.openxmlformats.org/drawingml/2006/main">
            <a:off x="1447800" y="4095750"/>
            <a:ext cx="8382000" cy="0"/>
          </a:xfrm>
          <a:prstGeom xmlns:a="http://schemas.openxmlformats.org/drawingml/2006/main" prst="line">
            <a:avLst/>
          </a:prstGeom>
          <a:noFill xmlns:a="http://schemas.openxmlformats.org/drawingml/2006/main"/>
          <a:ln xmlns:a="http://schemas.openxmlformats.org/drawingml/2006/main" w="114300">
            <a:solidFill>
              <a:srgbClr val="E8C9D8"/>
            </a:solidFill>
            <a:prstDash val="solid"/>
          </a:ln>
        </p:spPr>
      </p:sp>
      <p:sp>
        <p:nvSpPr>
          <p:cNvPr id="5" name="swap-active">
            <a:extLst xmlns:a="http://schemas.openxmlformats.org/drawingml/2006/main">
              <a:ext uri="{FF2B5EF4-FFF2-40B4-BE49-F238E27FC236}">
                <a16:creationId xmlns:a16="http://schemas.microsoft.com/office/drawing/2014/main" id="{3B0E6235-EB87-440D-85B0-D0AFC3F47888}"/>
              </a:ext>
            </a:extLst>
          </p:cNvPr>
          <p:cNvSpPr>
            <a:spLocks xmlns:a="http://schemas.openxmlformats.org/drawingml/2006/main" noGrp="1"/>
          </p:cNvSpPr>
          <p:nvPr/>
        </p:nvSpPr>
        <p:spPr>
          <a:xfrm xmlns:a="http://schemas.openxmlformats.org/drawingml/2006/main">
            <a:off x="1981200" y="4095750"/>
            <a:ext cx="6172200" cy="0"/>
          </a:xfrm>
          <a:prstGeom xmlns:a="http://schemas.openxmlformats.org/drawingml/2006/main" prst="line">
            <a:avLst/>
          </a:prstGeom>
          <a:noFill xmlns:a="http://schemas.openxmlformats.org/drawingml/2006/main"/>
          <a:ln xmlns:a="http://schemas.openxmlformats.org/drawingml/2006/main" w="47625">
            <a:solidFill>
              <a:srgbClr val="FF007A"/>
            </a:solidFill>
            <a:prstDash val="solid"/>
          </a:ln>
        </p:spPr>
      </p:sp>
      <p:sp>
        <p:nvSpPr>
          <p:cNvPr id="6" name="asset-a">
            <a:extLst xmlns:a="http://schemas.openxmlformats.org/drawingml/2006/main">
              <a:ext uri="{FF2B5EF4-FFF2-40B4-BE49-F238E27FC236}">
                <a16:creationId xmlns:a16="http://schemas.microsoft.com/office/drawing/2014/main" id="{1C5553CC-DC1B-4B41-B9B8-321AB94A0920}"/>
              </a:ext>
            </a:extLst>
          </p:cNvPr>
          <p:cNvSpPr>
            <a:spLocks xmlns:a="http://schemas.openxmlformats.org/drawingml/2006/main" noGrp="1"/>
          </p:cNvSpPr>
          <p:nvPr/>
        </p:nvSpPr>
        <p:spPr>
          <a:xfrm xmlns:a="http://schemas.openxmlformats.org/drawingml/2006/main">
            <a:off x="1238250" y="3562350"/>
            <a:ext cx="1066800" cy="1066800"/>
          </a:xfrm>
          <a:prstGeom xmlns:a="http://schemas.openxmlformats.org/drawingml/2006/main" prst="ellipse">
            <a:avLst/>
          </a:prstGeom>
          <a:solidFill xmlns:a="http://schemas.openxmlformats.org/drawingml/2006/main">
            <a:srgbClr val="19151A"/>
          </a:solidFill>
          <a:ln xmlns:a="http://schemas.openxmlformats.org/drawingml/2006/main" w="0">
            <a:noFill/>
            <a:prstDash val="solid"/>
          </a:ln>
        </p:spPr>
      </p:sp>
      <p:sp>
        <p:nvSpPr>
          <p:cNvPr id="7" name="asset-b">
            <a:extLst xmlns:a="http://schemas.openxmlformats.org/drawingml/2006/main">
              <a:ext uri="{FF2B5EF4-FFF2-40B4-BE49-F238E27FC236}">
                <a16:creationId xmlns:a16="http://schemas.microsoft.com/office/drawing/2014/main" id="{18E1AA35-DF59-4247-8FC5-BBD05802FB6A}"/>
              </a:ext>
            </a:extLst>
          </p:cNvPr>
          <p:cNvSpPr>
            <a:spLocks xmlns:a="http://schemas.openxmlformats.org/drawingml/2006/main" noGrp="1"/>
          </p:cNvSpPr>
          <p:nvPr/>
        </p:nvSpPr>
        <p:spPr>
          <a:xfrm xmlns:a="http://schemas.openxmlformats.org/drawingml/2006/main">
            <a:off x="8953500" y="3562350"/>
            <a:ext cx="1066800" cy="1066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9151A"/>
            </a:solidFill>
            <a:prstDash val="solid"/>
          </a:ln>
        </p:spPr>
      </p:sp>
      <p:sp>
        <p:nvSpPr>
          <p:cNvPr id="8" name="fee-pulse">
            <a:extLst xmlns:a="http://schemas.openxmlformats.org/drawingml/2006/main">
              <a:ext uri="{FF2B5EF4-FFF2-40B4-BE49-F238E27FC236}">
                <a16:creationId xmlns:a16="http://schemas.microsoft.com/office/drawing/2014/main" id="{07A441DE-31ED-4DEC-9596-0D139175844D}"/>
              </a:ext>
            </a:extLst>
          </p:cNvPr>
          <p:cNvSpPr>
            <a:spLocks xmlns:a="http://schemas.openxmlformats.org/drawingml/2006/main" noGrp="1"/>
          </p:cNvSpPr>
          <p:nvPr/>
        </p:nvSpPr>
        <p:spPr>
          <a:xfrm xmlns:a="http://schemas.openxmlformats.org/drawingml/2006/main">
            <a:off x="6762750" y="3238500"/>
            <a:ext cx="1714500" cy="1714500"/>
          </a:xfrm>
          <a:prstGeom xmlns:a="http://schemas.openxmlformats.org/drawingml/2006/main" prst="ellipse">
            <a:avLst/>
          </a:prstGeom>
          <a:solidFill xmlns:a="http://schemas.openxmlformats.org/drawingml/2006/main">
            <a:srgbClr val="F8E7F0"/>
          </a:solidFill>
          <a:ln xmlns:a="http://schemas.openxmlformats.org/drawingml/2006/main" w="38100">
            <a:solidFill>
              <a:srgbClr val="FF007A"/>
            </a:solidFill>
            <a:prstDash val="solid"/>
          </a:ln>
        </p:spPr>
      </p:sp>
      <p:sp>
        <p:nvSpPr>
          <p:cNvPr id="9" name="fee-core">
            <a:extLst xmlns:a="http://schemas.openxmlformats.org/drawingml/2006/main">
              <a:ext uri="{FF2B5EF4-FFF2-40B4-BE49-F238E27FC236}">
                <a16:creationId xmlns:a16="http://schemas.microsoft.com/office/drawing/2014/main" id="{95E31CDD-D5AB-4988-8368-566FD14E5584}"/>
              </a:ext>
            </a:extLst>
          </p:cNvPr>
          <p:cNvSpPr>
            <a:spLocks xmlns:a="http://schemas.openxmlformats.org/drawingml/2006/main" noGrp="1"/>
          </p:cNvSpPr>
          <p:nvPr/>
        </p:nvSpPr>
        <p:spPr>
          <a:xfrm xmlns:a="http://schemas.openxmlformats.org/drawingml/2006/main">
            <a:off x="7191375" y="3667125"/>
            <a:ext cx="857250" cy="857250"/>
          </a:xfrm>
          <a:prstGeom xmlns:a="http://schemas.openxmlformats.org/drawingml/2006/main" prst="ellipse">
            <a:avLst/>
          </a:prstGeom>
          <a:solidFill xmlns:a="http://schemas.openxmlformats.org/drawingml/2006/main">
            <a:srgbClr val="FF00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0BF0AE-B9B8-4CF4-A582-A2957248B1B1}"/>
              </a:ext>
            </a:extLst>
          </p:cNvPr>
          <p:cNvSpPr>
            <a:spLocks xmlns:a="http://schemas.openxmlformats.org/drawingml/2006/main" noGrp="1"/>
          </p:cNvSpPr>
          <p:nvPr/>
        </p:nvSpPr>
        <p:spPr>
          <a:xfrm xmlns:a="http://schemas.openxmlformats.org/drawingml/2006/main">
            <a:off x="1238250" y="3848100"/>
            <a:ext cx="106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FFFFFF"/>
                </a:solidFill>
                <a:latin typeface="SF Mono"/>
                <a:ea typeface="SF Mono"/>
                <a:cs typeface="SF Mono"/>
              </a:rPr>
              <a:t>A</a:t>
            </a:r>
          </a:p>
        </p:txBody>
      </p:sp>
      <p:sp>
        <p:nvSpPr>
          <p:cNvPr id="11" name="">
            <a:extLst xmlns:a="http://schemas.openxmlformats.org/drawingml/2006/main">
              <a:ext uri="{FF2B5EF4-FFF2-40B4-BE49-F238E27FC236}">
                <a16:creationId xmlns:a16="http://schemas.microsoft.com/office/drawing/2014/main" id="{A839E140-4BFB-4D98-9858-635A8D1DFD92}"/>
              </a:ext>
            </a:extLst>
          </p:cNvPr>
          <p:cNvSpPr>
            <a:spLocks xmlns:a="http://schemas.openxmlformats.org/drawingml/2006/main" noGrp="1"/>
          </p:cNvSpPr>
          <p:nvPr/>
        </p:nvSpPr>
        <p:spPr>
          <a:xfrm xmlns:a="http://schemas.openxmlformats.org/drawingml/2006/main">
            <a:off x="8953500" y="3848100"/>
            <a:ext cx="106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SF Mono"/>
                <a:ea typeface="SF Mono"/>
                <a:cs typeface="SF Mono"/>
              </a:rPr>
              <a:t>B</a:t>
            </a:r>
          </a:p>
        </p:txBody>
      </p:sp>
      <p:sp>
        <p:nvSpPr>
          <p:cNvPr id="12" name="">
            <a:extLst xmlns:a="http://schemas.openxmlformats.org/drawingml/2006/main">
              <a:ext uri="{FF2B5EF4-FFF2-40B4-BE49-F238E27FC236}">
                <a16:creationId xmlns:a16="http://schemas.microsoft.com/office/drawing/2014/main" id="{A648B33F-14AC-4108-8B0D-0E09FCC920F3}"/>
              </a:ext>
            </a:extLst>
          </p:cNvPr>
          <p:cNvSpPr>
            <a:spLocks xmlns:a="http://schemas.openxmlformats.org/drawingml/2006/main" noGrp="1"/>
          </p:cNvSpPr>
          <p:nvPr/>
        </p:nvSpPr>
        <p:spPr>
          <a:xfrm xmlns:a="http://schemas.openxmlformats.org/drawingml/2006/main">
            <a:off x="7191375" y="3914775"/>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1">
                <a:solidFill>
                  <a:srgbClr val="FFFFFF"/>
                </a:solidFill>
                <a:latin typeface="SF Mono"/>
                <a:ea typeface="SF Mono"/>
                <a:cs typeface="SF Mono"/>
              </a:rPr>
              <a:t>FEE</a:t>
            </a:r>
          </a:p>
        </p:txBody>
      </p:sp>
      <p:sp>
        <p:nvSpPr>
          <p:cNvPr id="13" name="swap-label">
            <a:extLst xmlns:a="http://schemas.openxmlformats.org/drawingml/2006/main">
              <a:ext uri="{FF2B5EF4-FFF2-40B4-BE49-F238E27FC236}">
                <a16:creationId xmlns:a16="http://schemas.microsoft.com/office/drawing/2014/main" id="{EA2A09B2-950A-4950-B851-BA22CFED57D7}"/>
              </a:ext>
            </a:extLst>
          </p:cNvPr>
          <p:cNvSpPr>
            <a:spLocks xmlns:a="http://schemas.openxmlformats.org/drawingml/2006/main" noGrp="1"/>
          </p:cNvSpPr>
          <p:nvPr/>
        </p:nvSpPr>
        <p:spPr>
          <a:xfrm xmlns:a="http://schemas.openxmlformats.org/drawingml/2006/main">
            <a:off x="1428750" y="502920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Uniswapで取引が起きる</a:t>
            </a:r>
          </a:p>
        </p:txBody>
      </p:sp>
      <p:sp>
        <p:nvSpPr>
          <p:cNvPr id="14" name="fee-explanation">
            <a:extLst xmlns:a="http://schemas.openxmlformats.org/drawingml/2006/main">
              <a:ext uri="{FF2B5EF4-FFF2-40B4-BE49-F238E27FC236}">
                <a16:creationId xmlns:a16="http://schemas.microsoft.com/office/drawing/2014/main" id="{F2BEDF60-C510-4444-9198-4DAC96C56B0D}"/>
              </a:ext>
            </a:extLst>
          </p:cNvPr>
          <p:cNvSpPr>
            <a:spLocks xmlns:a="http://schemas.openxmlformats.org/drawingml/2006/main" noGrp="1"/>
          </p:cNvSpPr>
          <p:nvPr/>
        </p:nvSpPr>
        <p:spPr>
          <a:xfrm xmlns:a="http://schemas.openxmlformats.org/drawingml/2006/main">
            <a:off x="1428750" y="57912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726A74"/>
                </a:solidFill>
                <a:latin typeface="Hiragino Sans"/>
                <a:ea typeface="Hiragino Sans"/>
                <a:cs typeface="Hiragino Sans"/>
              </a:rPr>
              <a:t>交換ごとにプールのルールに沿って手数料が発生</a:t>
            </a:r>
          </a:p>
        </p:txBody>
      </p:sp>
    </p:spTree>
    <p:extLst>
      <p:ext uri="{BB962C8B-B14F-4D97-AF65-F5344CB8AC3E}">
        <p14:creationId xmlns:p14="http://schemas.microsoft.com/office/powerpoint/2010/main" val="14248519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age-4">
            <a:extLst xmlns:a="http://schemas.openxmlformats.org/drawingml/2006/main">
              <a:ext uri="{FF2B5EF4-FFF2-40B4-BE49-F238E27FC236}">
                <a16:creationId xmlns:a16="http://schemas.microsoft.com/office/drawing/2014/main" id="{834D9946-2F1D-422F-B227-CD63B2F871F7}"/>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04 / 08</a:t>
            </a:r>
          </a:p>
        </p:txBody>
      </p:sp>
      <p:sp>
        <p:nvSpPr>
          <p:cNvPr id="2" name="slide-4-title">
            <a:extLst xmlns:a="http://schemas.openxmlformats.org/drawingml/2006/main">
              <a:ext uri="{FF2B5EF4-FFF2-40B4-BE49-F238E27FC236}">
                <a16:creationId xmlns:a16="http://schemas.microsoft.com/office/drawing/2014/main" id="{97AE6CB9-37A1-4749-9953-72FB83B8DBFC}"/>
              </a:ext>
            </a:extLst>
          </p:cNvPr>
          <p:cNvSpPr>
            <a:spLocks xmlns:a="http://schemas.openxmlformats.org/drawingml/2006/main" noGrp="1"/>
          </p:cNvSpPr>
          <p:nvPr/>
        </p:nvSpPr>
        <p:spPr>
          <a:xfrm xmlns:a="http://schemas.openxmlformats.org/drawingml/2006/main">
            <a:off x="609600" y="6858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取引に必要な資産を提供すると手数料を分け合える</a:t>
            </a:r>
          </a:p>
        </p:txBody>
      </p:sp>
      <p:sp>
        <p:nvSpPr>
          <p:cNvPr id="3" name="subtitle">
            <a:extLst xmlns:a="http://schemas.openxmlformats.org/drawingml/2006/main">
              <a:ext uri="{FF2B5EF4-FFF2-40B4-BE49-F238E27FC236}">
                <a16:creationId xmlns:a16="http://schemas.microsoft.com/office/drawing/2014/main" id="{E118255D-8EF6-468B-8438-F63B4839BAD7}"/>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iragino Sans"/>
                <a:ea typeface="Hiragino Sans"/>
                <a:cs typeface="Hiragino Sans"/>
              </a:rPr>
              <a:t>参加者はプールのルールに基づく権利を得ます</a:t>
            </a:r>
          </a:p>
        </p:txBody>
      </p:sp>
      <p:sp>
        <p:nvSpPr>
          <p:cNvPr id="4" name="trade-assets-connector">
            <a:extLst xmlns:a="http://schemas.openxmlformats.org/drawingml/2006/main">
              <a:ext uri="{FF2B5EF4-FFF2-40B4-BE49-F238E27FC236}">
                <a16:creationId xmlns:a16="http://schemas.microsoft.com/office/drawing/2014/main" id="{CB24A863-16C0-4316-A04A-E05DB9E7C43F}"/>
              </a:ext>
            </a:extLst>
          </p:cNvPr>
          <p:cNvSpPr>
            <a:spLocks xmlns:a="http://schemas.openxmlformats.org/drawingml/2006/main" noGrp="1"/>
          </p:cNvSpPr>
          <p:nvPr/>
        </p:nvSpPr>
        <p:spPr>
          <a:xfrm xmlns:a="http://schemas.openxmlformats.org/drawingml/2006/main">
            <a:off x="2419350" y="4000500"/>
            <a:ext cx="3067050" cy="0"/>
          </a:xfrm>
          <a:prstGeom xmlns:a="http://schemas.openxmlformats.org/drawingml/2006/main" prst="line">
            <a:avLst/>
          </a:prstGeom>
          <a:noFill xmlns:a="http://schemas.openxmlformats.org/drawingml/2006/main"/>
          <a:ln xmlns:a="http://schemas.openxmlformats.org/drawingml/2006/main" w="38100">
            <a:solidFill>
              <a:srgbClr val="FF007A"/>
            </a:solidFill>
            <a:prstDash val="solid"/>
          </a:ln>
        </p:spPr>
      </p:sp>
      <p:sp>
        <p:nvSpPr>
          <p:cNvPr id="5" name="assets-fee-connector">
            <a:extLst xmlns:a="http://schemas.openxmlformats.org/drawingml/2006/main">
              <a:ext uri="{FF2B5EF4-FFF2-40B4-BE49-F238E27FC236}">
                <a16:creationId xmlns:a16="http://schemas.microsoft.com/office/drawing/2014/main" id="{596B9BD9-ED48-4B01-9D19-1EB9C4006414}"/>
              </a:ext>
            </a:extLst>
          </p:cNvPr>
          <p:cNvSpPr>
            <a:spLocks xmlns:a="http://schemas.openxmlformats.org/drawingml/2006/main" noGrp="1"/>
          </p:cNvSpPr>
          <p:nvPr/>
        </p:nvSpPr>
        <p:spPr>
          <a:xfrm xmlns:a="http://schemas.openxmlformats.org/drawingml/2006/main">
            <a:off x="6553200" y="4000500"/>
            <a:ext cx="3067050" cy="0"/>
          </a:xfrm>
          <a:prstGeom xmlns:a="http://schemas.openxmlformats.org/drawingml/2006/main" prst="line">
            <a:avLst/>
          </a:prstGeom>
          <a:noFill xmlns:a="http://schemas.openxmlformats.org/drawingml/2006/main"/>
          <a:ln xmlns:a="http://schemas.openxmlformats.org/drawingml/2006/main" w="38100">
            <a:solidFill>
              <a:srgbClr val="FF007A"/>
            </a:solidFill>
            <a:prstDash val="solid"/>
          </a:ln>
        </p:spPr>
      </p:sp>
      <p:sp>
        <p:nvSpPr>
          <p:cNvPr id="6" name="trade-node">
            <a:extLst xmlns:a="http://schemas.openxmlformats.org/drawingml/2006/main">
              <a:ext uri="{FF2B5EF4-FFF2-40B4-BE49-F238E27FC236}">
                <a16:creationId xmlns:a16="http://schemas.microsoft.com/office/drawing/2014/main" id="{EFCC7DD4-7473-4D55-BFAE-F41C2C599E1E}"/>
              </a:ext>
            </a:extLst>
          </p:cNvPr>
          <p:cNvSpPr>
            <a:spLocks xmlns:a="http://schemas.openxmlformats.org/drawingml/2006/main" noGrp="1"/>
          </p:cNvSpPr>
          <p:nvPr/>
        </p:nvSpPr>
        <p:spPr>
          <a:xfrm xmlns:a="http://schemas.openxmlformats.org/drawingml/2006/main">
            <a:off x="1181100" y="2914650"/>
            <a:ext cx="2190750" cy="2190750"/>
          </a:xfrm>
          <a:prstGeom xmlns:a="http://schemas.openxmlformats.org/drawingml/2006/main" prst="ellipse">
            <a:avLst/>
          </a:prstGeom>
          <a:solidFill xmlns:a="http://schemas.openxmlformats.org/drawingml/2006/main">
            <a:srgbClr val="19151A"/>
          </a:solidFill>
          <a:ln xmlns:a="http://schemas.openxmlformats.org/drawingml/2006/main" w="0">
            <a:noFill/>
            <a:prstDash val="solid"/>
          </a:ln>
        </p:spPr>
      </p:sp>
      <p:sp>
        <p:nvSpPr>
          <p:cNvPr id="7" name="trade-node-label">
            <a:extLst xmlns:a="http://schemas.openxmlformats.org/drawingml/2006/main">
              <a:ext uri="{FF2B5EF4-FFF2-40B4-BE49-F238E27FC236}">
                <a16:creationId xmlns:a16="http://schemas.microsoft.com/office/drawing/2014/main" id="{8C642F20-F8D1-466D-9BEB-D1959B7D7D07}"/>
              </a:ext>
            </a:extLst>
          </p:cNvPr>
          <p:cNvSpPr>
            <a:spLocks xmlns:a="http://schemas.openxmlformats.org/drawingml/2006/main" noGrp="1"/>
          </p:cNvSpPr>
          <p:nvPr/>
        </p:nvSpPr>
        <p:spPr>
          <a:xfrm xmlns:a="http://schemas.openxmlformats.org/drawingml/2006/main">
            <a:off x="1447800" y="3562350"/>
            <a:ext cx="1657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iragino Sans"/>
                <a:ea typeface="Hiragino Sans"/>
                <a:cs typeface="Hiragino Sans"/>
              </a:rPr>
              <a:t>実際の取引が発生</a:t>
            </a:r>
          </a:p>
        </p:txBody>
      </p:sp>
      <p:sp>
        <p:nvSpPr>
          <p:cNvPr id="8" name="assets-node">
            <a:extLst xmlns:a="http://schemas.openxmlformats.org/drawingml/2006/main">
              <a:ext uri="{FF2B5EF4-FFF2-40B4-BE49-F238E27FC236}">
                <a16:creationId xmlns:a16="http://schemas.microsoft.com/office/drawing/2014/main" id="{DEC5583E-7CF2-435E-9BB1-113D57BE4C8F}"/>
              </a:ext>
            </a:extLst>
          </p:cNvPr>
          <p:cNvSpPr>
            <a:spLocks xmlns:a="http://schemas.openxmlformats.org/drawingml/2006/main" noGrp="1"/>
          </p:cNvSpPr>
          <p:nvPr/>
        </p:nvSpPr>
        <p:spPr>
          <a:xfrm xmlns:a="http://schemas.openxmlformats.org/drawingml/2006/main">
            <a:off x="5010150" y="2914650"/>
            <a:ext cx="2190750" cy="2190750"/>
          </a:xfrm>
          <a:prstGeom xmlns:a="http://schemas.openxmlformats.org/drawingml/2006/main" prst="ellipse">
            <a:avLst/>
          </a:prstGeom>
          <a:solidFill xmlns:a="http://schemas.openxmlformats.org/drawingml/2006/main">
            <a:srgbClr val="F8E7F0"/>
          </a:solidFill>
          <a:ln xmlns:a="http://schemas.openxmlformats.org/drawingml/2006/main" w="19050">
            <a:solidFill>
              <a:srgbClr val="FF007A"/>
            </a:solidFill>
            <a:prstDash val="solid"/>
          </a:ln>
        </p:spPr>
      </p:sp>
      <p:sp>
        <p:nvSpPr>
          <p:cNvPr id="9" name="assets-node-label">
            <a:extLst xmlns:a="http://schemas.openxmlformats.org/drawingml/2006/main">
              <a:ext uri="{FF2B5EF4-FFF2-40B4-BE49-F238E27FC236}">
                <a16:creationId xmlns:a16="http://schemas.microsoft.com/office/drawing/2014/main" id="{DEB6DD6B-BA86-4C91-9AD0-15ADC733C577}"/>
              </a:ext>
            </a:extLst>
          </p:cNvPr>
          <p:cNvSpPr>
            <a:spLocks xmlns:a="http://schemas.openxmlformats.org/drawingml/2006/main" noGrp="1"/>
          </p:cNvSpPr>
          <p:nvPr/>
        </p:nvSpPr>
        <p:spPr>
          <a:xfrm xmlns:a="http://schemas.openxmlformats.org/drawingml/2006/main">
            <a:off x="5276850" y="3562350"/>
            <a:ext cx="1657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19151A"/>
                </a:solidFill>
                <a:latin typeface="Hiragino Sans"/>
                <a:ea typeface="Hiragino Sans"/>
                <a:cs typeface="Hiragino Sans"/>
              </a:rPr>
              <a:t>あなたの資産が取引を支える</a:t>
            </a:r>
          </a:p>
        </p:txBody>
      </p:sp>
      <p:sp>
        <p:nvSpPr>
          <p:cNvPr id="10" name="fee-share-node">
            <a:extLst xmlns:a="http://schemas.openxmlformats.org/drawingml/2006/main">
              <a:ext uri="{FF2B5EF4-FFF2-40B4-BE49-F238E27FC236}">
                <a16:creationId xmlns:a16="http://schemas.microsoft.com/office/drawing/2014/main" id="{8F12F931-2FFB-4695-B133-68023E9FCA93}"/>
              </a:ext>
            </a:extLst>
          </p:cNvPr>
          <p:cNvSpPr>
            <a:spLocks xmlns:a="http://schemas.openxmlformats.org/drawingml/2006/main" noGrp="1"/>
          </p:cNvSpPr>
          <p:nvPr/>
        </p:nvSpPr>
        <p:spPr>
          <a:xfrm xmlns:a="http://schemas.openxmlformats.org/drawingml/2006/main">
            <a:off x="8839200" y="2914650"/>
            <a:ext cx="2190750" cy="2190750"/>
          </a:xfrm>
          <a:prstGeom xmlns:a="http://schemas.openxmlformats.org/drawingml/2006/main" prst="ellipse">
            <a:avLst/>
          </a:prstGeom>
          <a:solidFill xmlns:a="http://schemas.openxmlformats.org/drawingml/2006/main">
            <a:srgbClr val="FF007A"/>
          </a:solidFill>
          <a:ln xmlns:a="http://schemas.openxmlformats.org/drawingml/2006/main" w="0">
            <a:noFill/>
            <a:prstDash val="solid"/>
          </a:ln>
        </p:spPr>
      </p:sp>
      <p:sp>
        <p:nvSpPr>
          <p:cNvPr id="11" name="fee-share-node-label">
            <a:extLst xmlns:a="http://schemas.openxmlformats.org/drawingml/2006/main">
              <a:ext uri="{FF2B5EF4-FFF2-40B4-BE49-F238E27FC236}">
                <a16:creationId xmlns:a16="http://schemas.microsoft.com/office/drawing/2014/main" id="{1C53D404-58EF-49F9-867E-38579D692329}"/>
              </a:ext>
            </a:extLst>
          </p:cNvPr>
          <p:cNvSpPr>
            <a:spLocks xmlns:a="http://schemas.openxmlformats.org/drawingml/2006/main" noGrp="1"/>
          </p:cNvSpPr>
          <p:nvPr/>
        </p:nvSpPr>
        <p:spPr>
          <a:xfrm xmlns:a="http://schemas.openxmlformats.org/drawingml/2006/main">
            <a:off x="8991600" y="3562350"/>
            <a:ext cx="18859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iragino Sans"/>
                <a:ea typeface="Hiragino Sans"/>
                <a:cs typeface="Hiragino Sans"/>
              </a:rPr>
              <a:t>手数料シェア</a:t>
            </a:r>
          </a:p>
        </p:txBody>
      </p:sp>
    </p:spTree>
    <p:extLst>
      <p:ext uri="{BB962C8B-B14F-4D97-AF65-F5344CB8AC3E}">
        <p14:creationId xmlns:p14="http://schemas.microsoft.com/office/powerpoint/2010/main" val="2117521025"/>
      </p:ext>
    </p:extLst>
  </p:cSld>
</p:sld>
</file>

<file path=ppt/slides/slide5.xml><?xml version="1.0" encoding="utf-8"?>
<p:sld xmlns:p="http://schemas.openxmlformats.org/presentationml/2006/main">
  <p:cSld>
    <p:bg>
      <p:bgPr>
        <a:solidFill xmlns:a="http://schemas.openxmlformats.org/drawingml/2006/main">
          <a:srgbClr val="F8E7F0"/>
        </a:solidFill>
      </p:bgPr>
    </p:bg>
    <p:spTree>
      <p:nvGrpSpPr>
        <p:cNvPr id="1" name=""/>
        <p:cNvGrpSpPr/>
        <p:nvPr/>
      </p:nvGrpSpPr>
      <p:grpSpPr>
        <a:xfrm xmlns:a="http://schemas.openxmlformats.org/drawingml/2006/main"/>
      </p:grpSpPr>
      <p:sp>
        <p:nvSpPr>
          <p:cNvPr id="14" name="page-5">
            <a:extLst xmlns:a="http://schemas.openxmlformats.org/drawingml/2006/main">
              <a:ext uri="{FF2B5EF4-FFF2-40B4-BE49-F238E27FC236}">
                <a16:creationId xmlns:a16="http://schemas.microsoft.com/office/drawing/2014/main" id="{82755AF1-6017-4C29-910E-E4F30010AD9B}"/>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05 / 08</a:t>
            </a:r>
          </a:p>
        </p:txBody>
      </p:sp>
      <p:sp>
        <p:nvSpPr>
          <p:cNvPr id="2" name="slide-5-title">
            <a:extLst xmlns:a="http://schemas.openxmlformats.org/drawingml/2006/main">
              <a:ext uri="{FF2B5EF4-FFF2-40B4-BE49-F238E27FC236}">
                <a16:creationId xmlns:a16="http://schemas.microsoft.com/office/drawing/2014/main" id="{8BDB13D2-9A0A-4E1F-9981-4A0DC95DC3CC}"/>
              </a:ext>
            </a:extLst>
          </p:cNvPr>
          <p:cNvSpPr>
            <a:spLocks xmlns:a="http://schemas.openxmlformats.org/drawingml/2006/main" noGrp="1"/>
          </p:cNvSpPr>
          <p:nvPr/>
        </p:nvSpPr>
        <p:spPr>
          <a:xfrm xmlns:a="http://schemas.openxmlformats.org/drawingml/2006/main">
            <a:off x="609600" y="6858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自分で管理するのは簡単ではありません</a:t>
            </a:r>
          </a:p>
        </p:txBody>
      </p:sp>
      <p:sp>
        <p:nvSpPr>
          <p:cNvPr id="3" name="subtitle">
            <a:extLst xmlns:a="http://schemas.openxmlformats.org/drawingml/2006/main">
              <a:ext uri="{FF2B5EF4-FFF2-40B4-BE49-F238E27FC236}">
                <a16:creationId xmlns:a16="http://schemas.microsoft.com/office/drawing/2014/main" id="{8896E79A-C3D5-409E-883B-2C5BF32F23EC}"/>
              </a:ext>
            </a:extLst>
          </p:cNvPr>
          <p:cNvSpPr>
            <a:spLocks xmlns:a="http://schemas.openxmlformats.org/drawingml/2006/main" noGrp="1"/>
          </p:cNvSpPr>
          <p:nvPr/>
        </p:nvSpPr>
        <p:spPr>
          <a:xfrm xmlns:a="http://schemas.openxmlformats.org/drawingml/2006/main">
            <a:off x="609600" y="15811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0">
                <a:solidFill>
                  <a:srgbClr val="726A74"/>
                </a:solidFill>
                <a:latin typeface="Hiragino Sans"/>
                <a:ea typeface="Hiragino Sans"/>
                <a:cs typeface="Hiragino Sans"/>
              </a:rPr>
              <a:t>配分、価格帯、監視、調整が必要です</a:t>
            </a:r>
          </a:p>
        </p:txBody>
      </p:sp>
      <p:sp>
        <p:nvSpPr>
          <p:cNvPr id="4" name="difficulty-question">
            <a:extLst xmlns:a="http://schemas.openxmlformats.org/drawingml/2006/main">
              <a:ext uri="{FF2B5EF4-FFF2-40B4-BE49-F238E27FC236}">
                <a16:creationId xmlns:a16="http://schemas.microsoft.com/office/drawing/2014/main" id="{20569EE7-B97C-4BC0-BDBB-C08F78F675D1}"/>
              </a:ext>
            </a:extLst>
          </p:cNvPr>
          <p:cNvSpPr>
            <a:spLocks xmlns:a="http://schemas.openxmlformats.org/drawingml/2006/main" noGrp="1"/>
          </p:cNvSpPr>
          <p:nvPr/>
        </p:nvSpPr>
        <p:spPr>
          <a:xfrm xmlns:a="http://schemas.openxmlformats.org/drawingml/2006/main">
            <a:off x="4533900" y="2590800"/>
            <a:ext cx="3124200" cy="3124200"/>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7A"/>
            </a:solidFill>
            <a:prstDash val="solid"/>
          </a:ln>
        </p:spPr>
      </p:sp>
      <p:sp>
        <p:nvSpPr>
          <p:cNvPr id="5" name="question-mark">
            <a:extLst xmlns:a="http://schemas.openxmlformats.org/drawingml/2006/main">
              <a:ext uri="{FF2B5EF4-FFF2-40B4-BE49-F238E27FC236}">
                <a16:creationId xmlns:a16="http://schemas.microsoft.com/office/drawing/2014/main" id="{A41B48AC-9AAB-49C6-B7C2-5521ACCA95FB}"/>
              </a:ext>
            </a:extLst>
          </p:cNvPr>
          <p:cNvSpPr>
            <a:spLocks xmlns:a="http://schemas.openxmlformats.org/drawingml/2006/main" noGrp="1"/>
          </p:cNvSpPr>
          <p:nvPr/>
        </p:nvSpPr>
        <p:spPr>
          <a:xfrm xmlns:a="http://schemas.openxmlformats.org/drawingml/2006/main">
            <a:off x="5391150" y="3314700"/>
            <a:ext cx="14097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1200" b="1">
                <a:solidFill>
                  <a:srgbClr val="FF007A"/>
                </a:solidFill>
                <a:latin typeface="SF Mono"/>
                <a:ea typeface="SF Mono"/>
                <a:cs typeface="SF Mono"/>
              </a:rPr>
              <a:t>?</a:t>
            </a:r>
          </a:p>
        </p:txBody>
      </p:sp>
      <p:sp>
        <p:nvSpPr>
          <p:cNvPr id="6" name="task-01-index">
            <a:extLst xmlns:a="http://schemas.openxmlformats.org/drawingml/2006/main">
              <a:ext uri="{FF2B5EF4-FFF2-40B4-BE49-F238E27FC236}">
                <a16:creationId xmlns:a16="http://schemas.microsoft.com/office/drawing/2014/main" id="{B7092E48-2F26-4C57-8E56-F362FFF6A99D}"/>
              </a:ext>
            </a:extLst>
          </p:cNvPr>
          <p:cNvSpPr>
            <a:spLocks xmlns:a="http://schemas.openxmlformats.org/drawingml/2006/main" noGrp="1"/>
          </p:cNvSpPr>
          <p:nvPr/>
        </p:nvSpPr>
        <p:spPr>
          <a:xfrm xmlns:a="http://schemas.openxmlformats.org/drawingml/2006/main">
            <a:off x="952500" y="26479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01</a:t>
            </a:r>
          </a:p>
        </p:txBody>
      </p:sp>
      <p:sp>
        <p:nvSpPr>
          <p:cNvPr id="7" name="task-01-label">
            <a:extLst xmlns:a="http://schemas.openxmlformats.org/drawingml/2006/main">
              <a:ext uri="{FF2B5EF4-FFF2-40B4-BE49-F238E27FC236}">
                <a16:creationId xmlns:a16="http://schemas.microsoft.com/office/drawing/2014/main" id="{EAC4B3D7-6F47-46AF-9FF1-05A5EB6D61F6}"/>
              </a:ext>
            </a:extLst>
          </p:cNvPr>
          <p:cNvSpPr>
            <a:spLocks xmlns:a="http://schemas.openxmlformats.org/drawingml/2006/main" noGrp="1"/>
          </p:cNvSpPr>
          <p:nvPr/>
        </p:nvSpPr>
        <p:spPr>
          <a:xfrm xmlns:a="http://schemas.openxmlformats.org/drawingml/2006/main">
            <a:off x="952500" y="30861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対応資産</a:t>
            </a:r>
          </a:p>
        </p:txBody>
      </p:sp>
      <p:sp>
        <p:nvSpPr>
          <p:cNvPr id="8" name="task-02-index">
            <a:extLst xmlns:a="http://schemas.openxmlformats.org/drawingml/2006/main">
              <a:ext uri="{FF2B5EF4-FFF2-40B4-BE49-F238E27FC236}">
                <a16:creationId xmlns:a16="http://schemas.microsoft.com/office/drawing/2014/main" id="{92FA7B13-CCB0-487C-9DD0-6687D18A48A0}"/>
              </a:ext>
            </a:extLst>
          </p:cNvPr>
          <p:cNvSpPr>
            <a:spLocks xmlns:a="http://schemas.openxmlformats.org/drawingml/2006/main" noGrp="1"/>
          </p:cNvSpPr>
          <p:nvPr/>
        </p:nvSpPr>
        <p:spPr>
          <a:xfrm xmlns:a="http://schemas.openxmlformats.org/drawingml/2006/main">
            <a:off x="8705850" y="26479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02</a:t>
            </a:r>
          </a:p>
        </p:txBody>
      </p:sp>
      <p:sp>
        <p:nvSpPr>
          <p:cNvPr id="9" name="task-02-label">
            <a:extLst xmlns:a="http://schemas.openxmlformats.org/drawingml/2006/main">
              <a:ext uri="{FF2B5EF4-FFF2-40B4-BE49-F238E27FC236}">
                <a16:creationId xmlns:a16="http://schemas.microsoft.com/office/drawing/2014/main" id="{0C9D44DE-65FB-431D-BC37-68342EB13E82}"/>
              </a:ext>
            </a:extLst>
          </p:cNvPr>
          <p:cNvSpPr>
            <a:spLocks xmlns:a="http://schemas.openxmlformats.org/drawingml/2006/main" noGrp="1"/>
          </p:cNvSpPr>
          <p:nvPr/>
        </p:nvSpPr>
        <p:spPr>
          <a:xfrm xmlns:a="http://schemas.openxmlformats.org/drawingml/2006/main">
            <a:off x="8705850" y="30861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プールのルールを学ぶ</a:t>
            </a:r>
          </a:p>
        </p:txBody>
      </p:sp>
      <p:sp>
        <p:nvSpPr>
          <p:cNvPr id="10" name="task-03-index">
            <a:extLst xmlns:a="http://schemas.openxmlformats.org/drawingml/2006/main">
              <a:ext uri="{FF2B5EF4-FFF2-40B4-BE49-F238E27FC236}">
                <a16:creationId xmlns:a16="http://schemas.microsoft.com/office/drawing/2014/main" id="{55D089BD-F7B4-4CF4-AC20-58EBF58B51C1}"/>
              </a:ext>
            </a:extLst>
          </p:cNvPr>
          <p:cNvSpPr>
            <a:spLocks xmlns:a="http://schemas.openxmlformats.org/drawingml/2006/main" noGrp="1"/>
          </p:cNvSpPr>
          <p:nvPr/>
        </p:nvSpPr>
        <p:spPr>
          <a:xfrm xmlns:a="http://schemas.openxmlformats.org/drawingml/2006/main">
            <a:off x="952500" y="47625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03</a:t>
            </a:r>
          </a:p>
        </p:txBody>
      </p:sp>
      <p:sp>
        <p:nvSpPr>
          <p:cNvPr id="11" name="task-03-label">
            <a:extLst xmlns:a="http://schemas.openxmlformats.org/drawingml/2006/main">
              <a:ext uri="{FF2B5EF4-FFF2-40B4-BE49-F238E27FC236}">
                <a16:creationId xmlns:a16="http://schemas.microsoft.com/office/drawing/2014/main" id="{3E80AD58-DA5A-4C55-BC0C-58A7C72D316F}"/>
              </a:ext>
            </a:extLst>
          </p:cNvPr>
          <p:cNvSpPr>
            <a:spLocks xmlns:a="http://schemas.openxmlformats.org/drawingml/2006/main" noGrp="1"/>
          </p:cNvSpPr>
          <p:nvPr/>
        </p:nvSpPr>
        <p:spPr>
          <a:xfrm xmlns:a="http://schemas.openxmlformats.org/drawingml/2006/main">
            <a:off x="952500" y="52006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資金を置く場所を自分で判断</a:t>
            </a:r>
          </a:p>
        </p:txBody>
      </p:sp>
      <p:sp>
        <p:nvSpPr>
          <p:cNvPr id="12" name="task-04-index">
            <a:extLst xmlns:a="http://schemas.openxmlformats.org/drawingml/2006/main">
              <a:ext uri="{FF2B5EF4-FFF2-40B4-BE49-F238E27FC236}">
                <a16:creationId xmlns:a16="http://schemas.microsoft.com/office/drawing/2014/main" id="{759B08F7-42A2-457A-B3E4-F3076D7B55A7}"/>
              </a:ext>
            </a:extLst>
          </p:cNvPr>
          <p:cNvSpPr>
            <a:spLocks xmlns:a="http://schemas.openxmlformats.org/drawingml/2006/main" noGrp="1"/>
          </p:cNvSpPr>
          <p:nvPr/>
        </p:nvSpPr>
        <p:spPr>
          <a:xfrm xmlns:a="http://schemas.openxmlformats.org/drawingml/2006/main">
            <a:off x="8705850" y="47625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04</a:t>
            </a:r>
          </a:p>
        </p:txBody>
      </p:sp>
      <p:sp>
        <p:nvSpPr>
          <p:cNvPr id="13" name="task-04-label">
            <a:extLst xmlns:a="http://schemas.openxmlformats.org/drawingml/2006/main">
              <a:ext uri="{FF2B5EF4-FFF2-40B4-BE49-F238E27FC236}">
                <a16:creationId xmlns:a16="http://schemas.microsoft.com/office/drawing/2014/main" id="{D9476F7A-5997-48D3-AB82-03DD8FA894E0}"/>
              </a:ext>
            </a:extLst>
          </p:cNvPr>
          <p:cNvSpPr>
            <a:spLocks xmlns:a="http://schemas.openxmlformats.org/drawingml/2006/main" noGrp="1"/>
          </p:cNvSpPr>
          <p:nvPr/>
        </p:nvSpPr>
        <p:spPr>
          <a:xfrm xmlns:a="http://schemas.openxmlformats.org/drawingml/2006/main">
            <a:off x="8705850" y="52006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価格変化に合わせて調整</a:t>
            </a:r>
          </a:p>
        </p:txBody>
      </p:sp>
    </p:spTree>
    <p:extLst>
      <p:ext uri="{BB962C8B-B14F-4D97-AF65-F5344CB8AC3E}">
        <p14:creationId xmlns:p14="http://schemas.microsoft.com/office/powerpoint/2010/main" val="5443346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3ff443e2724462"/>
          <a:srcRect xmlns:a="http://schemas.openxmlformats.org/drawingml/2006/main" l="18519" t="0" r="18519" b="0"/>
          <a:stretch xmlns:a="http://schemas.openxmlformats.org/drawingml/2006/main">
            <a:fillRect l="0" t="0" r="0" b="0"/>
          </a:stretch>
        </p:blipFill>
        <p:spPr>
          <a:xfrm xmlns:a="http://schemas.openxmlformats.org/drawingml/2006/main">
            <a:off x="0" y="0"/>
            <a:ext cx="6477000" cy="68580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ed24a96fd974f53"/>
          <a:srcRect xmlns:a="http://schemas.openxmlformats.org/drawingml/2006/main" l="21854" t="0" r="21854" b="0"/>
          <a:stretch xmlns:a="http://schemas.openxmlformats.org/drawingml/2006/main">
            <a:fillRect l="0" t="0" r="0" b="0"/>
          </a:stretch>
        </p:blipFill>
        <p:spPr>
          <a:xfrm xmlns:a="http://schemas.openxmlformats.org/drawingml/2006/main">
            <a:off x="6019800" y="0"/>
            <a:ext cx="6172200" cy="6858000"/>
          </a:xfrm>
          <a:prstGeom xmlns:a="http://schemas.openxmlformats.org/drawingml/2006/main" prst="rect">
            <a:avLst/>
          </a:prstGeom>
        </p:spPr>
      </p:pic>
      <p:sp>
        <p:nvSpPr>
          <p:cNvPr id="3" name="flow-edge-mask">
            <a:extLst xmlns:a="http://schemas.openxmlformats.org/drawingml/2006/main">
              <a:ext uri="{FF2B5EF4-FFF2-40B4-BE49-F238E27FC236}">
                <a16:creationId xmlns:a16="http://schemas.microsoft.com/office/drawing/2014/main" id="{3D74CB77-AC6E-40B6-87DD-7A1743BB8F69}"/>
              </a:ext>
            </a:extLst>
          </p:cNvPr>
          <p:cNvSpPr>
            <a:spLocks xmlns:a="http://schemas.openxmlformats.org/drawingml/2006/main" noGrp="1"/>
          </p:cNvSpPr>
          <p:nvPr/>
        </p:nvSpPr>
        <p:spPr>
          <a:xfrm xmlns:a="http://schemas.openxmlformats.org/drawingml/2006/main">
            <a:off x="5715000" y="0"/>
            <a:ext cx="76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unieddy-title">
            <a:extLst xmlns:a="http://schemas.openxmlformats.org/drawingml/2006/main">
              <a:ext uri="{FF2B5EF4-FFF2-40B4-BE49-F238E27FC236}">
                <a16:creationId xmlns:a16="http://schemas.microsoft.com/office/drawing/2014/main" id="{6EF96501-53F6-4979-B1F2-5E4B63DAB239}"/>
              </a:ext>
            </a:extLst>
          </p:cNvPr>
          <p:cNvSpPr>
            <a:spLocks xmlns:a="http://schemas.openxmlformats.org/drawingml/2006/main" noGrp="1"/>
          </p:cNvSpPr>
          <p:nvPr/>
        </p:nvSpPr>
        <p:spPr>
          <a:xfrm xmlns:a="http://schemas.openxmlformats.org/drawingml/2006/main">
            <a:off x="609600" y="876300"/>
            <a:ext cx="5619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UniEddyなら管理は簡単</a:t>
            </a:r>
          </a:p>
        </p:txBody>
      </p:sp>
      <p:sp>
        <p:nvSpPr>
          <p:cNvPr id="5" name="unieddy-callout">
            <a:extLst xmlns:a="http://schemas.openxmlformats.org/drawingml/2006/main">
              <a:ext uri="{FF2B5EF4-FFF2-40B4-BE49-F238E27FC236}">
                <a16:creationId xmlns:a16="http://schemas.microsoft.com/office/drawing/2014/main" id="{C9D3F7E8-0FD8-4060-8D96-0D6BFB77EC97}"/>
              </a:ext>
            </a:extLst>
          </p:cNvPr>
          <p:cNvSpPr>
            <a:spLocks xmlns:a="http://schemas.openxmlformats.org/drawingml/2006/main" noGrp="1"/>
          </p:cNvSpPr>
          <p:nvPr/>
        </p:nvSpPr>
        <p:spPr>
          <a:xfrm xmlns:a="http://schemas.openxmlformats.org/drawingml/2006/main">
            <a:off x="419100" y="2762250"/>
            <a:ext cx="5238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FF007A"/>
                </a:solidFill>
                <a:latin typeface="Hiragino Sans"/>
                <a:ea typeface="Hiragino Sans"/>
                <a:cs typeface="Hiragino Sans"/>
              </a:rPr>
              <a:t>システムが監視し、
固定ルールが行動を決定</a:t>
            </a:r>
          </a:p>
        </p:txBody>
      </p:sp>
      <p:sp>
        <p:nvSpPr>
          <p:cNvPr id="6" name="unieddy-explanation">
            <a:extLst xmlns:a="http://schemas.openxmlformats.org/drawingml/2006/main">
              <a:ext uri="{FF2B5EF4-FFF2-40B4-BE49-F238E27FC236}">
                <a16:creationId xmlns:a16="http://schemas.microsoft.com/office/drawing/2014/main" id="{C1408570-FA32-449C-9D8C-5B501BB6A50E}"/>
              </a:ext>
            </a:extLst>
          </p:cNvPr>
          <p:cNvSpPr>
            <a:spLocks xmlns:a="http://schemas.openxmlformats.org/drawingml/2006/main" noGrp="1"/>
          </p:cNvSpPr>
          <p:nvPr/>
        </p:nvSpPr>
        <p:spPr>
          <a:xfrm xmlns:a="http://schemas.openxmlformats.org/drawingml/2006/main">
            <a:off x="609600" y="3810000"/>
            <a:ext cx="4762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0">
                <a:solidFill>
                  <a:srgbClr val="726A74"/>
                </a:solidFill>
                <a:latin typeface="Hiragino Sans"/>
                <a:ea typeface="Hiragino Sans"/>
                <a:cs typeface="Hiragino Sans"/>
              </a:rPr>
              <a:t>AIが分析。
固定ルールが決定します。</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cc838ea8f8647c4"/>
          <a:stretch xmlns:a="http://schemas.openxmlformats.org/drawingml/2006/main"/>
        </p:blipFill>
        <p:spPr>
          <a:xfrm xmlns:a="http://schemas.openxmlformats.org/drawingml/2006/main">
            <a:off x="7983141" y="2514600"/>
            <a:ext cx="2378869" cy="2114550"/>
          </a:xfrm>
          <a:prstGeom xmlns:a="http://schemas.openxmlformats.org/drawingml/2006/main" prst="rect">
            <a:avLst/>
          </a:prstGeom>
        </p:spPr>
      </p:pic>
      <p:sp>
        <p:nvSpPr>
          <p:cNvPr id="8" name="unieddy-wordmark">
            <a:extLst xmlns:a="http://schemas.openxmlformats.org/drawingml/2006/main">
              <a:ext uri="{FF2B5EF4-FFF2-40B4-BE49-F238E27FC236}">
                <a16:creationId xmlns:a16="http://schemas.microsoft.com/office/drawing/2014/main" id="{C122327A-0E42-4DEC-B0D8-885A78173DF2}"/>
              </a:ext>
            </a:extLst>
          </p:cNvPr>
          <p:cNvSpPr>
            <a:spLocks xmlns:a="http://schemas.openxmlformats.org/drawingml/2006/main" noGrp="1"/>
          </p:cNvSpPr>
          <p:nvPr/>
        </p:nvSpPr>
        <p:spPr>
          <a:xfrm xmlns:a="http://schemas.openxmlformats.org/drawingml/2006/main">
            <a:off x="8020050" y="4762500"/>
            <a:ext cx="2343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Hiragino Sans"/>
                <a:ea typeface="Hiragino Sans"/>
                <a:cs typeface="Hiragino Sans"/>
              </a:rPr>
              <a:t>UniEddy</a:t>
            </a:r>
          </a:p>
        </p:txBody>
      </p:sp>
      <p:sp>
        <p:nvSpPr>
          <p:cNvPr id="9" name="page-6">
            <a:extLst xmlns:a="http://schemas.openxmlformats.org/drawingml/2006/main">
              <a:ext uri="{FF2B5EF4-FFF2-40B4-BE49-F238E27FC236}">
                <a16:creationId xmlns:a16="http://schemas.microsoft.com/office/drawing/2014/main" id="{A8100823-6443-4C0F-AD61-C1A7267C4CDB}"/>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06 / 08</a:t>
            </a:r>
          </a:p>
        </p:txBody>
      </p:sp>
    </p:spTree>
    <p:extLst>
      <p:ext uri="{BB962C8B-B14F-4D97-AF65-F5344CB8AC3E}">
        <p14:creationId xmlns:p14="http://schemas.microsoft.com/office/powerpoint/2010/main" val="476086148"/>
      </p:ext>
    </p:extLst>
  </p:cSld>
</p:sld>
</file>

<file path=ppt/slides/slide7.xml><?xml version="1.0" encoding="utf-8"?>
<p:sld xmlns:p="http://schemas.openxmlformats.org/presentationml/2006/main">
  <p:cSld>
    <p:bg>
      <p:bgPr>
        <a:solidFill xmlns:a="http://schemas.openxmlformats.org/drawingml/2006/main">
          <a:srgbClr val="FFF7FB"/>
        </a:solidFill>
      </p:bgPr>
    </p:bg>
    <p:spTree>
      <p:nvGrpSpPr>
        <p:cNvPr id="1" name=""/>
        <p:cNvGrpSpPr/>
        <p:nvPr/>
      </p:nvGrpSpPr>
      <p:grpSpPr>
        <a:xfrm xmlns:a="http://schemas.openxmlformats.org/drawingml/2006/main"/>
      </p:grpSpPr>
      <p:sp>
        <p:nvSpPr>
          <p:cNvPr id="15" name="page-7">
            <a:extLst xmlns:a="http://schemas.openxmlformats.org/drawingml/2006/main">
              <a:ext uri="{FF2B5EF4-FFF2-40B4-BE49-F238E27FC236}">
                <a16:creationId xmlns:a16="http://schemas.microsoft.com/office/drawing/2014/main" id="{3A467541-5511-476D-ADE9-67467F5EFA86}"/>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07 / 08</a:t>
            </a:r>
          </a:p>
        </p:txBody>
      </p:sp>
      <p:sp>
        <p:nvSpPr>
          <p:cNvPr id="2" name="slide-7-title">
            <a:extLst xmlns:a="http://schemas.openxmlformats.org/drawingml/2006/main">
              <a:ext uri="{FF2B5EF4-FFF2-40B4-BE49-F238E27FC236}">
                <a16:creationId xmlns:a16="http://schemas.microsoft.com/office/drawing/2014/main" id="{53FE2707-15CC-4425-B891-D44B63CD0DF3}"/>
              </a:ext>
            </a:extLst>
          </p:cNvPr>
          <p:cNvSpPr>
            <a:spLocks xmlns:a="http://schemas.openxmlformats.org/drawingml/2006/main" noGrp="1"/>
          </p:cNvSpPr>
          <p:nvPr/>
        </p:nvSpPr>
        <p:spPr>
          <a:xfrm xmlns:a="http://schemas.openxmlformats.org/drawingml/2006/main">
            <a:off x="609600" y="685800"/>
            <a:ext cx="1047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3500" b="1">
                <a:solidFill>
                  <a:srgbClr val="19151A"/>
                </a:solidFill>
                <a:latin typeface="Hiragino Sans"/>
                <a:ea typeface="Hiragino Sans"/>
                <a:cs typeface="Hiragino Sans"/>
              </a:rPr>
              <a:t>実際の取引と手数料。オンチェーンで確認。</a:t>
            </a:r>
          </a:p>
        </p:txBody>
      </p:sp>
      <p:sp>
        <p:nvSpPr>
          <p:cNvPr id="3" name="proof-01-index">
            <a:extLst xmlns:a="http://schemas.openxmlformats.org/drawingml/2006/main">
              <a:ext uri="{FF2B5EF4-FFF2-40B4-BE49-F238E27FC236}">
                <a16:creationId xmlns:a16="http://schemas.microsoft.com/office/drawing/2014/main" id="{A9231EF8-5D72-4B2A-B33D-9AF4347B174E}"/>
              </a:ext>
            </a:extLst>
          </p:cNvPr>
          <p:cNvSpPr>
            <a:spLocks xmlns:a="http://schemas.openxmlformats.org/drawingml/2006/main" noGrp="1"/>
          </p:cNvSpPr>
          <p:nvPr/>
        </p:nvSpPr>
        <p:spPr>
          <a:xfrm xmlns:a="http://schemas.openxmlformats.org/drawingml/2006/main">
            <a:off x="762000" y="21145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01</a:t>
            </a:r>
          </a:p>
        </p:txBody>
      </p:sp>
      <p:sp>
        <p:nvSpPr>
          <p:cNvPr id="4" name="proof-01-label">
            <a:extLst xmlns:a="http://schemas.openxmlformats.org/drawingml/2006/main">
              <a:ext uri="{FF2B5EF4-FFF2-40B4-BE49-F238E27FC236}">
                <a16:creationId xmlns:a16="http://schemas.microsoft.com/office/drawing/2014/main" id="{37498AF1-5956-4BCE-8A0F-2FA0A1DC0EC6}"/>
              </a:ext>
            </a:extLst>
          </p:cNvPr>
          <p:cNvSpPr>
            <a:spLocks xmlns:a="http://schemas.openxmlformats.org/drawingml/2006/main" noGrp="1"/>
          </p:cNvSpPr>
          <p:nvPr/>
        </p:nvSpPr>
        <p:spPr>
          <a:xfrm xmlns:a="http://schemas.openxmlformats.org/drawingml/2006/main">
            <a:off x="1619250" y="20383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実際の取引が発生</a:t>
            </a:r>
          </a:p>
        </p:txBody>
      </p:sp>
      <p:sp>
        <p:nvSpPr>
          <p:cNvPr id="5" name="">
            <a:extLst xmlns:a="http://schemas.openxmlformats.org/drawingml/2006/main">
              <a:ext uri="{FF2B5EF4-FFF2-40B4-BE49-F238E27FC236}">
                <a16:creationId xmlns:a16="http://schemas.microsoft.com/office/drawing/2014/main" id="{D0BCFEED-A2C0-41D3-8789-3A2A598101A1}"/>
              </a:ext>
            </a:extLst>
          </p:cNvPr>
          <p:cNvSpPr>
            <a:spLocks xmlns:a="http://schemas.openxmlformats.org/drawingml/2006/main" noGrp="1"/>
          </p:cNvSpPr>
          <p:nvPr/>
        </p:nvSpPr>
        <p:spPr>
          <a:xfrm xmlns:a="http://schemas.openxmlformats.org/drawingml/2006/main">
            <a:off x="762000" y="266700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6" name="proof-02-index">
            <a:extLst xmlns:a="http://schemas.openxmlformats.org/drawingml/2006/main">
              <a:ext uri="{FF2B5EF4-FFF2-40B4-BE49-F238E27FC236}">
                <a16:creationId xmlns:a16="http://schemas.microsoft.com/office/drawing/2014/main" id="{E28C4242-D447-45AB-9F53-5DD25B992C5B}"/>
              </a:ext>
            </a:extLst>
          </p:cNvPr>
          <p:cNvSpPr>
            <a:spLocks xmlns:a="http://schemas.openxmlformats.org/drawingml/2006/main" noGrp="1"/>
          </p:cNvSpPr>
          <p:nvPr/>
        </p:nvSpPr>
        <p:spPr>
          <a:xfrm xmlns:a="http://schemas.openxmlformats.org/drawingml/2006/main">
            <a:off x="762000" y="30099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02</a:t>
            </a:r>
          </a:p>
        </p:txBody>
      </p:sp>
      <p:sp>
        <p:nvSpPr>
          <p:cNvPr id="7" name="proof-02-label">
            <a:extLst xmlns:a="http://schemas.openxmlformats.org/drawingml/2006/main">
              <a:ext uri="{FF2B5EF4-FFF2-40B4-BE49-F238E27FC236}">
                <a16:creationId xmlns:a16="http://schemas.microsoft.com/office/drawing/2014/main" id="{4128BFB9-1E70-4308-88D7-D9E21BCCB4BC}"/>
              </a:ext>
            </a:extLst>
          </p:cNvPr>
          <p:cNvSpPr>
            <a:spLocks xmlns:a="http://schemas.openxmlformats.org/drawingml/2006/main" noGrp="1"/>
          </p:cNvSpPr>
          <p:nvPr/>
        </p:nvSpPr>
        <p:spPr>
          <a:xfrm xmlns:a="http://schemas.openxmlformats.org/drawingml/2006/main">
            <a:off x="1619250" y="29337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手数料精算</a:t>
            </a:r>
          </a:p>
        </p:txBody>
      </p:sp>
      <p:sp>
        <p:nvSpPr>
          <p:cNvPr id="8" name="">
            <a:extLst xmlns:a="http://schemas.openxmlformats.org/drawingml/2006/main">
              <a:ext uri="{FF2B5EF4-FFF2-40B4-BE49-F238E27FC236}">
                <a16:creationId xmlns:a16="http://schemas.microsoft.com/office/drawing/2014/main" id="{649F770B-35ED-4B5B-AE14-B8FD16F414ED}"/>
              </a:ext>
            </a:extLst>
          </p:cNvPr>
          <p:cNvSpPr>
            <a:spLocks xmlns:a="http://schemas.openxmlformats.org/drawingml/2006/main" noGrp="1"/>
          </p:cNvSpPr>
          <p:nvPr/>
        </p:nvSpPr>
        <p:spPr>
          <a:xfrm xmlns:a="http://schemas.openxmlformats.org/drawingml/2006/main">
            <a:off x="762000" y="356235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9" name="proof-03-index">
            <a:extLst xmlns:a="http://schemas.openxmlformats.org/drawingml/2006/main">
              <a:ext uri="{FF2B5EF4-FFF2-40B4-BE49-F238E27FC236}">
                <a16:creationId xmlns:a16="http://schemas.microsoft.com/office/drawing/2014/main" id="{2016F20C-8DC2-4790-9289-F724FD0FB39E}"/>
              </a:ext>
            </a:extLst>
          </p:cNvPr>
          <p:cNvSpPr>
            <a:spLocks xmlns:a="http://schemas.openxmlformats.org/drawingml/2006/main" noGrp="1"/>
          </p:cNvSpPr>
          <p:nvPr/>
        </p:nvSpPr>
        <p:spPr>
          <a:xfrm xmlns:a="http://schemas.openxmlformats.org/drawingml/2006/main">
            <a:off x="762000" y="39052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600" b="1">
                <a:solidFill>
                  <a:srgbClr val="FF007A"/>
                </a:solidFill>
                <a:latin typeface="SF Mono"/>
                <a:ea typeface="SF Mono"/>
                <a:cs typeface="SF Mono"/>
              </a:rPr>
              <a:t>03</a:t>
            </a:r>
          </a:p>
        </p:txBody>
      </p:sp>
      <p:sp>
        <p:nvSpPr>
          <p:cNvPr id="10" name="proof-03-label">
            <a:extLst xmlns:a="http://schemas.openxmlformats.org/drawingml/2006/main">
              <a:ext uri="{FF2B5EF4-FFF2-40B4-BE49-F238E27FC236}">
                <a16:creationId xmlns:a16="http://schemas.microsoft.com/office/drawing/2014/main" id="{C2607193-83FA-4709-ABCD-1EF7C0329B18}"/>
              </a:ext>
            </a:extLst>
          </p:cNvPr>
          <p:cNvSpPr>
            <a:spLocks xmlns:a="http://schemas.openxmlformats.org/drawingml/2006/main" noGrp="1"/>
          </p:cNvSpPr>
          <p:nvPr/>
        </p:nvSpPr>
        <p:spPr>
          <a:xfrm xmlns:a="http://schemas.openxmlformats.org/drawingml/2006/main">
            <a:off x="1619250" y="38290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2400" b="1">
                <a:solidFill>
                  <a:srgbClr val="19151A"/>
                </a:solidFill>
                <a:latin typeface="Hiragino Sans"/>
                <a:ea typeface="Hiragino Sans"/>
                <a:cs typeface="Hiragino Sans"/>
              </a:rPr>
              <a:t>あなたのウォレット</a:t>
            </a:r>
          </a:p>
        </p:txBody>
      </p:sp>
      <p:sp>
        <p:nvSpPr>
          <p:cNvPr id="11" name="">
            <a:extLst xmlns:a="http://schemas.openxmlformats.org/drawingml/2006/main">
              <a:ext uri="{FF2B5EF4-FFF2-40B4-BE49-F238E27FC236}">
                <a16:creationId xmlns:a16="http://schemas.microsoft.com/office/drawing/2014/main" id="{5CF2106F-764A-423E-8526-25A6EC8E36AD}"/>
              </a:ext>
            </a:extLst>
          </p:cNvPr>
          <p:cNvSpPr>
            <a:spLocks xmlns:a="http://schemas.openxmlformats.org/drawingml/2006/main" noGrp="1"/>
          </p:cNvSpPr>
          <p:nvPr/>
        </p:nvSpPr>
        <p:spPr>
          <a:xfrm xmlns:a="http://schemas.openxmlformats.org/drawingml/2006/main">
            <a:off x="762000" y="4457700"/>
            <a:ext cx="9239250" cy="0"/>
          </a:xfrm>
          <a:prstGeom xmlns:a="http://schemas.openxmlformats.org/drawingml/2006/main" prst="line">
            <a:avLst/>
          </a:prstGeom>
          <a:noFill xmlns:a="http://schemas.openxmlformats.org/drawingml/2006/main"/>
          <a:ln xmlns:a="http://schemas.openxmlformats.org/drawingml/2006/main" w="19050">
            <a:solidFill>
              <a:srgbClr val="EEDBE6"/>
            </a:solidFill>
            <a:prstDash val="solid"/>
          </a:ln>
        </p:spPr>
      </p:sp>
      <p:sp>
        <p:nvSpPr>
          <p:cNvPr id="12" name="risk-statement">
            <a:extLst xmlns:a="http://schemas.openxmlformats.org/drawingml/2006/main">
              <a:ext uri="{FF2B5EF4-FFF2-40B4-BE49-F238E27FC236}">
                <a16:creationId xmlns:a16="http://schemas.microsoft.com/office/drawing/2014/main" id="{D074BBC7-422D-465E-B0F7-6608861AF00D}"/>
              </a:ext>
            </a:extLst>
          </p:cNvPr>
          <p:cNvSpPr>
            <a:spLocks xmlns:a="http://schemas.openxmlformats.org/drawingml/2006/main" noGrp="1"/>
          </p:cNvSpPr>
          <p:nvPr/>
        </p:nvSpPr>
        <p:spPr>
          <a:xfrm xmlns:a="http://schemas.openxmlformats.org/drawingml/2006/main">
            <a:off x="762000" y="5048250"/>
            <a:ext cx="10648950" cy="781050"/>
          </a:xfrm>
          <a:prstGeom xmlns:a="http://schemas.openxmlformats.org/drawingml/2006/main" prst="roundRect">
            <a:avLst>
              <a:gd name="adj" fmla="val 21951"/>
            </a:avLst>
          </a:prstGeom>
          <a:solidFill xmlns:a="http://schemas.openxmlformats.org/drawingml/2006/main">
            <a:srgbClr val="FFFFFF"/>
          </a:solidFill>
          <a:ln xmlns:a="http://schemas.openxmlformats.org/drawingml/2006/main" w="19050">
            <a:solidFill>
              <a:srgbClr val="FF007A"/>
            </a:solidFill>
            <a:prstDash val="solid"/>
          </a:ln>
        </p:spPr>
      </p:sp>
      <p:sp>
        <p:nvSpPr>
          <p:cNvPr id="13" name="risk-copy">
            <a:extLst xmlns:a="http://schemas.openxmlformats.org/drawingml/2006/main">
              <a:ext uri="{FF2B5EF4-FFF2-40B4-BE49-F238E27FC236}">
                <a16:creationId xmlns:a16="http://schemas.microsoft.com/office/drawing/2014/main" id="{FD88349D-40F0-4C9B-B115-A6C168E9BE73}"/>
              </a:ext>
            </a:extLst>
          </p:cNvPr>
          <p:cNvSpPr>
            <a:spLocks xmlns:a="http://schemas.openxmlformats.org/drawingml/2006/main" noGrp="1"/>
          </p:cNvSpPr>
          <p:nvPr/>
        </p:nvSpPr>
        <p:spPr>
          <a:xfrm xmlns:a="http://schemas.openxmlformats.org/drawingml/2006/main">
            <a:off x="1028700" y="5238750"/>
            <a:ext cx="10115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r>
              <a:rPr sz="1800" b="1">
                <a:solidFill>
                  <a:srgbClr val="19151A"/>
                </a:solidFill>
                <a:latin typeface="Hiragino Sans"/>
                <a:ea typeface="Hiragino Sans"/>
                <a:cs typeface="Hiragino Sans"/>
              </a:rPr>
              <a:t>手数料は保証されず、資産価値は変動します</a:t>
            </a:r>
          </a:p>
        </p:txBody>
      </p:sp>
      <p:sp>
        <p:nvSpPr>
          <p:cNvPr id="14" name="independent-footer">
            <a:extLst xmlns:a="http://schemas.openxmlformats.org/drawingml/2006/main">
              <a:ext uri="{FF2B5EF4-FFF2-40B4-BE49-F238E27FC236}">
                <a16:creationId xmlns:a16="http://schemas.microsoft.com/office/drawing/2014/main" id="{415F2D89-BC40-445F-AC68-AE5FE1CB54D8}"/>
              </a:ext>
            </a:extLst>
          </p:cNvPr>
          <p:cNvSpPr>
            <a:spLocks xmlns:a="http://schemas.openxmlformats.org/drawingml/2006/main" noGrp="1"/>
          </p:cNvSpPr>
          <p:nvPr/>
        </p:nvSpPr>
        <p:spPr>
          <a:xfrm xmlns:a="http://schemas.openxmlformats.org/drawingml/2006/main">
            <a:off x="762000" y="6153150"/>
            <a:ext cx="1064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200" b="0">
                <a:solidFill>
                  <a:srgbClr val="726A74"/>
                </a:solidFill>
                <a:latin typeface="Hiragino Sans"/>
                <a:ea typeface="Hiragino Sans"/>
                <a:cs typeface="Hiragino Sans"/>
              </a:rPr>
              <a:t>Uniswap v4上に構築 · 独立した第三者サービス · Uniswap Labsとは提携していません</a:t>
            </a:r>
          </a:p>
        </p:txBody>
      </p:sp>
    </p:spTree>
    <p:extLst>
      <p:ext uri="{BB962C8B-B14F-4D97-AF65-F5344CB8AC3E}">
        <p14:creationId xmlns:p14="http://schemas.microsoft.com/office/powerpoint/2010/main" val="15354626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age-8">
            <a:extLst xmlns:a="http://schemas.openxmlformats.org/drawingml/2006/main">
              <a:ext uri="{FF2B5EF4-FFF2-40B4-BE49-F238E27FC236}">
                <a16:creationId xmlns:a16="http://schemas.microsoft.com/office/drawing/2014/main" id="{2A06031E-9F9D-473E-BA00-8092879FEB34}"/>
              </a:ext>
            </a:extLst>
          </p:cNvPr>
          <p:cNvSpPr>
            <a:spLocks xmlns:a="http://schemas.openxmlformats.org/drawingml/2006/main" noGrp="1"/>
          </p:cNvSpPr>
          <p:nvPr/>
        </p:nvSpPr>
        <p:spPr>
          <a:xfrm xmlns:a="http://schemas.openxmlformats.org/drawingml/2006/main">
            <a:off x="10668000" y="4191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r>
              <a:rPr sz="1200" b="0">
                <a:solidFill>
                  <a:srgbClr val="726A74"/>
                </a:solidFill>
                <a:latin typeface="SF Mono"/>
                <a:ea typeface="SF Mono"/>
                <a:cs typeface="SF Mono"/>
              </a:rPr>
              <a:t>08 / 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a3b2a8ae6de4cf1"/>
          <a:stretch xmlns:a="http://schemas.openxmlformats.org/drawingml/2006/main"/>
        </p:blipFill>
        <p:spPr>
          <a:xfrm xmlns:a="http://schemas.openxmlformats.org/drawingml/2006/main">
            <a:off x="5131594" y="495300"/>
            <a:ext cx="1928813" cy="1714500"/>
          </a:xfrm>
          <a:prstGeom xmlns:a="http://schemas.openxmlformats.org/drawingml/2006/main" prst="rect">
            <a:avLst/>
          </a:prstGeom>
        </p:spPr>
      </p:pic>
      <p:sp>
        <p:nvSpPr>
          <p:cNvPr id="3" name="cta-wordmark">
            <a:extLst xmlns:a="http://schemas.openxmlformats.org/drawingml/2006/main">
              <a:ext uri="{FF2B5EF4-FFF2-40B4-BE49-F238E27FC236}">
                <a16:creationId xmlns:a16="http://schemas.microsoft.com/office/drawing/2014/main" id="{7B6A493E-4269-4976-AD94-4C54BF8E73AB}"/>
              </a:ext>
            </a:extLst>
          </p:cNvPr>
          <p:cNvSpPr>
            <a:spLocks xmlns:a="http://schemas.openxmlformats.org/drawingml/2006/main" noGrp="1"/>
          </p:cNvSpPr>
          <p:nvPr/>
        </p:nvSpPr>
        <p:spPr>
          <a:xfrm xmlns:a="http://schemas.openxmlformats.org/drawingml/2006/main">
            <a:off x="4400550" y="2190750"/>
            <a:ext cx="339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3000" b="1">
                <a:solidFill>
                  <a:srgbClr val="19151A"/>
                </a:solidFill>
                <a:latin typeface="Hiragino Sans"/>
                <a:ea typeface="Hiragino Sans"/>
                <a:cs typeface="Hiragino Sans"/>
              </a:rPr>
              <a:t>UniEddy</a:t>
            </a:r>
          </a:p>
        </p:txBody>
      </p:sp>
      <p:sp>
        <p:nvSpPr>
          <p:cNvPr id="4" name="cta-title">
            <a:extLst xmlns:a="http://schemas.openxmlformats.org/drawingml/2006/main">
              <a:ext uri="{FF2B5EF4-FFF2-40B4-BE49-F238E27FC236}">
                <a16:creationId xmlns:a16="http://schemas.microsoft.com/office/drawing/2014/main" id="{2FAA1903-E8CE-405D-96EA-6629055DB1A7}"/>
              </a:ext>
            </a:extLst>
          </p:cNvPr>
          <p:cNvSpPr>
            <a:spLocks xmlns:a="http://schemas.openxmlformats.org/drawingml/2006/main" noGrp="1"/>
          </p:cNvSpPr>
          <p:nvPr/>
        </p:nvSpPr>
        <p:spPr>
          <a:xfrm xmlns:a="http://schemas.openxmlformats.org/drawingml/2006/main">
            <a:off x="1619250" y="2914650"/>
            <a:ext cx="895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5000" b="1">
                <a:solidFill>
                  <a:srgbClr val="19151A"/>
                </a:solidFill>
                <a:latin typeface="Hiragino Sans"/>
                <a:ea typeface="Hiragino Sans"/>
                <a:cs typeface="Hiragino Sans"/>
              </a:rPr>
              <a:t>DAppを開く</a:t>
            </a:r>
          </a:p>
        </p:txBody>
      </p:sp>
      <p:sp>
        <p:nvSpPr>
          <p:cNvPr id="5" name="cta-subtitle">
            <a:extLst xmlns:a="http://schemas.openxmlformats.org/drawingml/2006/main">
              <a:ext uri="{FF2B5EF4-FFF2-40B4-BE49-F238E27FC236}">
                <a16:creationId xmlns:a16="http://schemas.microsoft.com/office/drawing/2014/main" id="{3F37CD78-26AD-46D7-9894-F16A6E297F2F}"/>
              </a:ext>
            </a:extLst>
          </p:cNvPr>
          <p:cNvSpPr>
            <a:spLocks xmlns:a="http://schemas.openxmlformats.org/drawingml/2006/main" noGrp="1"/>
          </p:cNvSpPr>
          <p:nvPr/>
        </p:nvSpPr>
        <p:spPr>
          <a:xfrm xmlns:a="http://schemas.openxmlformats.org/drawingml/2006/main">
            <a:off x="2381250" y="379095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800" b="0">
                <a:solidFill>
                  <a:srgbClr val="726A74"/>
                </a:solidFill>
                <a:latin typeface="Hiragino Sans"/>
                <a:ea typeface="Hiragino Sans"/>
                <a:cs typeface="Hiragino Sans"/>
              </a:rPr>
              <a:t>参加方法を確認する</a:t>
            </a:r>
          </a:p>
        </p:txBody>
      </p:sp>
      <p:sp>
        <p:nvSpPr>
          <p:cNvPr id="6" name="cta-button">
            <a:extLst xmlns:a="http://schemas.openxmlformats.org/drawingml/2006/main">
              <a:ext uri="{FF2B5EF4-FFF2-40B4-BE49-F238E27FC236}">
                <a16:creationId xmlns:a16="http://schemas.microsoft.com/office/drawing/2014/main" id="{8B80DE31-194B-4F2D-B74A-3D33391A8D21}"/>
              </a:ext>
            </a:extLst>
          </p:cNvPr>
          <p:cNvSpPr>
            <a:spLocks xmlns:a="http://schemas.openxmlformats.org/drawingml/2006/main" noGrp="1"/>
          </p:cNvSpPr>
          <p:nvPr/>
        </p:nvSpPr>
        <p:spPr>
          <a:xfrm xmlns:a="http://schemas.openxmlformats.org/drawingml/2006/main">
            <a:off x="3829050" y="4552950"/>
            <a:ext cx="4533900" cy="819150"/>
          </a:xfrm>
          <a:prstGeom xmlns:a="http://schemas.openxmlformats.org/drawingml/2006/main" prst="roundRect">
            <a:avLst>
              <a:gd name="adj" fmla="val 50000"/>
            </a:avLst>
          </a:prstGeom>
          <a:solidFill xmlns:a="http://schemas.openxmlformats.org/drawingml/2006/main">
            <a:srgbClr val="FF007A"/>
          </a:solidFill>
          <a:ln xmlns:a="http://schemas.openxmlformats.org/drawingml/2006/main" w="0">
            <a:noFill/>
            <a:prstDash val="solid"/>
          </a:ln>
        </p:spPr>
      </p:sp>
      <p:sp>
        <p:nvSpPr>
          <p:cNvPr id="7" name="cta-button-label">
            <a:extLst xmlns:a="http://schemas.openxmlformats.org/drawingml/2006/main">
              <a:ext uri="{FF2B5EF4-FFF2-40B4-BE49-F238E27FC236}">
                <a16:creationId xmlns:a16="http://schemas.microsoft.com/office/drawing/2014/main" id="{820F77C3-43CC-46CE-974E-27E4EF8C3E2F}"/>
              </a:ext>
            </a:extLst>
          </p:cNvPr>
          <p:cNvSpPr>
            <a:spLocks xmlns:a="http://schemas.openxmlformats.org/drawingml/2006/main" noGrp="1"/>
          </p:cNvSpPr>
          <p:nvPr/>
        </p:nvSpPr>
        <p:spPr>
          <a:xfrm xmlns:a="http://schemas.openxmlformats.org/drawingml/2006/main">
            <a:off x="4076700" y="4762500"/>
            <a:ext cx="403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2400" b="1">
                <a:solidFill>
                  <a:srgbClr val="FFFFFF"/>
                </a:solidFill>
                <a:latin typeface="Hiragino Sans"/>
                <a:ea typeface="Hiragino Sans"/>
                <a:cs typeface="Hiragino Sans"/>
              </a:rPr>
              <a:t>DAppを開く</a:t>
            </a:r>
          </a:p>
        </p:txBody>
      </p:sp>
      <p:sp>
        <p:nvSpPr>
          <p:cNvPr id="8" name="cta-help">
            <a:extLst xmlns:a="http://schemas.openxmlformats.org/drawingml/2006/main">
              <a:ext uri="{FF2B5EF4-FFF2-40B4-BE49-F238E27FC236}">
                <a16:creationId xmlns:a16="http://schemas.microsoft.com/office/drawing/2014/main" id="{B091DD75-2831-45DF-A9D5-1016D3FFA983}"/>
              </a:ext>
            </a:extLst>
          </p:cNvPr>
          <p:cNvSpPr>
            <a:spLocks xmlns:a="http://schemas.openxmlformats.org/drawingml/2006/main" noGrp="1"/>
          </p:cNvSpPr>
          <p:nvPr/>
        </p:nvSpPr>
        <p:spPr>
          <a:xfrm xmlns:a="http://schemas.openxmlformats.org/drawingml/2006/main">
            <a:off x="2286000" y="567690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600" b="1">
                <a:solidFill>
                  <a:srgbClr val="FF007A"/>
                </a:solidFill>
                <a:latin typeface="Hiragino Sans"/>
                <a:ea typeface="Hiragino Sans"/>
                <a:cs typeface="Hiragino Sans"/>
              </a:rPr>
              <a:t>ヘルプが必要ですか？公式案内を見る</a:t>
            </a:r>
          </a:p>
        </p:txBody>
      </p:sp>
      <p:sp>
        <p:nvSpPr>
          <p:cNvPr id="9" name="cta-independent-footer">
            <a:extLst xmlns:a="http://schemas.openxmlformats.org/drawingml/2006/main">
              <a:ext uri="{FF2B5EF4-FFF2-40B4-BE49-F238E27FC236}">
                <a16:creationId xmlns:a16="http://schemas.microsoft.com/office/drawing/2014/main" id="{9A3C9B99-D51C-433F-8E20-625DB2C19A4B}"/>
              </a:ext>
            </a:extLst>
          </p:cNvPr>
          <p:cNvSpPr>
            <a:spLocks xmlns:a="http://schemas.openxmlformats.org/drawingml/2006/main" noGrp="1"/>
          </p:cNvSpPr>
          <p:nvPr/>
        </p:nvSpPr>
        <p:spPr>
          <a:xfrm xmlns:a="http://schemas.openxmlformats.org/drawingml/2006/main">
            <a:off x="1524000" y="6343650"/>
            <a:ext cx="914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r>
              <a:rPr sz="1200" b="0">
                <a:solidFill>
                  <a:srgbClr val="726A74"/>
                </a:solidFill>
                <a:latin typeface="Hiragino Sans"/>
                <a:ea typeface="Hiragino Sans"/>
                <a:cs typeface="Hiragino Sans"/>
              </a:rPr>
              <a:t>Uniswap v4上に構築 · 独立した第三者サービス · Uniswap Labsとは提携していません</a:t>
            </a:r>
          </a:p>
        </p:txBody>
      </p:sp>
    </p:spTree>
    <p:extLst>
      <p:ext uri="{BB962C8B-B14F-4D97-AF65-F5344CB8AC3E}">
        <p14:creationId xmlns:p14="http://schemas.microsoft.com/office/powerpoint/2010/main" val="166551963"/>
      </p:ext>
    </p:extLst>
  </p:cSld>
</p:sld>
</file>

<file path=ppt/theme/theme1.xml><?xml version="1.0" encoding="utf-8"?>
<a:theme xmlns:a="http://schemas.openxmlformats.org/drawingml/2006/main" name="ChatGPT">
  <a:themeElements>
    <a:clrScheme name="UniEddy Intro">
      <a:dk1>
        <a:srgbClr val="000000"/>
      </a:dk1>
      <a:lt1>
        <a:srgbClr val="FFFFFF"/>
      </a:lt1>
      <a:dk2>
        <a:srgbClr val="19151A"/>
      </a:dk2>
      <a:lt2>
        <a:srgbClr val="F8E7F0"/>
      </a:lt2>
      <a:accent1>
        <a:srgbClr val="FF007A"/>
      </a:accent1>
      <a:accent2>
        <a:srgbClr val="F50DB4"/>
      </a:accent2>
      <a:accent3>
        <a:srgbClr val="FC72FF"/>
      </a:accent3>
      <a:accent4>
        <a:srgbClr val="F8E7F0"/>
      </a:accent4>
      <a:accent5>
        <a:srgbClr val="8F59FF"/>
      </a:accent5>
      <a:accent6>
        <a:srgbClr val="4263EB"/>
      </a:accent6>
      <a:hlink>
        <a:srgbClr val="FF007A"/>
      </a:hlink>
      <a:folHlink>
        <a:srgbClr val="F50DB4"/>
      </a:folHlink>
    </a:clrScheme>
    <a:fontScheme name="Office">
      <a:majorFont>
        <a:latin typeface="Calibri Light"/>
        <a:ea typeface="Calibri Light"/>
        <a:cs typeface="Calibri Light"/>
      </a:majorFont>
      <a:minorFont>
        <a:latin typeface="Calibri"/>
        <a:ea typeface="Calibri"/>
        <a:cs typeface="Calibri"/>
      </a:minorFont>
    </a:fontScheme>
    <a:fmtScheme name="UniEddy Int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2026-08-02T06:44:46.4920000Z</dcterms:created>
  <dcterms:modified xsi:type="dcterms:W3CDTF">2026-08-02T06:44:46.4920000Z</dcterms:modified>
</coreProperties>
</file>