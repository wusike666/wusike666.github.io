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ae0c3d23fb4f6e" /><Relationship Type="http://schemas.openxmlformats.org/officeDocument/2006/relationships/extended-properties" Target="/docProps/app.xml" Id="Rbb0c39e6c36441b0" /><Relationship Type="http://schemas.openxmlformats.org/officeDocument/2006/relationships/officeDocument" Target="/ppt/presentation.xml" Id="R4f357330f27b49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3de74d0a294936"/>
  </p:sldMasterIdLst>
  <p:notesMasterIdLst>
    <p:notesMasterId xmlns:r="http://schemas.openxmlformats.org/officeDocument/2006/relationships" r:id="R1b8fc1a556d147f3"/>
  </p:notesMasterIdLst>
  <p:sldIdLst>
    <p:sldId xmlns:r="http://schemas.openxmlformats.org/officeDocument/2006/relationships" id="256" r:id="R34e26483e4eb482d"/>
    <p:sldId xmlns:r="http://schemas.openxmlformats.org/officeDocument/2006/relationships" id="257" r:id="R1d5eaaa21a504bd8"/>
    <p:sldId xmlns:r="http://schemas.openxmlformats.org/officeDocument/2006/relationships" id="258" r:id="R463e8301f0a840fd"/>
    <p:sldId xmlns:r="http://schemas.openxmlformats.org/officeDocument/2006/relationships" id="259" r:id="R43d6f8796bc34f4e"/>
    <p:sldId xmlns:r="http://schemas.openxmlformats.org/officeDocument/2006/relationships" id="260" r:id="R22dbd4fa1ebf49fd"/>
    <p:sldId xmlns:r="http://schemas.openxmlformats.org/officeDocument/2006/relationships" id="261" r:id="R2be5be2af83449dc"/>
    <p:sldId xmlns:r="http://schemas.openxmlformats.org/officeDocument/2006/relationships" id="262" r:id="R53d2bf2ade5e430f"/>
    <p:sldId xmlns:r="http://schemas.openxmlformats.org/officeDocument/2006/relationships" id="263" r:id="R1255c7c329c749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95baf7d4cd45ae" /><Relationship Type="http://schemas.openxmlformats.org/officeDocument/2006/relationships/slideMaster" Target="/ppt/slideMasters/slideMaster1.xml" Id="R473de74d0a294936" /><Relationship Type="http://schemas.openxmlformats.org/officeDocument/2006/relationships/notesMaster" Target="/ppt/notesMasters/notesMaster1.xml" Id="R1b8fc1a556d147f3" /><Relationship Type="http://schemas.openxmlformats.org/officeDocument/2006/relationships/presProps" Target="/ppt/presProps.xml" Id="R746d37f550474f52" /><Relationship Type="http://schemas.openxmlformats.org/officeDocument/2006/relationships/tableStyles" Target="/ppt/tableStyles.xml" Id="R288a009539524f89" /><Relationship Type="http://schemas.openxmlformats.org/officeDocument/2006/relationships/slide" Target="/ppt/slides/slide1.xml" Id="R34e26483e4eb482d" /><Relationship Type="http://schemas.openxmlformats.org/officeDocument/2006/relationships/slide" Target="/ppt/slides/slide2.xml" Id="R1d5eaaa21a504bd8" /><Relationship Type="http://schemas.openxmlformats.org/officeDocument/2006/relationships/slide" Target="/ppt/slides/slide3.xml" Id="R463e8301f0a840fd" /><Relationship Type="http://schemas.openxmlformats.org/officeDocument/2006/relationships/slide" Target="/ppt/slides/slide4.xml" Id="R43d6f8796bc34f4e" /><Relationship Type="http://schemas.openxmlformats.org/officeDocument/2006/relationships/slide" Target="/ppt/slides/slide5.xml" Id="R22dbd4fa1ebf49fd" /><Relationship Type="http://schemas.openxmlformats.org/officeDocument/2006/relationships/slide" Target="/ppt/slides/slide6.xml" Id="R2be5be2af83449dc" /><Relationship Type="http://schemas.openxmlformats.org/officeDocument/2006/relationships/slide" Target="/ppt/slides/slide7.xml" Id="R53d2bf2ade5e430f" /><Relationship Type="http://schemas.openxmlformats.org/officeDocument/2006/relationships/slide" Target="/ppt/slides/slide8.xml" Id="R1255c7c329c7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d4f08ebe5b4b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4160b599ad496b" /><Relationship Type="http://schemas.openxmlformats.org/officeDocument/2006/relationships/notesMaster" Target="/ppt/notesMasters/notesMaster1.xml" Id="R21ebf2029174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56ea2d77c5431c" /><Relationship Type="http://schemas.openxmlformats.org/officeDocument/2006/relationships/notesMaster" Target="/ppt/notesMasters/notesMaster1.xml" Id="Rf1553eb717f04d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c1c52db6a042c1" /><Relationship Type="http://schemas.openxmlformats.org/officeDocument/2006/relationships/notesMaster" Target="/ppt/notesMasters/notesMaster1.xml" Id="R9301b5fb0a884d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046a5fbca24079" /><Relationship Type="http://schemas.openxmlformats.org/officeDocument/2006/relationships/notesMaster" Target="/ppt/notesMasters/notesMaster1.xml" Id="R9711cf8269534f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4e350cf8ee4dcc" /><Relationship Type="http://schemas.openxmlformats.org/officeDocument/2006/relationships/notesMaster" Target="/ppt/notesMasters/notesMaster1.xml" Id="R4b61821f89d74f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388a1769584d81" /><Relationship Type="http://schemas.openxmlformats.org/officeDocument/2006/relationships/notesMaster" Target="/ppt/notesMasters/notesMaster1.xml" Id="R174ac81bedd6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0812d4f3a41a4" /><Relationship Type="http://schemas.openxmlformats.org/officeDocument/2006/relationships/notesMaster" Target="/ppt/notesMasters/notesMaster1.xml" Id="Rfc1e7482a4df4e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01c91431b64b8e" /><Relationship Type="http://schemas.openxmlformats.org/officeDocument/2006/relationships/notesMaster" Target="/ppt/notesMasters/notesMaster1.xml" Id="R8f9b29564353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Uniswap 让用户通过自己的钱包直接交换数字资产。官方披露的累计交易量已经超过四万亿美元，并服务数百万交易用户。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zh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 is a Decentralized Exchange (DEX)?: https://blog.uniswap.org/what-is-a-decentralized-exchange</a:t>
            </a:r>
          </a:p>
          <a:p xmlns:a="http://schemas.openxmlformats.org/drawingml/2006/main">
            <a:r>
              <a:t>- UNIfication: https://blog.uniswap.org/unification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交易通过公开的链上规则执行。你不需要先把资产交给中心化交易机构保管。</a:t>
            </a:r>
          </a:p>
          <a:p xmlns:a="http://schemas.openxmlformats.org/drawingml/2006/main">
            <a:r>
              <a:t>Duration: 6 seconds</a:t>
            </a:r>
          </a:p>
          <a:p xmlns:a="http://schemas.openxmlformats.org/drawingml/2006/main">
            <a:r>
              <a:t>Language: zh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 is a Decentralized Exchange (DEX)?: https://blog.uniswap.org/what-is-a-decentralized-exchange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当有人在 Uniswap 完成资产交换，就会按流动性池的公开规则支付一笔手续费。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zh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有人提供交易所需的数字资产，让交换能够发生，也就有机会按规则分享这些手续费。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zh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自己参与，需要理解资产配比和价格区间，还要持续监控，并在市场变化时进行调整。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zh</a:t>
            </a:r>
          </a:p>
          <a:p xmlns:a="http://schemas.openxmlformats.org/drawingml/2006/main">
            <a:r>
              <a:t>As of: 2026-07-31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Uniswap v4 is Here: https://blog.uniswap.org/uniswap-v4-is-here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UniEddy 把这些复杂工作集中到一个更简单的流程。系统持续监控，人工智能提供分析，固定规则决定是否行动。</a:t>
            </a:r>
          </a:p>
          <a:p xmlns:a="http://schemas.openxmlformats.org/drawingml/2006/main">
            <a:r>
              <a:t>Duration: 10 seconds</a:t>
            </a:r>
          </a:p>
          <a:p xmlns:a="http://schemas.openxmlformats.org/drawingml/2006/main">
            <a:r>
              <a:t>Language: zh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手续费来自真实交易，结算和领取记录可以在链上核对。费用收入并不保证，参与资产的价值也可能上涨或下跌。</a:t>
            </a:r>
          </a:p>
          <a:p xmlns:a="http://schemas.openxmlformats.org/drawingml/2006/main">
            <a:r>
              <a:t>Duration: 8 seconds</a:t>
            </a:r>
          </a:p>
          <a:p xmlns:a="http://schemas.openxmlformats.org/drawingml/2006/main">
            <a:r>
              <a:t>Language: zh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Voiceover: 进入 DApp，开始了解你的参与方式。需要帮助时，也可以联系官方人员获得引导。</a:t>
            </a:r>
          </a:p>
          <a:p xmlns:a="http://schemas.openxmlformats.org/drawingml/2006/main">
            <a:r>
              <a:t>Duration: 4 seconds</a:t>
            </a:r>
          </a:p>
          <a:p xmlns:a="http://schemas.openxmlformats.org/drawingml/2006/main">
            <a:r>
              <a:t>Language: zh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UniEddy product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3493b7db44b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c4954217c34fa3" /><Relationship Type="http://schemas.openxmlformats.org/officeDocument/2006/relationships/slideLayout" Target="/ppt/slideLayouts/slideLayout1.xml" Id="R2f2413070d0c45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413070d0c45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af1922cdb422f" /><Relationship Type="http://schemas.openxmlformats.org/officeDocument/2006/relationships/notesSlide" Target="/ppt/notesSlides/notesSlide1.xml" Id="R4be952567b1443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925e87319465d" /><Relationship Type="http://schemas.openxmlformats.org/officeDocument/2006/relationships/notesSlide" Target="/ppt/notesSlides/notesSlide2.xml" Id="Rc928e27f29cc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f2c30a58f487c" /><Relationship Type="http://schemas.openxmlformats.org/officeDocument/2006/relationships/notesSlide" Target="/ppt/notesSlides/notesSlide3.xml" Id="Rd7cbd203c74d4b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054bbfb1b4a12" /><Relationship Type="http://schemas.openxmlformats.org/officeDocument/2006/relationships/notesSlide" Target="/ppt/notesSlides/notesSlide4.xml" Id="R04900809a67a40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97becf0be4beb" /><Relationship Type="http://schemas.openxmlformats.org/officeDocument/2006/relationships/notesSlide" Target="/ppt/notesSlides/notesSlide5.xml" Id="Rc2ac23ea00e145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a44dbb3094fa3" /><Relationship Type="http://schemas.openxmlformats.org/officeDocument/2006/relationships/image" Target="/ppt/media/image.png" Id="R11434ab97aec4e10" /><Relationship Type="http://schemas.openxmlformats.org/officeDocument/2006/relationships/image" Target="/ppt/media/image2.png" Id="R75aff660462f4ce1" /><Relationship Type="http://schemas.openxmlformats.org/officeDocument/2006/relationships/image" Target="/ppt/media/image3.png" Id="R358103ecc762456a" /><Relationship Type="http://schemas.openxmlformats.org/officeDocument/2006/relationships/notesSlide" Target="/ppt/notesSlides/notesSlide6.xml" Id="Rb9f16fa91a6a40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22a5f738a46fd" /><Relationship Type="http://schemas.openxmlformats.org/officeDocument/2006/relationships/notesSlide" Target="/ppt/notesSlides/notesSlide7.xml" Id="R4a26b15fc28b4b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9e17b23b948cc" /><Relationship Type="http://schemas.openxmlformats.org/officeDocument/2006/relationships/image" Target="/ppt/media/image4.png" Id="R753e987a57f449a4" /><Relationship Type="http://schemas.openxmlformats.org/officeDocument/2006/relationships/notesSlide" Target="/ppt/notesSlides/notesSlide8.xml" Id="R0d5a15e7eac449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uthority-orb">
            <a:extLst xmlns:a="http://schemas.openxmlformats.org/drawingml/2006/main">
              <a:ext uri="{FF2B5EF4-FFF2-40B4-BE49-F238E27FC236}">
                <a16:creationId xmlns:a16="http://schemas.microsoft.com/office/drawing/2014/main" id="{AD877D3A-C654-447A-B4B4-0C1CBFC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D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uthority-orb-cutout">
            <a:extLst xmlns:a="http://schemas.openxmlformats.org/drawingml/2006/main">
              <a:ext uri="{FF2B5EF4-FFF2-40B4-BE49-F238E27FC236}">
                <a16:creationId xmlns:a16="http://schemas.microsoft.com/office/drawing/2014/main" id="{327A7DAE-0CB5-47C3-BC10-4C2DCDF0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"/>
            <a:ext cx="21907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uthority-dot">
            <a:extLst xmlns:a="http://schemas.openxmlformats.org/drawingml/2006/main">
              <a:ext uri="{FF2B5EF4-FFF2-40B4-BE49-F238E27FC236}">
                <a16:creationId xmlns:a16="http://schemas.microsoft.com/office/drawing/2014/main" id="{896E8618-36E8-4C6F-BF67-46980DDA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482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niswap-wordmark">
            <a:extLst xmlns:a="http://schemas.openxmlformats.org/drawingml/2006/main">
              <a:ext uri="{FF2B5EF4-FFF2-40B4-BE49-F238E27FC236}">
                <a16:creationId xmlns:a16="http://schemas.microsoft.com/office/drawing/2014/main" id="{44F7E30F-070F-497A-8313-99C17D84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Uniswap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CC8C30-20B1-42BF-96E0-EAA80453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5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全球领先的去中心化交易协议</a:t>
            </a:r>
          </a:p>
        </p:txBody>
      </p:sp>
      <p:sp>
        <p:nvSpPr>
          <p:cNvPr id="6" name="authority-number">
            <a:extLst xmlns:a="http://schemas.openxmlformats.org/drawingml/2006/main">
              <a:ext uri="{FF2B5EF4-FFF2-40B4-BE49-F238E27FC236}">
                <a16:creationId xmlns:a16="http://schemas.microsoft.com/office/drawing/2014/main" id="{90B9FBBF-E4D5-40D4-BFC2-023A9D06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7000" b="1">
                <a:solidFill>
                  <a:srgbClr val="FF007A"/>
                </a:solidFill>
                <a:latin typeface="PingFang SC"/>
                <a:ea typeface="PingFang SC"/>
                <a:cs typeface="PingFang SC"/>
              </a:rPr>
              <a:t>超过 4 万亿美元</a:t>
            </a:r>
          </a:p>
        </p:txBody>
      </p:sp>
      <p:sp>
        <p:nvSpPr>
          <p:cNvPr id="7" name="authority-proof">
            <a:extLst xmlns:a="http://schemas.openxmlformats.org/drawingml/2006/main">
              <a:ext uri="{FF2B5EF4-FFF2-40B4-BE49-F238E27FC236}">
                <a16:creationId xmlns:a16="http://schemas.microsoft.com/office/drawing/2014/main" id="{1A449B05-BC50-43DA-A101-29741757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累计交易量 · 数百万用户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E82E5-14A0-410C-A85E-3F55263D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4E5A"/>
            </a:solidFill>
            <a:prstDash val="solid"/>
          </a:ln>
        </p:spPr>
      </p:sp>
      <p:sp>
        <p:nvSpPr>
          <p:cNvPr id="9" name="proof-wallet">
            <a:extLst xmlns:a="http://schemas.openxmlformats.org/drawingml/2006/main">
              <a:ext uri="{FF2B5EF4-FFF2-40B4-BE49-F238E27FC236}">
                <a16:creationId xmlns:a16="http://schemas.microsoft.com/office/drawing/2014/main" id="{4C989097-AB06-4075-9D17-E74F2814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D9CED5"/>
                </a:solidFill>
                <a:latin typeface="PingFang SC"/>
                <a:ea typeface="PingFang SC"/>
                <a:cs typeface="PingFang SC"/>
              </a:rPr>
              <a:t>你的钱包</a:t>
            </a:r>
          </a:p>
        </p:txBody>
      </p:sp>
      <p:sp>
        <p:nvSpPr>
          <p:cNvPr id="10" name="proof-onchain">
            <a:extLst xmlns:a="http://schemas.openxmlformats.org/drawingml/2006/main">
              <a:ext uri="{FF2B5EF4-FFF2-40B4-BE49-F238E27FC236}">
                <a16:creationId xmlns:a16="http://schemas.microsoft.com/office/drawing/2014/main" id="{09CC8092-F81F-4A5F-880A-3A2CCEA1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D9CED5"/>
                </a:solidFill>
                <a:latin typeface="PingFang SC"/>
                <a:ea typeface="PingFang SC"/>
                <a:cs typeface="PingFang SC"/>
              </a:rPr>
              <a:t>链上已验证</a:t>
            </a:r>
          </a:p>
        </p:txBody>
      </p:sp>
      <p:sp>
        <p:nvSpPr>
          <p:cNvPr id="11" name="page-1">
            <a:extLst xmlns:a="http://schemas.openxmlformats.org/drawingml/2006/main">
              <a:ext uri="{FF2B5EF4-FFF2-40B4-BE49-F238E27FC236}">
                <a16:creationId xmlns:a16="http://schemas.microsoft.com/office/drawing/2014/main" id="{1E14E380-4F51-412C-9E83-DB95C5EF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CDBFC8"/>
                </a:solidFill>
                <a:latin typeface="SF Mono"/>
                <a:ea typeface="SF Mono"/>
                <a:cs typeface="SF Mono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153344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age-2">
            <a:extLst xmlns:a="http://schemas.openxmlformats.org/drawingml/2006/main">
              <a:ext uri="{FF2B5EF4-FFF2-40B4-BE49-F238E27FC236}">
                <a16:creationId xmlns:a16="http://schemas.microsoft.com/office/drawing/2014/main" id="{E89CF833-5A74-43DC-94B4-68217B29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02 / 08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A633865-2D2A-446F-910C-2FCE87AE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0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直接从自己的钱包交易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296022F-4221-443B-9929-870FB29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无需先把资产交给中心化交易机构</a:t>
            </a:r>
          </a:p>
        </p:txBody>
      </p:sp>
      <p:sp>
        <p:nvSpPr>
          <p:cNvPr id="4" name="wallet-rules-path">
            <a:extLst xmlns:a="http://schemas.openxmlformats.org/drawingml/2006/main">
              <a:ext uri="{FF2B5EF4-FFF2-40B4-BE49-F238E27FC236}">
                <a16:creationId xmlns:a16="http://schemas.microsoft.com/office/drawing/2014/main" id="{C852C7D3-D0CF-4B09-8887-C0245768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007A"/>
            </a:solidFill>
            <a:prstDash val="solid"/>
          </a:ln>
        </p:spPr>
      </p:sp>
      <p:sp>
        <p:nvSpPr>
          <p:cNvPr id="5" name="wallet-node">
            <a:extLst xmlns:a="http://schemas.openxmlformats.org/drawingml/2006/main">
              <a:ext uri="{FF2B5EF4-FFF2-40B4-BE49-F238E27FC236}">
                <a16:creationId xmlns:a16="http://schemas.microsoft.com/office/drawing/2014/main" id="{58E261C2-F94E-48C6-8325-3124BA5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28575">
            <a:solidFill>
              <a:srgbClr val="FF007A"/>
            </a:solidFill>
            <a:prstDash val="solid"/>
          </a:ln>
        </p:spPr>
      </p:sp>
      <p:sp>
        <p:nvSpPr>
          <p:cNvPr id="6" name="rules-node">
            <a:extLst xmlns:a="http://schemas.openxmlformats.org/drawingml/2006/main">
              <a:ext uri="{FF2B5EF4-FFF2-40B4-BE49-F238E27FC236}">
                <a16:creationId xmlns:a16="http://schemas.microsoft.com/office/drawing/2014/main" id="{A82F9522-923E-43F8-B7C1-7BACA814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2686050" cy="19812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7FB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7" name="wallet-label">
            <a:extLst xmlns:a="http://schemas.openxmlformats.org/drawingml/2006/main">
              <a:ext uri="{FF2B5EF4-FFF2-40B4-BE49-F238E27FC236}">
                <a16:creationId xmlns:a16="http://schemas.microsoft.com/office/drawing/2014/main" id="{36198292-3743-47C5-A66B-5522D64A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76625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你的钱包</a:t>
            </a:r>
          </a:p>
        </p:txBody>
      </p:sp>
      <p:sp>
        <p:nvSpPr>
          <p:cNvPr id="8" name="rules-label">
            <a:extLst xmlns:a="http://schemas.openxmlformats.org/drawingml/2006/main">
              <a:ext uri="{FF2B5EF4-FFF2-40B4-BE49-F238E27FC236}">
                <a16:creationId xmlns:a16="http://schemas.microsoft.com/office/drawing/2014/main" id="{4F0B0B71-E54A-4F4F-8FBA-A15178CD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链上已验证</a:t>
            </a:r>
          </a:p>
        </p:txBody>
      </p:sp>
      <p:sp>
        <p:nvSpPr>
          <p:cNvPr id="9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AE9DAF12-7A6A-46DE-9898-44046F21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接入 Uniswap v4 资金池 · 独立产品界面</a:t>
            </a:r>
          </a:p>
        </p:txBody>
      </p:sp>
    </p:spTree>
    <p:extLst>
      <p:ext uri="{BB962C8B-B14F-4D97-AF65-F5344CB8AC3E}">
        <p14:creationId xmlns:p14="http://schemas.microsoft.com/office/powerpoint/2010/main" val="901752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F8F6B438-8D96-4FEA-B681-E0CE696C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03 / 08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DFB2C0D-34FA-4905-94C8-571B0CFF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每一笔交换，都会产生费用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2ECE38E-30A7-4214-A0BF-AA935FD1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交易者按流动性池规则支付手续费</a:t>
            </a:r>
          </a:p>
        </p:txBody>
      </p:sp>
      <p:sp>
        <p:nvSpPr>
          <p:cNvPr id="4" name="swap-track">
            <a:extLst xmlns:a="http://schemas.openxmlformats.org/drawingml/2006/main">
              <a:ext uri="{FF2B5EF4-FFF2-40B4-BE49-F238E27FC236}">
                <a16:creationId xmlns:a16="http://schemas.microsoft.com/office/drawing/2014/main" id="{99CEAB62-FEFD-43C3-A6C0-EE362D38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E8C9D8"/>
            </a:solidFill>
            <a:prstDash val="solid"/>
          </a:ln>
        </p:spPr>
      </p:sp>
      <p:sp>
        <p:nvSpPr>
          <p:cNvPr id="5" name="swap-active">
            <a:extLst xmlns:a="http://schemas.openxmlformats.org/drawingml/2006/main">
              <a:ext uri="{FF2B5EF4-FFF2-40B4-BE49-F238E27FC236}">
                <a16:creationId xmlns:a16="http://schemas.microsoft.com/office/drawing/2014/main" id="{1E6ECF36-7D42-410C-B948-3F1F22DC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957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007A"/>
            </a:solidFill>
            <a:prstDash val="solid"/>
          </a:ln>
        </p:spPr>
      </p:sp>
      <p:sp>
        <p:nvSpPr>
          <p:cNvPr id="6" name="asset-a">
            <a:extLst xmlns:a="http://schemas.openxmlformats.org/drawingml/2006/main">
              <a:ext uri="{FF2B5EF4-FFF2-40B4-BE49-F238E27FC236}">
                <a16:creationId xmlns:a16="http://schemas.microsoft.com/office/drawing/2014/main" id="{ED2111B2-4617-4146-A54C-394BFDA1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sset-b">
            <a:extLst xmlns:a="http://schemas.openxmlformats.org/drawingml/2006/main">
              <a:ext uri="{FF2B5EF4-FFF2-40B4-BE49-F238E27FC236}">
                <a16:creationId xmlns:a16="http://schemas.microsoft.com/office/drawing/2014/main" id="{38FCE478-C5B8-433B-95D0-7F2C1955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9151A"/>
            </a:solidFill>
            <a:prstDash val="solid"/>
          </a:ln>
        </p:spPr>
      </p:sp>
      <p:sp>
        <p:nvSpPr>
          <p:cNvPr id="8" name="fee-pulse">
            <a:extLst xmlns:a="http://schemas.openxmlformats.org/drawingml/2006/main">
              <a:ext uri="{FF2B5EF4-FFF2-40B4-BE49-F238E27FC236}">
                <a16:creationId xmlns:a16="http://schemas.microsoft.com/office/drawing/2014/main" id="{F5E50896-FFB3-4684-A7A5-9DF8C65C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9" name="fee-core">
            <a:extLst xmlns:a="http://schemas.openxmlformats.org/drawingml/2006/main">
              <a:ext uri="{FF2B5EF4-FFF2-40B4-BE49-F238E27FC236}">
                <a16:creationId xmlns:a16="http://schemas.microsoft.com/office/drawing/2014/main" id="{BE79556F-7231-4FB1-80B8-C961AB8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D555E-D8C4-457A-8BA8-B90A7E5E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7CEA0-E5D5-4287-8AB3-FD6169B0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SF Mono"/>
                <a:ea typeface="SF Mono"/>
                <a:cs typeface="SF Mono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A81D9-058E-4F0A-AEDE-8E6F5D35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FEE</a:t>
            </a:r>
          </a:p>
        </p:txBody>
      </p:sp>
      <p:sp>
        <p:nvSpPr>
          <p:cNvPr id="13" name="swap-label">
            <a:extLst xmlns:a="http://schemas.openxmlformats.org/drawingml/2006/main">
              <a:ext uri="{FF2B5EF4-FFF2-40B4-BE49-F238E27FC236}">
                <a16:creationId xmlns:a16="http://schemas.microsoft.com/office/drawing/2014/main" id="{C54D079D-5DE6-4A71-849E-B7701FB5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有人在 Uniswap 交易</a:t>
            </a:r>
          </a:p>
        </p:txBody>
      </p:sp>
      <p:sp>
        <p:nvSpPr>
          <p:cNvPr id="14" name="fee-explanation">
            <a:extLst xmlns:a="http://schemas.openxmlformats.org/drawingml/2006/main">
              <a:ext uri="{FF2B5EF4-FFF2-40B4-BE49-F238E27FC236}">
                <a16:creationId xmlns:a16="http://schemas.microsoft.com/office/drawing/2014/main" id="{2E1ED964-F309-4C0D-BFF4-00E65F87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每次兑换都会按资金池规则支付手续费</a:t>
            </a:r>
          </a:p>
        </p:txBody>
      </p:sp>
    </p:spTree>
    <p:extLst>
      <p:ext uri="{BB962C8B-B14F-4D97-AF65-F5344CB8AC3E}">
        <p14:creationId xmlns:p14="http://schemas.microsoft.com/office/powerpoint/2010/main" val="1559702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4">
            <a:extLst xmlns:a="http://schemas.openxmlformats.org/drawingml/2006/main">
              <a:ext uri="{FF2B5EF4-FFF2-40B4-BE49-F238E27FC236}">
                <a16:creationId xmlns:a16="http://schemas.microsoft.com/office/drawing/2014/main" id="{7BE7883B-D92C-4F61-AEE7-FA005136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04 / 08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45E290FB-2558-4882-9E8C-DA68E613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提供交易所需资产，可以分享费用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6DF965F-E435-4430-9B0D-FD555D83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参与者按池规则获得手续费权益</a:t>
            </a:r>
          </a:p>
        </p:txBody>
      </p:sp>
      <p:sp>
        <p:nvSpPr>
          <p:cNvPr id="4" name="trade-assets-connector">
            <a:extLst xmlns:a="http://schemas.openxmlformats.org/drawingml/2006/main">
              <a:ext uri="{FF2B5EF4-FFF2-40B4-BE49-F238E27FC236}">
                <a16:creationId xmlns:a16="http://schemas.microsoft.com/office/drawing/2014/main" id="{B6489A4D-FA33-4A47-B994-09EE9742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005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5" name="assets-fee-connector">
            <a:extLst xmlns:a="http://schemas.openxmlformats.org/drawingml/2006/main">
              <a:ext uri="{FF2B5EF4-FFF2-40B4-BE49-F238E27FC236}">
                <a16:creationId xmlns:a16="http://schemas.microsoft.com/office/drawing/2014/main" id="{D3BBE56F-9D53-46F5-A708-9798F275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6" name="trade-node">
            <a:extLst xmlns:a="http://schemas.openxmlformats.org/drawingml/2006/main">
              <a:ext uri="{FF2B5EF4-FFF2-40B4-BE49-F238E27FC236}">
                <a16:creationId xmlns:a16="http://schemas.microsoft.com/office/drawing/2014/main" id="{EE78A68D-7F05-4577-8ECB-6D4A7ED6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ade-node-label">
            <a:extLst xmlns:a="http://schemas.openxmlformats.org/drawingml/2006/main">
              <a:ext uri="{FF2B5EF4-FFF2-40B4-BE49-F238E27FC236}">
                <a16:creationId xmlns:a16="http://schemas.microsoft.com/office/drawing/2014/main" id="{7793FE31-DF5A-48D2-A066-4F3AC76B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真实交易发生</a:t>
            </a:r>
          </a:p>
        </p:txBody>
      </p:sp>
      <p:sp>
        <p:nvSpPr>
          <p:cNvPr id="8" name="assets-node">
            <a:extLst xmlns:a="http://schemas.openxmlformats.org/drawingml/2006/main">
              <a:ext uri="{FF2B5EF4-FFF2-40B4-BE49-F238E27FC236}">
                <a16:creationId xmlns:a16="http://schemas.microsoft.com/office/drawing/2014/main" id="{A60B22AD-BDCB-4251-9551-5580A8A0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7F0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9" name="assets-node-label">
            <a:extLst xmlns:a="http://schemas.openxmlformats.org/drawingml/2006/main">
              <a:ext uri="{FF2B5EF4-FFF2-40B4-BE49-F238E27FC236}">
                <a16:creationId xmlns:a16="http://schemas.microsoft.com/office/drawing/2014/main" id="{F46F9B8F-2AE4-49B8-999C-971A360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你的资金帮助完成交易</a:t>
            </a:r>
          </a:p>
        </p:txBody>
      </p:sp>
      <p:sp>
        <p:nvSpPr>
          <p:cNvPr id="10" name="fee-share-node">
            <a:extLst xmlns:a="http://schemas.openxmlformats.org/drawingml/2006/main">
              <a:ext uri="{FF2B5EF4-FFF2-40B4-BE49-F238E27FC236}">
                <a16:creationId xmlns:a16="http://schemas.microsoft.com/office/drawing/2014/main" id="{6B246F19-19A7-4DF7-8ECA-6660436C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ee-share-node-label">
            <a:extLst xmlns:a="http://schemas.openxmlformats.org/drawingml/2006/main">
              <a:ext uri="{FF2B5EF4-FFF2-40B4-BE49-F238E27FC236}">
                <a16:creationId xmlns:a16="http://schemas.microsoft.com/office/drawing/2014/main" id="{18F55256-AE7C-484D-90DE-53F1811A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分享手续费</a:t>
            </a:r>
          </a:p>
        </p:txBody>
      </p:sp>
    </p:spTree>
    <p:extLst>
      <p:ext uri="{BB962C8B-B14F-4D97-AF65-F5344CB8AC3E}">
        <p14:creationId xmlns:p14="http://schemas.microsoft.com/office/powerpoint/2010/main" val="424922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E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5">
            <a:extLst xmlns:a="http://schemas.openxmlformats.org/drawingml/2006/main">
              <a:ext uri="{FF2B5EF4-FFF2-40B4-BE49-F238E27FC236}">
                <a16:creationId xmlns:a16="http://schemas.microsoft.com/office/drawing/2014/main" id="{3781860C-007F-4C37-84F7-C1CB7E1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05 / 08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7617D7D-9A65-42B7-9511-E68B3603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但自行管理并不简单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D76747D-3969-4E40-A754-8DF3C03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配比、价格区间、监控和调整缺一不可</a:t>
            </a:r>
          </a:p>
        </p:txBody>
      </p:sp>
      <p:sp>
        <p:nvSpPr>
          <p:cNvPr id="4" name="difficulty-question">
            <a:extLst xmlns:a="http://schemas.openxmlformats.org/drawingml/2006/main">
              <a:ext uri="{FF2B5EF4-FFF2-40B4-BE49-F238E27FC236}">
                <a16:creationId xmlns:a16="http://schemas.microsoft.com/office/drawing/2014/main" id="{85EE1832-71AC-498A-BE1C-ADA303A3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3124200" cy="3124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F007A"/>
            </a:solidFill>
            <a:prstDash val="solid"/>
          </a:ln>
        </p:spPr>
      </p:sp>
      <p:sp>
        <p:nvSpPr>
          <p:cNvPr id="5" name="question-mark">
            <a:extLst xmlns:a="http://schemas.openxmlformats.org/drawingml/2006/main">
              <a:ext uri="{FF2B5EF4-FFF2-40B4-BE49-F238E27FC236}">
                <a16:creationId xmlns:a16="http://schemas.microsoft.com/office/drawing/2014/main" id="{8D129D0C-73CA-4343-95A4-A773A0F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14700"/>
            <a:ext cx="1409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12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?</a:t>
            </a:r>
          </a:p>
        </p:txBody>
      </p:sp>
      <p:sp>
        <p:nvSpPr>
          <p:cNvPr id="6" name="task-01-index">
            <a:extLst xmlns:a="http://schemas.openxmlformats.org/drawingml/2006/main">
              <a:ext uri="{FF2B5EF4-FFF2-40B4-BE49-F238E27FC236}">
                <a16:creationId xmlns:a16="http://schemas.microsoft.com/office/drawing/2014/main" id="{8B592503-E5E8-4BA9-9E5A-EA0F4A77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7" name="task-01-label">
            <a:extLst xmlns:a="http://schemas.openxmlformats.org/drawingml/2006/main">
              <a:ext uri="{FF2B5EF4-FFF2-40B4-BE49-F238E27FC236}">
                <a16:creationId xmlns:a16="http://schemas.microsoft.com/office/drawing/2014/main" id="{29578E87-E7DD-4365-9525-1524C29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支持存入</a:t>
            </a:r>
          </a:p>
        </p:txBody>
      </p:sp>
      <p:sp>
        <p:nvSpPr>
          <p:cNvPr id="8" name="task-02-index">
            <a:extLst xmlns:a="http://schemas.openxmlformats.org/drawingml/2006/main">
              <a:ext uri="{FF2B5EF4-FFF2-40B4-BE49-F238E27FC236}">
                <a16:creationId xmlns:a16="http://schemas.microsoft.com/office/drawing/2014/main" id="{9042BD1E-D327-47C8-B4D2-9A77EA2E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9" name="task-02-label">
            <a:extLst xmlns:a="http://schemas.openxmlformats.org/drawingml/2006/main">
              <a:ext uri="{FF2B5EF4-FFF2-40B4-BE49-F238E27FC236}">
                <a16:creationId xmlns:a16="http://schemas.microsoft.com/office/drawing/2014/main" id="{2191AB76-9A22-4170-A459-DBAE4904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861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先学习复杂的资金池规则</a:t>
            </a:r>
          </a:p>
        </p:txBody>
      </p:sp>
      <p:sp>
        <p:nvSpPr>
          <p:cNvPr id="10" name="task-03-index">
            <a:extLst xmlns:a="http://schemas.openxmlformats.org/drawingml/2006/main">
              <a:ext uri="{FF2B5EF4-FFF2-40B4-BE49-F238E27FC236}">
                <a16:creationId xmlns:a16="http://schemas.microsoft.com/office/drawing/2014/main" id="{A16FFD03-BFC6-483C-8757-F00B2473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11" name="task-03-label">
            <a:extLst xmlns:a="http://schemas.openxmlformats.org/drawingml/2006/main">
              <a:ext uri="{FF2B5EF4-FFF2-40B4-BE49-F238E27FC236}">
                <a16:creationId xmlns:a16="http://schemas.microsoft.com/office/drawing/2014/main" id="{2CD814AF-8927-4611-B5F1-2CE1E469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自己判断资金放在哪里</a:t>
            </a:r>
          </a:p>
        </p:txBody>
      </p:sp>
      <p:sp>
        <p:nvSpPr>
          <p:cNvPr id="12" name="task-04-index">
            <a:extLst xmlns:a="http://schemas.openxmlformats.org/drawingml/2006/main">
              <a:ext uri="{FF2B5EF4-FFF2-40B4-BE49-F238E27FC236}">
                <a16:creationId xmlns:a16="http://schemas.microsoft.com/office/drawing/2014/main" id="{9D280150-3C66-43D1-BD98-AA338D33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04</a:t>
            </a:r>
          </a:p>
        </p:txBody>
      </p:sp>
      <p:sp>
        <p:nvSpPr>
          <p:cNvPr id="13" name="task-04-label">
            <a:extLst xmlns:a="http://schemas.openxmlformats.org/drawingml/2006/main">
              <a:ext uri="{FF2B5EF4-FFF2-40B4-BE49-F238E27FC236}">
                <a16:creationId xmlns:a16="http://schemas.microsoft.com/office/drawing/2014/main" id="{26798A02-2278-4C29-A9C6-B08955D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006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价格变化后手动调整</a:t>
            </a:r>
          </a:p>
        </p:txBody>
      </p:sp>
    </p:spTree>
    <p:extLst>
      <p:ext uri="{BB962C8B-B14F-4D97-AF65-F5344CB8AC3E}">
        <p14:creationId xmlns:p14="http://schemas.microsoft.com/office/powerpoint/2010/main" val="66806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34ab97aec4e10"/>
          <a:srcRect xmlns:a="http://schemas.openxmlformats.org/drawingml/2006/main" l="18519" t="0" r="18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ff660462f4ce1"/>
          <a:srcRect xmlns:a="http://schemas.openxmlformats.org/drawingml/2006/main" l="21854" t="0" r="2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0"/>
            <a:ext cx="61722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flow-edge-mask">
            <a:extLst xmlns:a="http://schemas.openxmlformats.org/drawingml/2006/main">
              <a:ext uri="{FF2B5EF4-FFF2-40B4-BE49-F238E27FC236}">
                <a16:creationId xmlns:a16="http://schemas.microsoft.com/office/drawing/2014/main" id="{A2D4E0D0-519A-4A08-B601-810584AF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nieddy-title">
            <a:extLst xmlns:a="http://schemas.openxmlformats.org/drawingml/2006/main">
              <a:ext uri="{FF2B5EF4-FFF2-40B4-BE49-F238E27FC236}">
                <a16:creationId xmlns:a16="http://schemas.microsoft.com/office/drawing/2014/main" id="{6594CF5B-5C98-4557-8972-F8C3594E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619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UniEddy 让复杂管理变成简单参与</a:t>
            </a:r>
          </a:p>
        </p:txBody>
      </p:sp>
      <p:sp>
        <p:nvSpPr>
          <p:cNvPr id="5" name="unieddy-callout">
            <a:extLst xmlns:a="http://schemas.openxmlformats.org/drawingml/2006/main">
              <a:ext uri="{FF2B5EF4-FFF2-40B4-BE49-F238E27FC236}">
                <a16:creationId xmlns:a16="http://schemas.microsoft.com/office/drawing/2014/main" id="{6BA26DB3-E732-4B0F-8E4F-760C0259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0"/>
            <a:ext cx="523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FF007A"/>
                </a:solidFill>
                <a:latin typeface="PingFang SC"/>
                <a:ea typeface="PingFang SC"/>
                <a:cs typeface="PingFang SC"/>
              </a:rPr>
              <a:t>系统持续监控，固定规则决定是否行动</a:t>
            </a:r>
          </a:p>
        </p:txBody>
      </p:sp>
      <p:sp>
        <p:nvSpPr>
          <p:cNvPr id="6" name="unieddy-explanation">
            <a:extLst xmlns:a="http://schemas.openxmlformats.org/drawingml/2006/main">
              <a:ext uri="{FF2B5EF4-FFF2-40B4-BE49-F238E27FC236}">
                <a16:creationId xmlns:a16="http://schemas.microsoft.com/office/drawing/2014/main" id="{C89A700F-35CE-4580-9BEC-BEBCCB22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AI 只负责分析，是否执行由固定规则决定。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103ecc762456a"/>
          <a:stretch xmlns:a="http://schemas.openxmlformats.org/drawingml/2006/main"/>
        </p:blipFill>
        <p:spPr>
          <a:xfrm xmlns:a="http://schemas.openxmlformats.org/drawingml/2006/main">
            <a:off x="7983141" y="2514600"/>
            <a:ext cx="2378869" cy="2114550"/>
          </a:xfrm>
          <a:prstGeom xmlns:a="http://schemas.openxmlformats.org/drawingml/2006/main" prst="rect">
            <a:avLst/>
          </a:prstGeom>
        </p:spPr>
      </p:pic>
      <p:sp>
        <p:nvSpPr>
          <p:cNvPr id="8" name="unieddy-wordmark">
            <a:extLst xmlns:a="http://schemas.openxmlformats.org/drawingml/2006/main">
              <a:ext uri="{FF2B5EF4-FFF2-40B4-BE49-F238E27FC236}">
                <a16:creationId xmlns:a16="http://schemas.microsoft.com/office/drawing/2014/main" id="{9C4731E3-002D-4EA3-A1D8-BB0DDC9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UniEddy</a:t>
            </a:r>
          </a:p>
        </p:txBody>
      </p:sp>
      <p:sp>
        <p:nvSpPr>
          <p:cNvPr id="9" name="page-6">
            <a:extLst xmlns:a="http://schemas.openxmlformats.org/drawingml/2006/main">
              <a:ext uri="{FF2B5EF4-FFF2-40B4-BE49-F238E27FC236}">
                <a16:creationId xmlns:a16="http://schemas.microsoft.com/office/drawing/2014/main" id="{1850BE62-B07C-45A5-BD10-47A41072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651582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age-7">
            <a:extLst xmlns:a="http://schemas.openxmlformats.org/drawingml/2006/main">
              <a:ext uri="{FF2B5EF4-FFF2-40B4-BE49-F238E27FC236}">
                <a16:creationId xmlns:a16="http://schemas.microsoft.com/office/drawing/2014/main" id="{76F5A796-2BA5-4D3B-9ECB-DB97AA7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07 / 08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C1C5C43-C92F-4230-AD5D-1A8D154F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5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真实交易，真实手续费，链上可查</a:t>
            </a:r>
          </a:p>
        </p:txBody>
      </p:sp>
      <p:sp>
        <p:nvSpPr>
          <p:cNvPr id="3" name="proof-01-index">
            <a:extLst xmlns:a="http://schemas.openxmlformats.org/drawingml/2006/main">
              <a:ext uri="{FF2B5EF4-FFF2-40B4-BE49-F238E27FC236}">
                <a16:creationId xmlns:a16="http://schemas.microsoft.com/office/drawing/2014/main" id="{295999E1-9241-40AE-B1E0-C99AD63F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4" name="proof-01-label">
            <a:extLst xmlns:a="http://schemas.openxmlformats.org/drawingml/2006/main">
              <a:ext uri="{FF2B5EF4-FFF2-40B4-BE49-F238E27FC236}">
                <a16:creationId xmlns:a16="http://schemas.microsoft.com/office/drawing/2014/main" id="{AD084DA8-F57F-450B-8283-A9C7BA2D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真实交易发生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9D51C-623F-4216-B005-94F2150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6" name="proof-02-index">
            <a:extLst xmlns:a="http://schemas.openxmlformats.org/drawingml/2006/main">
              <a:ext uri="{FF2B5EF4-FFF2-40B4-BE49-F238E27FC236}">
                <a16:creationId xmlns:a16="http://schemas.microsoft.com/office/drawing/2014/main" id="{72FAD9F7-B85A-4FBB-9A86-E2DE4889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7" name="proof-02-label">
            <a:extLst xmlns:a="http://schemas.openxmlformats.org/drawingml/2006/main">
              <a:ext uri="{FF2B5EF4-FFF2-40B4-BE49-F238E27FC236}">
                <a16:creationId xmlns:a16="http://schemas.microsoft.com/office/drawing/2014/main" id="{7FB8D252-B7AB-4027-8711-D75B2FDA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手续费结算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89A7E-AB2C-4E4E-ABAB-E864FD70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9" name="proof-03-index">
            <a:extLst xmlns:a="http://schemas.openxmlformats.org/drawingml/2006/main">
              <a:ext uri="{FF2B5EF4-FFF2-40B4-BE49-F238E27FC236}">
                <a16:creationId xmlns:a16="http://schemas.microsoft.com/office/drawing/2014/main" id="{F32B6D90-1BB9-4273-96F3-6ED1CD9A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600" b="1">
                <a:solidFill>
                  <a:srgbClr val="FF007A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10" name="proof-03-label">
            <a:extLst xmlns:a="http://schemas.openxmlformats.org/drawingml/2006/main">
              <a:ext uri="{FF2B5EF4-FFF2-40B4-BE49-F238E27FC236}">
                <a16:creationId xmlns:a16="http://schemas.microsoft.com/office/drawing/2014/main" id="{5486DC27-0029-47E9-B771-E60DD6AD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24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你的钱包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FC439-D5CF-4C9A-AA4D-35E8B1F4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DBE6"/>
            </a:solidFill>
            <a:prstDash val="solid"/>
          </a:ln>
        </p:spPr>
      </p:sp>
      <p:sp>
        <p:nvSpPr>
          <p:cNvPr id="12" name="risk-statement">
            <a:extLst xmlns:a="http://schemas.openxmlformats.org/drawingml/2006/main">
              <a:ext uri="{FF2B5EF4-FFF2-40B4-BE49-F238E27FC236}">
                <a16:creationId xmlns:a16="http://schemas.microsoft.com/office/drawing/2014/main" id="{0D3F8CCD-E651-4200-9BB6-41E64C2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489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007A"/>
            </a:solidFill>
            <a:prstDash val="solid"/>
          </a:ln>
        </p:spPr>
      </p:sp>
      <p:sp>
        <p:nvSpPr>
          <p:cNvPr id="13" name="risk-copy">
            <a:extLst xmlns:a="http://schemas.openxmlformats.org/drawingml/2006/main">
              <a:ext uri="{FF2B5EF4-FFF2-40B4-BE49-F238E27FC236}">
                <a16:creationId xmlns:a16="http://schemas.microsoft.com/office/drawing/2014/main" id="{97AB0BBC-F6D9-4D2B-9916-72C0C92F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1011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18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费用不保证 · 资产价值会波动</a:t>
            </a:r>
          </a:p>
        </p:txBody>
      </p:sp>
      <p:sp>
        <p:nvSpPr>
          <p:cNvPr id="14" name="independent-footer">
            <a:extLst xmlns:a="http://schemas.openxmlformats.org/drawingml/2006/main">
              <a:ext uri="{FF2B5EF4-FFF2-40B4-BE49-F238E27FC236}">
                <a16:creationId xmlns:a16="http://schemas.microsoft.com/office/drawing/2014/main" id="{A525A4FC-AC71-44C7-B823-7C77894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2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基于 Uniswap v4 构建 · 独立第三方服务 · 与 Uniswap Labs 无关联</a:t>
            </a:r>
          </a:p>
        </p:txBody>
      </p:sp>
    </p:spTree>
    <p:extLst>
      <p:ext uri="{BB962C8B-B14F-4D97-AF65-F5344CB8AC3E}">
        <p14:creationId xmlns:p14="http://schemas.microsoft.com/office/powerpoint/2010/main" val="2055496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age-8">
            <a:extLst xmlns:a="http://schemas.openxmlformats.org/drawingml/2006/main">
              <a:ext uri="{FF2B5EF4-FFF2-40B4-BE49-F238E27FC236}">
                <a16:creationId xmlns:a16="http://schemas.microsoft.com/office/drawing/2014/main" id="{0B0064C8-F1B2-4DDE-B52C-764BA850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 b="0">
                <a:solidFill>
                  <a:srgbClr val="726A74"/>
                </a:solidFill>
                <a:latin typeface="SF Mono"/>
                <a:ea typeface="SF Mono"/>
                <a:cs typeface="SF Mono"/>
              </a:rPr>
              <a:t>08 / 08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e987a57f449a4"/>
          <a:stretch xmlns:a="http://schemas.openxmlformats.org/drawingml/2006/main"/>
        </p:blipFill>
        <p:spPr>
          <a:xfrm xmlns:a="http://schemas.openxmlformats.org/drawingml/2006/main">
            <a:off x="5131594" y="495300"/>
            <a:ext cx="1928813" cy="1714500"/>
          </a:xfrm>
          <a:prstGeom xmlns:a="http://schemas.openxmlformats.org/drawingml/2006/main" prst="rect">
            <a:avLst/>
          </a:prstGeom>
        </p:spPr>
      </p:pic>
      <p:sp>
        <p:nvSpPr>
          <p:cNvPr id="3" name="cta-wordmark">
            <a:extLst xmlns:a="http://schemas.openxmlformats.org/drawingml/2006/main">
              <a:ext uri="{FF2B5EF4-FFF2-40B4-BE49-F238E27FC236}">
                <a16:creationId xmlns:a16="http://schemas.microsoft.com/office/drawing/2014/main" id="{7E0720BF-8125-4A5F-8125-D963D75C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30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UniEddy</a:t>
            </a:r>
          </a:p>
        </p:txBody>
      </p:sp>
      <p:sp>
        <p:nvSpPr>
          <p:cNvPr id="4" name="cta-title">
            <a:extLst xmlns:a="http://schemas.openxmlformats.org/drawingml/2006/main">
              <a:ext uri="{FF2B5EF4-FFF2-40B4-BE49-F238E27FC236}">
                <a16:creationId xmlns:a16="http://schemas.microsoft.com/office/drawing/2014/main" id="{A44BEC8A-0C5B-42BC-89CD-E61E3596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5000" b="1">
                <a:solidFill>
                  <a:srgbClr val="19151A"/>
                </a:solidFill>
                <a:latin typeface="PingFang SC"/>
                <a:ea typeface="PingFang SC"/>
                <a:cs typeface="PingFang SC"/>
              </a:rPr>
              <a:t>进入 DApp</a:t>
            </a:r>
          </a:p>
        </p:txBody>
      </p:sp>
      <p:sp>
        <p:nvSpPr>
          <p:cNvPr id="5" name="cta-subtitle">
            <a:extLst xmlns:a="http://schemas.openxmlformats.org/drawingml/2006/main">
              <a:ext uri="{FF2B5EF4-FFF2-40B4-BE49-F238E27FC236}">
                <a16:creationId xmlns:a16="http://schemas.microsoft.com/office/drawing/2014/main" id="{CD777048-B019-4731-A96A-9D04148C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8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开始了解你的参与方式</a:t>
            </a:r>
          </a:p>
        </p:txBody>
      </p:sp>
      <p:sp>
        <p:nvSpPr>
          <p:cNvPr id="6" name="cta-button">
            <a:extLst xmlns:a="http://schemas.openxmlformats.org/drawingml/2006/main">
              <a:ext uri="{FF2B5EF4-FFF2-40B4-BE49-F238E27FC236}">
                <a16:creationId xmlns:a16="http://schemas.microsoft.com/office/drawing/2014/main" id="{1DFF2893-9919-43A2-A75D-59308E9D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453390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ta-button-label">
            <a:extLst xmlns:a="http://schemas.openxmlformats.org/drawingml/2006/main">
              <a:ext uri="{FF2B5EF4-FFF2-40B4-BE49-F238E27FC236}">
                <a16:creationId xmlns:a16="http://schemas.microsoft.com/office/drawing/2014/main" id="{CDB5044A-19C6-42BD-8491-0C91311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403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 DApp</a:t>
            </a:r>
          </a:p>
        </p:txBody>
      </p:sp>
      <p:sp>
        <p:nvSpPr>
          <p:cNvPr id="8" name="cta-help">
            <a:extLst xmlns:a="http://schemas.openxmlformats.org/drawingml/2006/main">
              <a:ext uri="{FF2B5EF4-FFF2-40B4-BE49-F238E27FC236}">
                <a16:creationId xmlns:a16="http://schemas.microsoft.com/office/drawing/2014/main" id="{392493E5-66DA-4A2A-9BC5-1E6D7659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769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600" b="1">
                <a:solidFill>
                  <a:srgbClr val="FF007A"/>
                </a:solidFill>
                <a:latin typeface="PingFang SC"/>
                <a:ea typeface="PingFang SC"/>
                <a:cs typeface="PingFang SC"/>
              </a:rPr>
              <a:t>需要帮助？联系官方引导</a:t>
            </a:r>
          </a:p>
        </p:txBody>
      </p:sp>
      <p:sp>
        <p:nvSpPr>
          <p:cNvPr id="9" name="cta-independent-footer">
            <a:extLst xmlns:a="http://schemas.openxmlformats.org/drawingml/2006/main">
              <a:ext uri="{FF2B5EF4-FFF2-40B4-BE49-F238E27FC236}">
                <a16:creationId xmlns:a16="http://schemas.microsoft.com/office/drawing/2014/main" id="{FB169F6E-C868-43A6-B945-51E4CC1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436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/>
            <a:r>
              <a:rPr sz="1200" b="0">
                <a:solidFill>
                  <a:srgbClr val="726A74"/>
                </a:solidFill>
                <a:latin typeface="PingFang SC"/>
                <a:ea typeface="PingFang SC"/>
                <a:cs typeface="PingFang SC"/>
              </a:rPr>
              <a:t>基于 Uniswap v4 构建 · 独立第三方服务 · 与 Uniswap Labs 无关联</a:t>
            </a:r>
          </a:p>
        </p:txBody>
      </p:sp>
    </p:spTree>
    <p:extLst>
      <p:ext uri="{BB962C8B-B14F-4D97-AF65-F5344CB8AC3E}">
        <p14:creationId xmlns:p14="http://schemas.microsoft.com/office/powerpoint/2010/main" val="1157632050"/>
      </p:ext>
    </p:extLst>
  </p:cSld>
</p:sld>
</file>

<file path=ppt/theme/theme1.xml><?xml version="1.0" encoding="utf-8"?>
<a:theme xmlns:a="http://schemas.openxmlformats.org/drawingml/2006/main" name="ChatGPT">
  <a:themeElements>
    <a:clrScheme name="UniEddy Intro">
      <a:dk1>
        <a:srgbClr val="000000"/>
      </a:dk1>
      <a:lt1>
        <a:srgbClr val="FFFFFF"/>
      </a:lt1>
      <a:dk2>
        <a:srgbClr val="19151A"/>
      </a:dk2>
      <a:lt2>
        <a:srgbClr val="F8E7F0"/>
      </a:lt2>
      <a:accent1>
        <a:srgbClr val="FF007A"/>
      </a:accent1>
      <a:accent2>
        <a:srgbClr val="F50DB4"/>
      </a:accent2>
      <a:accent3>
        <a:srgbClr val="FC72FF"/>
      </a:accent3>
      <a:accent4>
        <a:srgbClr val="F8E7F0"/>
      </a:accent4>
      <a:accent5>
        <a:srgbClr val="8F59FF"/>
      </a:accent5>
      <a:accent6>
        <a:srgbClr val="4263EB"/>
      </a:accent6>
      <a:hlink>
        <a:srgbClr val="FF007A"/>
      </a:hlink>
      <a:folHlink>
        <a:srgbClr val="F50DB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Eddy Intr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2026-08-02T06:44:43.8020000Z</dcterms:created>
  <dcterms:modified xsi:type="dcterms:W3CDTF">2026-08-02T06:44:43.8020000Z</dcterms:modified>
</coreProperties>
</file>